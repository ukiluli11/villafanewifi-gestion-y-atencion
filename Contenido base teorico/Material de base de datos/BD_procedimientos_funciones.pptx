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9" r:id="rId1"/>
  </p:sldMasterIdLst>
  <p:notesMasterIdLst>
    <p:notesMasterId r:id="rId19"/>
  </p:notesMasterIdLst>
  <p:sldIdLst>
    <p:sldId id="274" r:id="rId2"/>
    <p:sldId id="263" r:id="rId3"/>
    <p:sldId id="264" r:id="rId4"/>
    <p:sldId id="267" r:id="rId5"/>
    <p:sldId id="265" r:id="rId6"/>
    <p:sldId id="258" r:id="rId7"/>
    <p:sldId id="268" r:id="rId8"/>
    <p:sldId id="259" r:id="rId9"/>
    <p:sldId id="270" r:id="rId10"/>
    <p:sldId id="260" r:id="rId11"/>
    <p:sldId id="261" r:id="rId12"/>
    <p:sldId id="262" r:id="rId13"/>
    <p:sldId id="277" r:id="rId14"/>
    <p:sldId id="272" r:id="rId15"/>
    <p:sldId id="275" r:id="rId16"/>
    <p:sldId id="273" r:id="rId17"/>
    <p:sldId id="278" r:id="rId18"/>
  </p:sldIdLst>
  <p:sldSz cx="9720263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tricia" initials="p" lastIdx="2" clrIdx="0">
    <p:extLst>
      <p:ext uri="{19B8F6BF-5375-455C-9EA6-DF929625EA0E}">
        <p15:presenceInfo xmlns:p15="http://schemas.microsoft.com/office/powerpoint/2012/main" userId="patrici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65" d="100"/>
          <a:sy n="65" d="100"/>
        </p:scale>
        <p:origin x="13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16AB75-A428-4905-B913-17412D72C0D3}" type="datetimeFigureOut">
              <a:rPr lang="es-AR" smtClean="0"/>
              <a:t>21/5/2024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46200" y="1143000"/>
            <a:ext cx="41656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15C0EE-FBD7-4DFC-B809-0D6B29B64EF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97178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66711" rtl="0" eaLnBrk="1" latinLnBrk="0" hangingPunct="1">
      <a:defRPr sz="1269" kern="1200">
        <a:solidFill>
          <a:schemeClr val="tx1"/>
        </a:solidFill>
        <a:latin typeface="+mn-lt"/>
        <a:ea typeface="+mn-ea"/>
        <a:cs typeface="+mn-cs"/>
      </a:defRPr>
    </a:lvl1pPr>
    <a:lvl2pPr marL="483357" algn="l" defTabSz="966711" rtl="0" eaLnBrk="1" latinLnBrk="0" hangingPunct="1">
      <a:defRPr sz="1269" kern="1200">
        <a:solidFill>
          <a:schemeClr val="tx1"/>
        </a:solidFill>
        <a:latin typeface="+mn-lt"/>
        <a:ea typeface="+mn-ea"/>
        <a:cs typeface="+mn-cs"/>
      </a:defRPr>
    </a:lvl2pPr>
    <a:lvl3pPr marL="966711" algn="l" defTabSz="966711" rtl="0" eaLnBrk="1" latinLnBrk="0" hangingPunct="1">
      <a:defRPr sz="1269" kern="1200">
        <a:solidFill>
          <a:schemeClr val="tx1"/>
        </a:solidFill>
        <a:latin typeface="+mn-lt"/>
        <a:ea typeface="+mn-ea"/>
        <a:cs typeface="+mn-cs"/>
      </a:defRPr>
    </a:lvl3pPr>
    <a:lvl4pPr marL="1450068" algn="l" defTabSz="966711" rtl="0" eaLnBrk="1" latinLnBrk="0" hangingPunct="1">
      <a:defRPr sz="1269" kern="1200">
        <a:solidFill>
          <a:schemeClr val="tx1"/>
        </a:solidFill>
        <a:latin typeface="+mn-lt"/>
        <a:ea typeface="+mn-ea"/>
        <a:cs typeface="+mn-cs"/>
      </a:defRPr>
    </a:lvl4pPr>
    <a:lvl5pPr marL="1933422" algn="l" defTabSz="966711" rtl="0" eaLnBrk="1" latinLnBrk="0" hangingPunct="1">
      <a:defRPr sz="1269" kern="1200">
        <a:solidFill>
          <a:schemeClr val="tx1"/>
        </a:solidFill>
        <a:latin typeface="+mn-lt"/>
        <a:ea typeface="+mn-ea"/>
        <a:cs typeface="+mn-cs"/>
      </a:defRPr>
    </a:lvl5pPr>
    <a:lvl6pPr marL="2416779" algn="l" defTabSz="966711" rtl="0" eaLnBrk="1" latinLnBrk="0" hangingPunct="1">
      <a:defRPr sz="1269" kern="1200">
        <a:solidFill>
          <a:schemeClr val="tx1"/>
        </a:solidFill>
        <a:latin typeface="+mn-lt"/>
        <a:ea typeface="+mn-ea"/>
        <a:cs typeface="+mn-cs"/>
      </a:defRPr>
    </a:lvl6pPr>
    <a:lvl7pPr marL="2900135" algn="l" defTabSz="966711" rtl="0" eaLnBrk="1" latinLnBrk="0" hangingPunct="1">
      <a:defRPr sz="1269" kern="1200">
        <a:solidFill>
          <a:schemeClr val="tx1"/>
        </a:solidFill>
        <a:latin typeface="+mn-lt"/>
        <a:ea typeface="+mn-ea"/>
        <a:cs typeface="+mn-cs"/>
      </a:defRPr>
    </a:lvl7pPr>
    <a:lvl8pPr marL="3383490" algn="l" defTabSz="966711" rtl="0" eaLnBrk="1" latinLnBrk="0" hangingPunct="1">
      <a:defRPr sz="1269" kern="1200">
        <a:solidFill>
          <a:schemeClr val="tx1"/>
        </a:solidFill>
        <a:latin typeface="+mn-lt"/>
        <a:ea typeface="+mn-ea"/>
        <a:cs typeface="+mn-cs"/>
      </a:defRPr>
    </a:lvl8pPr>
    <a:lvl9pPr marL="3866846" algn="l" defTabSz="966711" rtl="0" eaLnBrk="1" latinLnBrk="0" hangingPunct="1">
      <a:defRPr sz="126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46200" y="1143000"/>
            <a:ext cx="41656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ES" altLang="es-ES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07099323-201B-4951-A403-7D562B12CD2B}" type="slidenum">
              <a:rPr lang="en-US" altLang="es-ES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2</a:t>
            </a:fld>
            <a:endParaRPr lang="en-US" altLang="es-E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7155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46200" y="1143000"/>
            <a:ext cx="41656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s-ES"/>
              <a:t>The stored routine and language concept was introduced in the early 90</a:t>
            </a:r>
            <a:r>
              <a:rPr lang="ja-JP" altLang="en-US"/>
              <a:t>’</a:t>
            </a:r>
            <a:r>
              <a:rPr lang="en-US" altLang="ja-JP"/>
              <a:t>s.</a:t>
            </a:r>
          </a:p>
          <a:p>
            <a:pPr eaLnBrk="1" hangingPunct="1">
              <a:spcBef>
                <a:spcPct val="0"/>
              </a:spcBef>
            </a:pPr>
            <a:r>
              <a:rPr lang="en-US" altLang="es-ES"/>
              <a:t>MySQL PSL is very similar (uses the same ANSI SQL:2003 standard specification) to the PSL used by DB2 (one of IBM</a:t>
            </a:r>
            <a:r>
              <a:rPr lang="ja-JP" altLang="en-US"/>
              <a:t>’</a:t>
            </a:r>
            <a:r>
              <a:rPr lang="en-US" altLang="ja-JP"/>
              <a:t>s RDBMS), </a:t>
            </a:r>
          </a:p>
          <a:p>
            <a:pPr eaLnBrk="1" hangingPunct="1">
              <a:spcBef>
                <a:spcPct val="0"/>
              </a:spcBef>
            </a:pPr>
            <a:r>
              <a:rPr lang="en-US" altLang="es-ES"/>
              <a:t>while it is different from Oracle and Microsoft SQL PSL, which are very much proprietary.</a:t>
            </a:r>
          </a:p>
          <a:p>
            <a:pPr eaLnBrk="1" hangingPunct="1">
              <a:spcBef>
                <a:spcPct val="0"/>
              </a:spcBef>
            </a:pPr>
            <a:endParaRPr lang="en-US" altLang="es-ES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5510586C-6048-4C99-8777-D9EF0B0374CE}" type="slidenum">
              <a:rPr lang="en-US" altLang="es-ES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3</a:t>
            </a:fld>
            <a:endParaRPr lang="en-US" altLang="es-E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27896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46200" y="1143000"/>
            <a:ext cx="41656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ES" altLang="es-ES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56C511E8-2CEE-495F-B6C5-108D588A525B}" type="slidenum">
              <a:rPr lang="en-US" altLang="es-ES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4</a:t>
            </a:fld>
            <a:endParaRPr lang="en-US" altLang="es-E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2990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46200" y="1143000"/>
            <a:ext cx="41656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ES" altLang="es-ES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6999E293-8CB9-4835-BAB5-43878616FC74}" type="slidenum">
              <a:rPr lang="en-US" altLang="es-ES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5</a:t>
            </a:fld>
            <a:endParaRPr lang="en-US" altLang="es-E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89876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46200" y="1143000"/>
            <a:ext cx="41656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ES" altLang="es-ES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4E42CA39-A106-44AA-A89A-3730C50CB4A2}" type="slidenum">
              <a:rPr lang="en-US" altLang="es-ES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7</a:t>
            </a:fld>
            <a:endParaRPr lang="en-US" altLang="es-E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0809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46200" y="1143000"/>
            <a:ext cx="41656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ES" altLang="es-ES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3B91011F-D4C4-404D-A3ED-7810D1D5F44D}" type="slidenum">
              <a:rPr lang="en-US" altLang="es-ES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9</a:t>
            </a:fld>
            <a:endParaRPr lang="en-US" altLang="es-E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69501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46200" y="1143000"/>
            <a:ext cx="41656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ES" altLang="es-ES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A08DA3EF-9A56-48E3-A342-7B296E71C08D}" type="slidenum">
              <a:rPr lang="en-US" altLang="es-ES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14</a:t>
            </a:fld>
            <a:endParaRPr lang="en-US" altLang="es-E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9539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46200" y="1143000"/>
            <a:ext cx="41656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ES" altLang="es-ES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09C70779-1A47-45E8-824C-9717FDC978CC}" type="slidenum">
              <a:rPr lang="en-US" altLang="es-ES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16</a:t>
            </a:fld>
            <a:endParaRPr lang="en-US" altLang="es-E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1152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9021" y="1178224"/>
            <a:ext cx="8262223" cy="2506427"/>
          </a:xfrm>
        </p:spPr>
        <p:txBody>
          <a:bodyPr anchor="b"/>
          <a:lstStyle>
            <a:lvl1pPr algn="ctr">
              <a:defRPr sz="629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5033" y="3781308"/>
            <a:ext cx="7290198" cy="1738167"/>
          </a:xfrm>
        </p:spPr>
        <p:txBody>
          <a:bodyPr/>
          <a:lstStyle>
            <a:lvl1pPr marL="0" indent="0" algn="ctr">
              <a:buNone/>
              <a:defRPr sz="2520"/>
            </a:lvl1pPr>
            <a:lvl2pPr marL="479990" indent="0" algn="ctr">
              <a:buNone/>
              <a:defRPr sz="2100"/>
            </a:lvl2pPr>
            <a:lvl3pPr marL="959979" indent="0" algn="ctr">
              <a:buNone/>
              <a:defRPr sz="1891"/>
            </a:lvl3pPr>
            <a:lvl4pPr marL="1439969" indent="0" algn="ctr">
              <a:buNone/>
              <a:defRPr sz="1680"/>
            </a:lvl4pPr>
            <a:lvl5pPr marL="1919958" indent="0" algn="ctr">
              <a:buNone/>
              <a:defRPr sz="1680"/>
            </a:lvl5pPr>
            <a:lvl6pPr marL="2399948" indent="0" algn="ctr">
              <a:buNone/>
              <a:defRPr sz="1680"/>
            </a:lvl6pPr>
            <a:lvl7pPr marL="2879937" indent="0" algn="ctr">
              <a:buNone/>
              <a:defRPr sz="1680"/>
            </a:lvl7pPr>
            <a:lvl8pPr marL="3359927" indent="0" algn="ctr">
              <a:buNone/>
              <a:defRPr sz="1680"/>
            </a:lvl8pPr>
            <a:lvl9pPr marL="3839916" indent="0" algn="ctr">
              <a:buNone/>
              <a:defRPr sz="168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6/2/2021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76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6/2/2021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26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207" y="1794831"/>
            <a:ext cx="8383727" cy="2994714"/>
          </a:xfrm>
        </p:spPr>
        <p:txBody>
          <a:bodyPr anchor="b"/>
          <a:lstStyle>
            <a:lvl1pPr>
              <a:defRPr sz="629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207" y="4817878"/>
            <a:ext cx="8383727" cy="15748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/>
                </a:solidFill>
              </a:defRPr>
            </a:lvl1pPr>
            <a:lvl2pPr marL="47999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59979" indent="0">
              <a:buNone/>
              <a:defRPr sz="1891">
                <a:solidFill>
                  <a:schemeClr val="tx1">
                    <a:tint val="75000"/>
                  </a:schemeClr>
                </a:solidFill>
              </a:defRPr>
            </a:lvl3pPr>
            <a:lvl4pPr marL="1439969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19958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399948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79937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59927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39916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6/2/2021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431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8268" y="1916484"/>
            <a:ext cx="4131112" cy="456789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0883" y="1916484"/>
            <a:ext cx="4131112" cy="456789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6/2/2021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098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534" y="383299"/>
            <a:ext cx="8383727" cy="139153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536" y="1764834"/>
            <a:ext cx="4112126" cy="864917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79990" indent="0">
              <a:buNone/>
              <a:defRPr sz="2100" b="1"/>
            </a:lvl2pPr>
            <a:lvl3pPr marL="959979" indent="0">
              <a:buNone/>
              <a:defRPr sz="1891" b="1"/>
            </a:lvl3pPr>
            <a:lvl4pPr marL="1439969" indent="0">
              <a:buNone/>
              <a:defRPr sz="1680" b="1"/>
            </a:lvl4pPr>
            <a:lvl5pPr marL="1919958" indent="0">
              <a:buNone/>
              <a:defRPr sz="1680" b="1"/>
            </a:lvl5pPr>
            <a:lvl6pPr marL="2399948" indent="0">
              <a:buNone/>
              <a:defRPr sz="1680" b="1"/>
            </a:lvl6pPr>
            <a:lvl7pPr marL="2879937" indent="0">
              <a:buNone/>
              <a:defRPr sz="1680" b="1"/>
            </a:lvl7pPr>
            <a:lvl8pPr marL="3359927" indent="0">
              <a:buNone/>
              <a:defRPr sz="1680" b="1"/>
            </a:lvl8pPr>
            <a:lvl9pPr marL="3839916" indent="0">
              <a:buNone/>
              <a:defRPr sz="168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9536" y="2629751"/>
            <a:ext cx="4112126" cy="386796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0884" y="1764834"/>
            <a:ext cx="4132378" cy="864917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79990" indent="0">
              <a:buNone/>
              <a:defRPr sz="2100" b="1"/>
            </a:lvl2pPr>
            <a:lvl3pPr marL="959979" indent="0">
              <a:buNone/>
              <a:defRPr sz="1891" b="1"/>
            </a:lvl3pPr>
            <a:lvl4pPr marL="1439969" indent="0">
              <a:buNone/>
              <a:defRPr sz="1680" b="1"/>
            </a:lvl4pPr>
            <a:lvl5pPr marL="1919958" indent="0">
              <a:buNone/>
              <a:defRPr sz="1680" b="1"/>
            </a:lvl5pPr>
            <a:lvl6pPr marL="2399948" indent="0">
              <a:buNone/>
              <a:defRPr sz="1680" b="1"/>
            </a:lvl6pPr>
            <a:lvl7pPr marL="2879937" indent="0">
              <a:buNone/>
              <a:defRPr sz="1680" b="1"/>
            </a:lvl7pPr>
            <a:lvl8pPr marL="3359927" indent="0">
              <a:buNone/>
              <a:defRPr sz="1680" b="1"/>
            </a:lvl8pPr>
            <a:lvl9pPr marL="3839916" indent="0">
              <a:buNone/>
              <a:defRPr sz="168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0884" y="2629751"/>
            <a:ext cx="4132378" cy="386796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6/2/2021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463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6/2/2021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331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6/2/2021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219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535" y="479954"/>
            <a:ext cx="3135038" cy="1679840"/>
          </a:xfrm>
        </p:spPr>
        <p:txBody>
          <a:bodyPr anchor="b"/>
          <a:lstStyle>
            <a:lvl1pPr>
              <a:defRPr sz="335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2378" y="1036570"/>
            <a:ext cx="4920883" cy="5116178"/>
          </a:xfrm>
        </p:spPr>
        <p:txBody>
          <a:bodyPr/>
          <a:lstStyle>
            <a:lvl1pPr>
              <a:defRPr sz="3359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9535" y="2159796"/>
            <a:ext cx="3135038" cy="4001285"/>
          </a:xfrm>
        </p:spPr>
        <p:txBody>
          <a:bodyPr/>
          <a:lstStyle>
            <a:lvl1pPr marL="0" indent="0">
              <a:buNone/>
              <a:defRPr sz="1680"/>
            </a:lvl1pPr>
            <a:lvl2pPr marL="479990" indent="0">
              <a:buNone/>
              <a:defRPr sz="1470"/>
            </a:lvl2pPr>
            <a:lvl3pPr marL="959979" indent="0">
              <a:buNone/>
              <a:defRPr sz="1260"/>
            </a:lvl3pPr>
            <a:lvl4pPr marL="1439969" indent="0">
              <a:buNone/>
              <a:defRPr sz="1050"/>
            </a:lvl4pPr>
            <a:lvl5pPr marL="1919958" indent="0">
              <a:buNone/>
              <a:defRPr sz="1050"/>
            </a:lvl5pPr>
            <a:lvl6pPr marL="2399948" indent="0">
              <a:buNone/>
              <a:defRPr sz="1050"/>
            </a:lvl6pPr>
            <a:lvl7pPr marL="2879937" indent="0">
              <a:buNone/>
              <a:defRPr sz="1050"/>
            </a:lvl7pPr>
            <a:lvl8pPr marL="3359927" indent="0">
              <a:buNone/>
              <a:defRPr sz="1050"/>
            </a:lvl8pPr>
            <a:lvl9pPr marL="3839916" indent="0">
              <a:buNone/>
              <a:defRPr sz="10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6/2/2021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587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535" y="479954"/>
            <a:ext cx="3135038" cy="1679840"/>
          </a:xfrm>
        </p:spPr>
        <p:txBody>
          <a:bodyPr anchor="b"/>
          <a:lstStyle>
            <a:lvl1pPr>
              <a:defRPr sz="335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32378" y="1036570"/>
            <a:ext cx="4920883" cy="5116178"/>
          </a:xfrm>
        </p:spPr>
        <p:txBody>
          <a:bodyPr anchor="t"/>
          <a:lstStyle>
            <a:lvl1pPr marL="0" indent="0">
              <a:buNone/>
              <a:defRPr sz="3359"/>
            </a:lvl1pPr>
            <a:lvl2pPr marL="479990" indent="0">
              <a:buNone/>
              <a:defRPr sz="2940"/>
            </a:lvl2pPr>
            <a:lvl3pPr marL="959979" indent="0">
              <a:buNone/>
              <a:defRPr sz="2520"/>
            </a:lvl3pPr>
            <a:lvl4pPr marL="1439969" indent="0">
              <a:buNone/>
              <a:defRPr sz="2100"/>
            </a:lvl4pPr>
            <a:lvl5pPr marL="1919958" indent="0">
              <a:buNone/>
              <a:defRPr sz="2100"/>
            </a:lvl5pPr>
            <a:lvl6pPr marL="2399948" indent="0">
              <a:buNone/>
              <a:defRPr sz="2100"/>
            </a:lvl6pPr>
            <a:lvl7pPr marL="2879937" indent="0">
              <a:buNone/>
              <a:defRPr sz="2100"/>
            </a:lvl7pPr>
            <a:lvl8pPr marL="3359927" indent="0">
              <a:buNone/>
              <a:defRPr sz="2100"/>
            </a:lvl8pPr>
            <a:lvl9pPr marL="3839916" indent="0">
              <a:buNone/>
              <a:defRPr sz="21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9535" y="2159796"/>
            <a:ext cx="3135038" cy="4001285"/>
          </a:xfrm>
        </p:spPr>
        <p:txBody>
          <a:bodyPr/>
          <a:lstStyle>
            <a:lvl1pPr marL="0" indent="0">
              <a:buNone/>
              <a:defRPr sz="1680"/>
            </a:lvl1pPr>
            <a:lvl2pPr marL="479990" indent="0">
              <a:buNone/>
              <a:defRPr sz="1470"/>
            </a:lvl2pPr>
            <a:lvl3pPr marL="959979" indent="0">
              <a:buNone/>
              <a:defRPr sz="1260"/>
            </a:lvl3pPr>
            <a:lvl4pPr marL="1439969" indent="0">
              <a:buNone/>
              <a:defRPr sz="1050"/>
            </a:lvl4pPr>
            <a:lvl5pPr marL="1919958" indent="0">
              <a:buNone/>
              <a:defRPr sz="1050"/>
            </a:lvl5pPr>
            <a:lvl6pPr marL="2399948" indent="0">
              <a:buNone/>
              <a:defRPr sz="1050"/>
            </a:lvl6pPr>
            <a:lvl7pPr marL="2879937" indent="0">
              <a:buNone/>
              <a:defRPr sz="1050"/>
            </a:lvl7pPr>
            <a:lvl8pPr marL="3359927" indent="0">
              <a:buNone/>
              <a:defRPr sz="1050"/>
            </a:lvl8pPr>
            <a:lvl9pPr marL="3839916" indent="0">
              <a:buNone/>
              <a:defRPr sz="10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6/2/2021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729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6/2/2021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491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6065" y="383299"/>
            <a:ext cx="2095932" cy="610108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8269" y="383299"/>
            <a:ext cx="6166292" cy="610108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6/2/2021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897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8269" y="383299"/>
            <a:ext cx="8383727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8269" y="1916484"/>
            <a:ext cx="8383727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8269" y="6672700"/>
            <a:ext cx="2187059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6/2/2021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19838" y="6672700"/>
            <a:ext cx="3280589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64937" y="6672700"/>
            <a:ext cx="2187059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492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sldNum="0" hdr="0"/>
  <p:txStyles>
    <p:titleStyle>
      <a:lvl1pPr algn="l" defTabSz="959979" rtl="0" eaLnBrk="1" latinLnBrk="0" hangingPunct="1">
        <a:lnSpc>
          <a:spcPct val="90000"/>
        </a:lnSpc>
        <a:spcBef>
          <a:spcPct val="0"/>
        </a:spcBef>
        <a:buNone/>
        <a:defRPr sz="461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994" indent="-239994" algn="l" defTabSz="959979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19985" indent="-239994" algn="l" defTabSz="959979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199974" indent="-239994" algn="l" defTabSz="959979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9963" indent="-239994" algn="l" defTabSz="959979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1" kern="1200">
          <a:solidFill>
            <a:schemeClr val="tx1"/>
          </a:solidFill>
          <a:latin typeface="+mn-lt"/>
          <a:ea typeface="+mn-ea"/>
          <a:cs typeface="+mn-cs"/>
        </a:defRPr>
      </a:lvl4pPr>
      <a:lvl5pPr marL="2159954" indent="-239994" algn="l" defTabSz="959979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1" kern="1200">
          <a:solidFill>
            <a:schemeClr val="tx1"/>
          </a:solidFill>
          <a:latin typeface="+mn-lt"/>
          <a:ea typeface="+mn-ea"/>
          <a:cs typeface="+mn-cs"/>
        </a:defRPr>
      </a:lvl5pPr>
      <a:lvl6pPr marL="2639942" indent="-239994" algn="l" defTabSz="959979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1" kern="1200">
          <a:solidFill>
            <a:schemeClr val="tx1"/>
          </a:solidFill>
          <a:latin typeface="+mn-lt"/>
          <a:ea typeface="+mn-ea"/>
          <a:cs typeface="+mn-cs"/>
        </a:defRPr>
      </a:lvl6pPr>
      <a:lvl7pPr marL="3119933" indent="-239994" algn="l" defTabSz="959979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1" kern="1200">
          <a:solidFill>
            <a:schemeClr val="tx1"/>
          </a:solidFill>
          <a:latin typeface="+mn-lt"/>
          <a:ea typeface="+mn-ea"/>
          <a:cs typeface="+mn-cs"/>
        </a:defRPr>
      </a:lvl7pPr>
      <a:lvl8pPr marL="3599922" indent="-239994" algn="l" defTabSz="959979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1" kern="1200">
          <a:solidFill>
            <a:schemeClr val="tx1"/>
          </a:solidFill>
          <a:latin typeface="+mn-lt"/>
          <a:ea typeface="+mn-ea"/>
          <a:cs typeface="+mn-cs"/>
        </a:defRPr>
      </a:lvl8pPr>
      <a:lvl9pPr marL="4079911" indent="-239994" algn="l" defTabSz="959979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9979" rtl="0" eaLnBrk="1" latinLnBrk="0" hangingPunct="1">
        <a:defRPr sz="1891" kern="1200">
          <a:solidFill>
            <a:schemeClr val="tx1"/>
          </a:solidFill>
          <a:latin typeface="+mn-lt"/>
          <a:ea typeface="+mn-ea"/>
          <a:cs typeface="+mn-cs"/>
        </a:defRPr>
      </a:lvl1pPr>
      <a:lvl2pPr marL="479990" algn="l" defTabSz="959979" rtl="0" eaLnBrk="1" latinLnBrk="0" hangingPunct="1">
        <a:defRPr sz="1891" kern="1200">
          <a:solidFill>
            <a:schemeClr val="tx1"/>
          </a:solidFill>
          <a:latin typeface="+mn-lt"/>
          <a:ea typeface="+mn-ea"/>
          <a:cs typeface="+mn-cs"/>
        </a:defRPr>
      </a:lvl2pPr>
      <a:lvl3pPr marL="959979" algn="l" defTabSz="959979" rtl="0" eaLnBrk="1" latinLnBrk="0" hangingPunct="1">
        <a:defRPr sz="1891" kern="1200">
          <a:solidFill>
            <a:schemeClr val="tx1"/>
          </a:solidFill>
          <a:latin typeface="+mn-lt"/>
          <a:ea typeface="+mn-ea"/>
          <a:cs typeface="+mn-cs"/>
        </a:defRPr>
      </a:lvl3pPr>
      <a:lvl4pPr marL="1439969" algn="l" defTabSz="959979" rtl="0" eaLnBrk="1" latinLnBrk="0" hangingPunct="1">
        <a:defRPr sz="1891" kern="1200">
          <a:solidFill>
            <a:schemeClr val="tx1"/>
          </a:solidFill>
          <a:latin typeface="+mn-lt"/>
          <a:ea typeface="+mn-ea"/>
          <a:cs typeface="+mn-cs"/>
        </a:defRPr>
      </a:lvl4pPr>
      <a:lvl5pPr marL="1919958" algn="l" defTabSz="959979" rtl="0" eaLnBrk="1" latinLnBrk="0" hangingPunct="1">
        <a:defRPr sz="1891" kern="1200">
          <a:solidFill>
            <a:schemeClr val="tx1"/>
          </a:solidFill>
          <a:latin typeface="+mn-lt"/>
          <a:ea typeface="+mn-ea"/>
          <a:cs typeface="+mn-cs"/>
        </a:defRPr>
      </a:lvl5pPr>
      <a:lvl6pPr marL="2399948" algn="l" defTabSz="959979" rtl="0" eaLnBrk="1" latinLnBrk="0" hangingPunct="1">
        <a:defRPr sz="1891" kern="1200">
          <a:solidFill>
            <a:schemeClr val="tx1"/>
          </a:solidFill>
          <a:latin typeface="+mn-lt"/>
          <a:ea typeface="+mn-ea"/>
          <a:cs typeface="+mn-cs"/>
        </a:defRPr>
      </a:lvl6pPr>
      <a:lvl7pPr marL="2879937" algn="l" defTabSz="959979" rtl="0" eaLnBrk="1" latinLnBrk="0" hangingPunct="1">
        <a:defRPr sz="1891" kern="1200">
          <a:solidFill>
            <a:schemeClr val="tx1"/>
          </a:solidFill>
          <a:latin typeface="+mn-lt"/>
          <a:ea typeface="+mn-ea"/>
          <a:cs typeface="+mn-cs"/>
        </a:defRPr>
      </a:lvl7pPr>
      <a:lvl8pPr marL="3359927" algn="l" defTabSz="959979" rtl="0" eaLnBrk="1" latinLnBrk="0" hangingPunct="1">
        <a:defRPr sz="1891" kern="1200">
          <a:solidFill>
            <a:schemeClr val="tx1"/>
          </a:solidFill>
          <a:latin typeface="+mn-lt"/>
          <a:ea typeface="+mn-ea"/>
          <a:cs typeface="+mn-cs"/>
        </a:defRPr>
      </a:lvl8pPr>
      <a:lvl9pPr marL="3839916" algn="l" defTabSz="959979" rtl="0" eaLnBrk="1" latinLnBrk="0" hangingPunct="1">
        <a:defRPr sz="189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/>
          <p:cNvSpPr txBox="1">
            <a:spLocks/>
          </p:cNvSpPr>
          <p:nvPr/>
        </p:nvSpPr>
        <p:spPr>
          <a:xfrm>
            <a:off x="707923" y="1973004"/>
            <a:ext cx="8303342" cy="785210"/>
          </a:xfrm>
          <a:prstGeom prst="rect">
            <a:avLst/>
          </a:prstGeom>
          <a:solidFill>
            <a:srgbClr val="0070C0"/>
          </a:solidFill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3301" b="1" dirty="0">
                <a:solidFill>
                  <a:schemeClr val="bg1"/>
                </a:solidFill>
              </a:rPr>
              <a:t>Bases de Datos </a:t>
            </a:r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707923" y="3149385"/>
            <a:ext cx="8303342" cy="450271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800" dirty="0"/>
              <a:t>PROCEDIMIENTOS ALMACENADOS (STORED PROCEDURE) - FUNCIONES</a:t>
            </a:r>
          </a:p>
        </p:txBody>
      </p:sp>
    </p:spTree>
    <p:extLst>
      <p:ext uri="{BB962C8B-B14F-4D97-AF65-F5344CB8AC3E}">
        <p14:creationId xmlns:p14="http://schemas.microsoft.com/office/powerpoint/2010/main" val="406426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"/>
          <p:cNvSpPr>
            <a:spLocks noGrp="1" noChangeArrowheads="1"/>
          </p:cNvSpPr>
          <p:nvPr>
            <p:ph type="title"/>
          </p:nvPr>
        </p:nvSpPr>
        <p:spPr>
          <a:xfrm>
            <a:off x="427703" y="839832"/>
            <a:ext cx="8893278" cy="474875"/>
          </a:xfrm>
          <a:solidFill>
            <a:srgbClr val="0070C0"/>
          </a:solidFill>
        </p:spPr>
        <p:txBody>
          <a:bodyPr vert="horz" lIns="68580" tIns="34290" rIns="60959" bIns="34290" rtlCol="0" anchor="ctr">
            <a:noAutofit/>
          </a:bodyPr>
          <a:lstStyle/>
          <a:p>
            <a:pPr algn="ctr" eaLnBrk="1" hangingPunct="1"/>
            <a:r>
              <a:rPr lang="en-US" altLang="es-ES" sz="3200" b="1" dirty="0" err="1">
                <a:solidFill>
                  <a:schemeClr val="bg1"/>
                </a:solidFill>
              </a:rPr>
              <a:t>Rutinas</a:t>
            </a:r>
            <a:r>
              <a:rPr lang="en-US" altLang="es-ES" sz="3200" b="1" dirty="0">
                <a:solidFill>
                  <a:schemeClr val="bg1"/>
                </a:solidFill>
              </a:rPr>
              <a:t> </a:t>
            </a:r>
            <a:r>
              <a:rPr lang="en-US" altLang="es-ES" sz="3200" b="1" dirty="0" err="1">
                <a:solidFill>
                  <a:schemeClr val="bg1"/>
                </a:solidFill>
              </a:rPr>
              <a:t>Almacenadas</a:t>
            </a:r>
            <a:endParaRPr lang="en-US" altLang="es-ES" sz="3200" b="1" dirty="0">
              <a:solidFill>
                <a:schemeClr val="bg1"/>
              </a:solidFill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idx="1"/>
          </p:nvPr>
        </p:nvSpPr>
        <p:spPr>
          <a:xfrm>
            <a:off x="427703" y="1916484"/>
            <a:ext cx="8893278" cy="3968122"/>
          </a:xfrm>
        </p:spPr>
        <p:txBody>
          <a:bodyPr vert="horz" lIns="68580" tIns="34290" rIns="137160" bIns="34290" rtlCol="0">
            <a:noAutofit/>
          </a:bodyPr>
          <a:lstStyle/>
          <a:p>
            <a:pPr algn="just" eaLnBrk="1" hangingPunct="1"/>
            <a:r>
              <a:rPr lang="es-ES" altLang="es-ES" sz="2400" dirty="0"/>
              <a:t>Cuando múltiples aplicaciones cliente se escriben en distintos lenguajes o funcionan en distintas plataformas, pero necesitan realizar la misma operación en la base de datos.</a:t>
            </a:r>
          </a:p>
          <a:p>
            <a:pPr marL="0" indent="0" algn="just">
              <a:buNone/>
            </a:pPr>
            <a:endParaRPr lang="es-ES" altLang="es-ES" sz="2400" dirty="0"/>
          </a:p>
          <a:p>
            <a:pPr algn="just" eaLnBrk="1" hangingPunct="1"/>
            <a:r>
              <a:rPr lang="es-ES" altLang="es-ES" sz="2400" dirty="0"/>
              <a:t>Cuando la seguridad es muy importante, proporciona un entorno seguro y consistente donde las aplicaciones y los usuarios no obtendrían ningún acceso directo a las tablas de la base de datos, sólo pueden </a:t>
            </a:r>
            <a:r>
              <a:rPr lang="es-ES" altLang="es-ES" sz="2400" dirty="0" err="1"/>
              <a:t>ejectuar</a:t>
            </a:r>
            <a:r>
              <a:rPr lang="es-ES" altLang="es-ES" sz="2400" dirty="0"/>
              <a:t> algunos procedimientos almacenados. </a:t>
            </a:r>
            <a:endParaRPr lang="en-US" altLang="es-ES" sz="24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s-ES" sz="2400" dirty="0"/>
          </a:p>
        </p:txBody>
      </p:sp>
    </p:spTree>
    <p:extLst>
      <p:ext uri="{BB962C8B-B14F-4D97-AF65-F5344CB8AC3E}">
        <p14:creationId xmlns:p14="http://schemas.microsoft.com/office/powerpoint/2010/main" val="270646996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"/>
          <p:cNvSpPr>
            <a:spLocks noGrp="1" noChangeArrowheads="1"/>
          </p:cNvSpPr>
          <p:nvPr>
            <p:ph type="title"/>
          </p:nvPr>
        </p:nvSpPr>
        <p:spPr>
          <a:xfrm>
            <a:off x="391370" y="899834"/>
            <a:ext cx="8937522" cy="442269"/>
          </a:xfrm>
          <a:solidFill>
            <a:srgbClr val="0070C0"/>
          </a:solidFill>
        </p:spPr>
        <p:txBody>
          <a:bodyPr>
            <a:noAutofit/>
          </a:bodyPr>
          <a:lstStyle/>
          <a:p>
            <a:pPr algn="ctr" eaLnBrk="1" hangingPunct="1"/>
            <a:r>
              <a:rPr lang="en-US" altLang="es-ES" sz="3600" dirty="0" err="1">
                <a:solidFill>
                  <a:schemeClr val="bg1"/>
                </a:solidFill>
              </a:rPr>
              <a:t>Rutinas</a:t>
            </a:r>
            <a:r>
              <a:rPr lang="en-US" altLang="es-ES" sz="3600" dirty="0">
                <a:solidFill>
                  <a:schemeClr val="bg1"/>
                </a:solidFill>
              </a:rPr>
              <a:t> </a:t>
            </a:r>
            <a:r>
              <a:rPr lang="en-US" altLang="es-ES" sz="3600" dirty="0" err="1">
                <a:solidFill>
                  <a:schemeClr val="bg1"/>
                </a:solidFill>
              </a:rPr>
              <a:t>Almacenadas</a:t>
            </a:r>
            <a:endParaRPr lang="en-US" altLang="es-ES" sz="3600" dirty="0">
              <a:solidFill>
                <a:schemeClr val="bg1"/>
              </a:solidFill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idx="1"/>
          </p:nvPr>
        </p:nvSpPr>
        <p:spPr>
          <a:xfrm>
            <a:off x="383459" y="1607574"/>
            <a:ext cx="8937522" cy="4876808"/>
          </a:xfrm>
        </p:spPr>
        <p:txBody>
          <a:bodyPr/>
          <a:lstStyle/>
          <a:p>
            <a:pPr algn="just" eaLnBrk="1" hangingPunct="1"/>
            <a:r>
              <a:rPr lang="en-US" altLang="es-ES" dirty="0" err="1"/>
              <a:t>Conjunto</a:t>
            </a:r>
            <a:r>
              <a:rPr lang="en-US" altLang="es-ES" dirty="0"/>
              <a:t> de </a:t>
            </a:r>
            <a:r>
              <a:rPr lang="en-US" altLang="es-ES" dirty="0" err="1"/>
              <a:t>sentencias</a:t>
            </a:r>
            <a:r>
              <a:rPr lang="en-US" altLang="es-ES" dirty="0"/>
              <a:t> </a:t>
            </a:r>
            <a:r>
              <a:rPr lang="en-US" altLang="es-ES" dirty="0" err="1"/>
              <a:t>disponibles</a:t>
            </a:r>
            <a:r>
              <a:rPr lang="en-US" altLang="es-ES" dirty="0"/>
              <a:t> para </a:t>
            </a:r>
            <a:r>
              <a:rPr lang="en-US" altLang="es-ES" dirty="0" err="1"/>
              <a:t>las</a:t>
            </a:r>
            <a:r>
              <a:rPr lang="en-US" altLang="es-ES" dirty="0"/>
              <a:t> </a:t>
            </a:r>
            <a:r>
              <a:rPr lang="en-US" altLang="es-ES" dirty="0" err="1"/>
              <a:t>aplicaciones</a:t>
            </a:r>
            <a:r>
              <a:rPr lang="en-US" altLang="es-ES" dirty="0"/>
              <a:t> </a:t>
            </a:r>
            <a:r>
              <a:rPr lang="en-US" altLang="es-ES" dirty="0" err="1"/>
              <a:t>que</a:t>
            </a:r>
            <a:r>
              <a:rPr lang="en-US" altLang="es-ES" dirty="0"/>
              <a:t> </a:t>
            </a:r>
            <a:r>
              <a:rPr lang="en-US" altLang="es-ES" dirty="0" err="1"/>
              <a:t>acceden</a:t>
            </a:r>
            <a:r>
              <a:rPr lang="en-US" altLang="es-ES" dirty="0"/>
              <a:t> a un RDBMS.</a:t>
            </a:r>
          </a:p>
          <a:p>
            <a:pPr algn="just" eaLnBrk="1" hangingPunct="1"/>
            <a:r>
              <a:rPr lang="en-US" altLang="es-ES" dirty="0" err="1"/>
              <a:t>Almacenados</a:t>
            </a:r>
            <a:r>
              <a:rPr lang="en-US" altLang="es-ES" dirty="0"/>
              <a:t> en el </a:t>
            </a:r>
            <a:r>
              <a:rPr lang="en-US" altLang="es-ES" dirty="0" err="1"/>
              <a:t>Gestor</a:t>
            </a:r>
            <a:r>
              <a:rPr lang="en-US" altLang="es-ES" dirty="0"/>
              <a:t> de la Bases de </a:t>
            </a:r>
            <a:r>
              <a:rPr lang="en-US" altLang="es-ES" dirty="0" err="1"/>
              <a:t>Datos</a:t>
            </a:r>
            <a:r>
              <a:rPr lang="en-US" altLang="es-ES" dirty="0"/>
              <a:t>.</a:t>
            </a:r>
          </a:p>
          <a:p>
            <a:pPr algn="just"/>
            <a:r>
              <a:rPr lang="en-US" altLang="es-ES" dirty="0" err="1"/>
              <a:t>Por</a:t>
            </a:r>
            <a:r>
              <a:rPr lang="en-US" altLang="es-ES" dirty="0"/>
              <a:t> </a:t>
            </a:r>
            <a:r>
              <a:rPr lang="en-US" altLang="es-ES" dirty="0" err="1"/>
              <a:t>defecto</a:t>
            </a:r>
            <a:r>
              <a:rPr lang="en-US" altLang="es-ES" dirty="0"/>
              <a:t>, se </a:t>
            </a:r>
            <a:r>
              <a:rPr lang="en-US" altLang="es-ES" dirty="0" err="1"/>
              <a:t>crea</a:t>
            </a:r>
            <a:r>
              <a:rPr lang="en-US" altLang="es-ES" dirty="0"/>
              <a:t> en la base de </a:t>
            </a:r>
            <a:r>
              <a:rPr lang="en-US" altLang="es-ES" dirty="0" err="1"/>
              <a:t>datos</a:t>
            </a:r>
            <a:r>
              <a:rPr lang="en-US" altLang="es-ES" dirty="0"/>
              <a:t> actual. Si </a:t>
            </a:r>
            <a:r>
              <a:rPr lang="en-US" altLang="es-ES" dirty="0" err="1"/>
              <a:t>queremos</a:t>
            </a:r>
            <a:r>
              <a:rPr lang="en-US" altLang="es-ES" dirty="0"/>
              <a:t> </a:t>
            </a:r>
            <a:r>
              <a:rPr lang="en-US" altLang="es-ES" dirty="0" err="1"/>
              <a:t>crearla</a:t>
            </a:r>
            <a:r>
              <a:rPr lang="en-US" altLang="es-ES" dirty="0"/>
              <a:t> en </a:t>
            </a:r>
            <a:r>
              <a:rPr lang="en-US" altLang="es-ES" dirty="0" err="1"/>
              <a:t>una</a:t>
            </a:r>
            <a:r>
              <a:rPr lang="en-US" altLang="es-ES" dirty="0"/>
              <a:t> BD </a:t>
            </a:r>
            <a:r>
              <a:rPr lang="en-US" altLang="es-ES" dirty="0" err="1"/>
              <a:t>distinta</a:t>
            </a:r>
            <a:r>
              <a:rPr lang="en-US" altLang="es-ES" dirty="0"/>
              <a:t>, </a:t>
            </a:r>
            <a:r>
              <a:rPr lang="en-US" altLang="es-ES" dirty="0" err="1"/>
              <a:t>deberemos</a:t>
            </a:r>
            <a:r>
              <a:rPr lang="en-US" altLang="es-ES" dirty="0"/>
              <a:t> </a:t>
            </a:r>
            <a:r>
              <a:rPr lang="en-US" altLang="es-ES" dirty="0" err="1"/>
              <a:t>hacer</a:t>
            </a:r>
            <a:r>
              <a:rPr lang="en-US" altLang="es-ES" dirty="0"/>
              <a:t> </a:t>
            </a:r>
            <a:r>
              <a:rPr lang="en-US" altLang="es-ES" dirty="0" err="1"/>
              <a:t>preceder</a:t>
            </a:r>
            <a:r>
              <a:rPr lang="en-US" altLang="es-ES" dirty="0"/>
              <a:t> el </a:t>
            </a:r>
            <a:r>
              <a:rPr lang="en-US" altLang="es-ES" dirty="0" err="1"/>
              <a:t>nombre</a:t>
            </a:r>
            <a:r>
              <a:rPr lang="en-US" altLang="es-ES" dirty="0"/>
              <a:t> de la BD de </a:t>
            </a:r>
            <a:r>
              <a:rPr lang="en-US" altLang="es-ES" dirty="0" err="1"/>
              <a:t>destino</a:t>
            </a:r>
            <a:r>
              <a:rPr lang="en-US" altLang="es-ES" dirty="0"/>
              <a:t>.</a:t>
            </a:r>
          </a:p>
          <a:p>
            <a:pPr algn="just"/>
            <a:r>
              <a:rPr lang="en-US" altLang="es-ES" dirty="0"/>
              <a:t>El </a:t>
            </a:r>
            <a:r>
              <a:rPr lang="en-US" altLang="es-ES" dirty="0" err="1"/>
              <a:t>delimitador</a:t>
            </a:r>
            <a:r>
              <a:rPr lang="en-US" altLang="es-ES" dirty="0"/>
              <a:t> de </a:t>
            </a:r>
            <a:r>
              <a:rPr lang="en-US" altLang="es-ES" dirty="0" err="1"/>
              <a:t>línea</a:t>
            </a:r>
            <a:r>
              <a:rPr lang="en-US" altLang="es-ES" dirty="0"/>
              <a:t> de </a:t>
            </a:r>
            <a:r>
              <a:rPr lang="en-US" altLang="es-ES" dirty="0" err="1"/>
              <a:t>comando</a:t>
            </a:r>
            <a:r>
              <a:rPr lang="en-US" altLang="es-ES" dirty="0"/>
              <a:t> </a:t>
            </a:r>
            <a:r>
              <a:rPr lang="en-US" altLang="es-ES" dirty="0" err="1"/>
              <a:t>por</a:t>
            </a:r>
            <a:r>
              <a:rPr lang="en-US" altLang="es-ES" dirty="0"/>
              <a:t> </a:t>
            </a:r>
            <a:r>
              <a:rPr lang="en-US" altLang="es-ES" dirty="0" err="1"/>
              <a:t>defecto</a:t>
            </a:r>
            <a:r>
              <a:rPr lang="en-US" altLang="es-ES" dirty="0"/>
              <a:t> (;) </a:t>
            </a:r>
            <a:r>
              <a:rPr lang="en-US" altLang="es-ES" dirty="0" err="1"/>
              <a:t>necesita</a:t>
            </a:r>
            <a:r>
              <a:rPr lang="en-US" altLang="es-ES" dirty="0"/>
              <a:t> </a:t>
            </a:r>
            <a:r>
              <a:rPr lang="en-US" altLang="es-ES" dirty="0" err="1"/>
              <a:t>ser</a:t>
            </a:r>
            <a:r>
              <a:rPr lang="en-US" altLang="es-ES" dirty="0"/>
              <a:t> </a:t>
            </a:r>
            <a:r>
              <a:rPr lang="en-US" altLang="es-ES" dirty="0" err="1"/>
              <a:t>cambiado</a:t>
            </a:r>
            <a:r>
              <a:rPr lang="en-US" altLang="es-ES" dirty="0"/>
              <a:t> a la </a:t>
            </a:r>
            <a:r>
              <a:rPr lang="en-US" altLang="es-ES" dirty="0" err="1"/>
              <a:t>hora</a:t>
            </a:r>
            <a:r>
              <a:rPr lang="en-US" altLang="es-ES" dirty="0"/>
              <a:t> de </a:t>
            </a:r>
            <a:r>
              <a:rPr lang="en-US" altLang="es-ES" dirty="0" err="1"/>
              <a:t>codificar</a:t>
            </a:r>
            <a:r>
              <a:rPr lang="en-US" altLang="es-ES" dirty="0"/>
              <a:t> </a:t>
            </a:r>
            <a:r>
              <a:rPr lang="en-US" altLang="es-ES" dirty="0" err="1"/>
              <a:t>rutinas</a:t>
            </a:r>
            <a:r>
              <a:rPr lang="en-US" altLang="es-ES" dirty="0"/>
              <a:t> </a:t>
            </a:r>
            <a:r>
              <a:rPr lang="en-US" altLang="es-ES" dirty="0" err="1"/>
              <a:t>almacenadas</a:t>
            </a:r>
            <a:r>
              <a:rPr lang="en-US" altLang="es-ES" dirty="0"/>
              <a:t>.</a:t>
            </a:r>
          </a:p>
          <a:p>
            <a:pPr eaLnBrk="1" hangingPunct="1"/>
            <a:endParaRPr lang="en-US" altLang="es-ES" dirty="0"/>
          </a:p>
        </p:txBody>
      </p:sp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6/2/2021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66900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/>
          <p:cNvSpPr>
            <a:spLocks noGrp="1" noChangeArrowheads="1"/>
          </p:cNvSpPr>
          <p:nvPr>
            <p:ph type="title"/>
          </p:nvPr>
        </p:nvSpPr>
        <p:spPr>
          <a:xfrm>
            <a:off x="398206" y="832113"/>
            <a:ext cx="8967020" cy="465746"/>
          </a:xfrm>
          <a:solidFill>
            <a:srgbClr val="0070C0"/>
          </a:solidFill>
        </p:spPr>
        <p:txBody>
          <a:bodyPr vert="horz" lIns="68580" tIns="34290" rIns="60959" bIns="34290" rtlCol="0" anchor="ctr">
            <a:noAutofit/>
          </a:bodyPr>
          <a:lstStyle/>
          <a:p>
            <a:pPr algn="ctr" eaLnBrk="1" hangingPunct="1"/>
            <a:r>
              <a:rPr lang="en-US" altLang="es-ES" sz="3600" dirty="0" err="1">
                <a:solidFill>
                  <a:schemeClr val="bg1"/>
                </a:solidFill>
              </a:rPr>
              <a:t>Rutinas</a:t>
            </a:r>
            <a:r>
              <a:rPr lang="en-US" altLang="es-ES" sz="3600" dirty="0">
                <a:solidFill>
                  <a:schemeClr val="bg1"/>
                </a:solidFill>
              </a:rPr>
              <a:t> </a:t>
            </a:r>
            <a:r>
              <a:rPr lang="en-US" altLang="es-ES" sz="3600" dirty="0" err="1">
                <a:solidFill>
                  <a:schemeClr val="bg1"/>
                </a:solidFill>
              </a:rPr>
              <a:t>Almacenadas</a:t>
            </a:r>
            <a:endParaRPr lang="en-US" altLang="es-ES" sz="3600" dirty="0">
              <a:solidFill>
                <a:schemeClr val="bg1"/>
              </a:solidFill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idx="1"/>
          </p:nvPr>
        </p:nvSpPr>
        <p:spPr>
          <a:xfrm>
            <a:off x="668269" y="1774833"/>
            <a:ext cx="8383727" cy="4567898"/>
          </a:xfrm>
        </p:spPr>
        <p:txBody>
          <a:bodyPr vert="horz" lIns="68580" tIns="34290" rIns="137160" bIns="34290" rtlCol="0">
            <a:normAutofit/>
          </a:bodyPr>
          <a:lstStyle/>
          <a:p>
            <a:pPr marL="205764" indent="-205764">
              <a:buClr>
                <a:schemeClr val="accent3"/>
              </a:buClr>
              <a:buFont typeface="Wingdings 2"/>
              <a:buChar char=""/>
              <a:defRPr/>
            </a:pPr>
            <a:r>
              <a:rPr lang="es-ES" altLang="es-ES" dirty="0"/>
              <a:t>Cuando se invocan, se realiza un  </a:t>
            </a:r>
            <a:r>
              <a:rPr lang="es-ES" altLang="es-ES" dirty="0">
                <a:solidFill>
                  <a:srgbClr val="C00000"/>
                </a:solidFill>
              </a:rPr>
              <a:t>USE </a:t>
            </a:r>
            <a:r>
              <a:rPr lang="es-ES" altLang="es-ES" dirty="0" err="1">
                <a:solidFill>
                  <a:srgbClr val="C00000"/>
                </a:solidFill>
              </a:rPr>
              <a:t>DBName</a:t>
            </a:r>
            <a:r>
              <a:rPr lang="es-ES" altLang="es-ES" dirty="0">
                <a:solidFill>
                  <a:srgbClr val="C00000"/>
                </a:solidFill>
              </a:rPr>
              <a:t> </a:t>
            </a:r>
            <a:r>
              <a:rPr lang="es-ES" altLang="es-ES" dirty="0"/>
              <a:t>implícito (y se deshace cuando la rutina termina). </a:t>
            </a:r>
          </a:p>
          <a:p>
            <a:pPr marL="205764" indent="-205764"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altLang="es-ES" dirty="0" err="1"/>
              <a:t>Cuando</a:t>
            </a:r>
            <a:r>
              <a:rPr lang="en-US" altLang="es-ES" dirty="0"/>
              <a:t> se </a:t>
            </a:r>
            <a:r>
              <a:rPr lang="en-US" altLang="es-ES" dirty="0" err="1"/>
              <a:t>borra</a:t>
            </a:r>
            <a:r>
              <a:rPr lang="en-US" altLang="es-ES" dirty="0"/>
              <a:t> </a:t>
            </a:r>
            <a:r>
              <a:rPr lang="en-US" altLang="es-ES" dirty="0" err="1"/>
              <a:t>una</a:t>
            </a:r>
            <a:r>
              <a:rPr lang="en-US" altLang="es-ES" dirty="0"/>
              <a:t> DB, </a:t>
            </a:r>
            <a:r>
              <a:rPr lang="en-US" altLang="es-ES" dirty="0" err="1"/>
              <a:t>todas</a:t>
            </a:r>
            <a:r>
              <a:rPr lang="en-US" altLang="es-ES" dirty="0"/>
              <a:t> </a:t>
            </a:r>
            <a:r>
              <a:rPr lang="en-US" altLang="es-ES" dirty="0" err="1"/>
              <a:t>las</a:t>
            </a:r>
            <a:r>
              <a:rPr lang="en-US" altLang="es-ES" dirty="0"/>
              <a:t> SR </a:t>
            </a:r>
            <a:r>
              <a:rPr lang="en-US" altLang="es-ES" dirty="0" err="1"/>
              <a:t>almacenadas</a:t>
            </a:r>
            <a:r>
              <a:rPr lang="en-US" altLang="es-ES" dirty="0"/>
              <a:t> en </a:t>
            </a:r>
            <a:r>
              <a:rPr lang="en-US" altLang="es-ES" dirty="0" err="1"/>
              <a:t>él</a:t>
            </a:r>
            <a:r>
              <a:rPr lang="en-US" altLang="es-ES" dirty="0"/>
              <a:t>, se </a:t>
            </a:r>
            <a:r>
              <a:rPr lang="en-US" altLang="es-ES" dirty="0" err="1"/>
              <a:t>borran</a:t>
            </a:r>
            <a:r>
              <a:rPr lang="en-US" altLang="es-ES" dirty="0"/>
              <a:t> </a:t>
            </a:r>
            <a:r>
              <a:rPr lang="en-US" altLang="es-ES" dirty="0" err="1"/>
              <a:t>también</a:t>
            </a:r>
            <a:r>
              <a:rPr lang="en-US" altLang="es-ES" dirty="0"/>
              <a:t>. </a:t>
            </a:r>
          </a:p>
          <a:p>
            <a:pPr marL="205764" indent="-205764"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altLang="es-ES" dirty="0" err="1"/>
              <a:t>MySQL</a:t>
            </a:r>
            <a:r>
              <a:rPr lang="en-US" altLang="es-ES" dirty="0"/>
              <a:t> </a:t>
            </a:r>
            <a:r>
              <a:rPr lang="en-US" altLang="es-ES" dirty="0" err="1"/>
              <a:t>soporta</a:t>
            </a:r>
            <a:r>
              <a:rPr lang="en-US" altLang="es-ES" dirty="0"/>
              <a:t> 3 </a:t>
            </a:r>
            <a:r>
              <a:rPr lang="en-US" altLang="es-ES" dirty="0" err="1"/>
              <a:t>tipos</a:t>
            </a:r>
            <a:r>
              <a:rPr lang="en-US" altLang="es-ES" dirty="0"/>
              <a:t> de </a:t>
            </a:r>
            <a:r>
              <a:rPr lang="en-US" altLang="es-ES" dirty="0" err="1"/>
              <a:t>rutinas</a:t>
            </a:r>
            <a:r>
              <a:rPr lang="en-US" altLang="es-ES" dirty="0"/>
              <a:t>:</a:t>
            </a:r>
          </a:p>
          <a:p>
            <a:pPr marL="480116" lvl="1" indent="-185188">
              <a:lnSpc>
                <a:spcPct val="150000"/>
              </a:lnSpc>
              <a:buFont typeface="Arial Black" pitchFamily="34" charset="0"/>
              <a:buAutoNum type="arabicPeriod"/>
              <a:defRPr/>
            </a:pPr>
            <a:r>
              <a:rPr lang="en-US" altLang="es-ES" dirty="0" err="1">
                <a:solidFill>
                  <a:srgbClr val="0070C0"/>
                </a:solidFill>
              </a:rPr>
              <a:t>Procedimientos</a:t>
            </a:r>
            <a:r>
              <a:rPr lang="en-US" altLang="es-ES" dirty="0">
                <a:solidFill>
                  <a:srgbClr val="0070C0"/>
                </a:solidFill>
              </a:rPr>
              <a:t> </a:t>
            </a:r>
            <a:r>
              <a:rPr lang="en-US" altLang="es-ES" dirty="0" err="1">
                <a:solidFill>
                  <a:srgbClr val="0070C0"/>
                </a:solidFill>
              </a:rPr>
              <a:t>Almacenados</a:t>
            </a:r>
            <a:r>
              <a:rPr lang="en-US" altLang="es-ES" dirty="0">
                <a:solidFill>
                  <a:srgbClr val="0070C0"/>
                </a:solidFill>
              </a:rPr>
              <a:t> (SP),</a:t>
            </a:r>
          </a:p>
          <a:p>
            <a:pPr marL="480116" lvl="1" indent="-185188">
              <a:lnSpc>
                <a:spcPct val="150000"/>
              </a:lnSpc>
              <a:buFont typeface="Arial Black" pitchFamily="34" charset="0"/>
              <a:buAutoNum type="arabicPeriod"/>
              <a:defRPr/>
            </a:pPr>
            <a:r>
              <a:rPr lang="en-US" altLang="es-ES" dirty="0" err="1">
                <a:solidFill>
                  <a:srgbClr val="0070C0"/>
                </a:solidFill>
              </a:rPr>
              <a:t>Funciones</a:t>
            </a:r>
            <a:r>
              <a:rPr lang="en-US" altLang="es-ES" dirty="0">
                <a:solidFill>
                  <a:srgbClr val="0070C0"/>
                </a:solidFill>
              </a:rPr>
              <a:t> </a:t>
            </a:r>
            <a:r>
              <a:rPr lang="en-US" altLang="es-ES" dirty="0" err="1">
                <a:solidFill>
                  <a:srgbClr val="0070C0"/>
                </a:solidFill>
              </a:rPr>
              <a:t>Almacenadas</a:t>
            </a:r>
            <a:r>
              <a:rPr lang="en-US" altLang="es-ES" dirty="0">
                <a:solidFill>
                  <a:srgbClr val="0070C0"/>
                </a:solidFill>
              </a:rPr>
              <a:t> (SF), </a:t>
            </a:r>
          </a:p>
          <a:p>
            <a:pPr marL="480116" lvl="1" indent="-185188">
              <a:lnSpc>
                <a:spcPct val="150000"/>
              </a:lnSpc>
              <a:buFont typeface="Arial Black" pitchFamily="34" charset="0"/>
              <a:buAutoNum type="arabicPeriod"/>
              <a:defRPr/>
            </a:pPr>
            <a:r>
              <a:rPr lang="en-US" altLang="es-ES" dirty="0">
                <a:solidFill>
                  <a:srgbClr val="0070C0"/>
                </a:solidFill>
              </a:rPr>
              <a:t>Triggers o </a:t>
            </a:r>
            <a:r>
              <a:rPr lang="en-US" altLang="es-ES" dirty="0" err="1">
                <a:solidFill>
                  <a:srgbClr val="0070C0"/>
                </a:solidFill>
              </a:rPr>
              <a:t>Disparadores</a:t>
            </a:r>
            <a:r>
              <a:rPr lang="en-US" altLang="es-ES" dirty="0"/>
              <a:t>.</a:t>
            </a:r>
          </a:p>
          <a:p>
            <a:pPr marL="205764" indent="-205764">
              <a:buClr>
                <a:schemeClr val="accent3"/>
              </a:buClr>
              <a:buFont typeface="Wingdings 2"/>
              <a:buChar char=""/>
              <a:defRPr/>
            </a:pPr>
            <a:endParaRPr lang="en-US" altLang="es-ES" dirty="0"/>
          </a:p>
        </p:txBody>
      </p:sp>
    </p:spTree>
    <p:extLst>
      <p:ext uri="{BB962C8B-B14F-4D97-AF65-F5344CB8AC3E}">
        <p14:creationId xmlns:p14="http://schemas.microsoft.com/office/powerpoint/2010/main" val="34526842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"/>
          <p:cNvSpPr>
            <a:spLocks noGrp="1" noChangeArrowheads="1"/>
          </p:cNvSpPr>
          <p:nvPr>
            <p:ph type="title"/>
          </p:nvPr>
        </p:nvSpPr>
        <p:spPr>
          <a:xfrm>
            <a:off x="398207" y="825909"/>
            <a:ext cx="8952270" cy="515227"/>
          </a:xfrm>
          <a:solidFill>
            <a:srgbClr val="0070C0"/>
          </a:solidFill>
        </p:spPr>
        <p:txBody>
          <a:bodyPr vert="horz" lIns="68580" tIns="34290" rIns="60959" bIns="34290" rtlCol="0" anchor="ctr">
            <a:normAutofit/>
          </a:bodyPr>
          <a:lstStyle/>
          <a:p>
            <a:pPr algn="ctr" eaLnBrk="1" hangingPunct="1"/>
            <a:r>
              <a:rPr lang="en-US" altLang="es-ES" sz="3200" b="1" dirty="0" err="1">
                <a:solidFill>
                  <a:schemeClr val="bg1"/>
                </a:solidFill>
              </a:rPr>
              <a:t>Rutinas</a:t>
            </a:r>
            <a:r>
              <a:rPr lang="en-US" altLang="es-ES" sz="3200" b="1" dirty="0">
                <a:solidFill>
                  <a:schemeClr val="bg1"/>
                </a:solidFill>
              </a:rPr>
              <a:t> </a:t>
            </a:r>
            <a:r>
              <a:rPr lang="en-US" altLang="es-ES" sz="3200" b="1" dirty="0" err="1">
                <a:solidFill>
                  <a:schemeClr val="bg1"/>
                </a:solidFill>
              </a:rPr>
              <a:t>Almacenadas</a:t>
            </a:r>
            <a:endParaRPr lang="en-US" altLang="es-ES" sz="3200" b="1" dirty="0">
              <a:solidFill>
                <a:schemeClr val="bg1"/>
              </a:solidFill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idx="1"/>
          </p:nvPr>
        </p:nvSpPr>
        <p:spPr>
          <a:xfrm>
            <a:off x="383996" y="1518277"/>
            <a:ext cx="8952270" cy="1888600"/>
          </a:xfrm>
        </p:spPr>
        <p:txBody>
          <a:bodyPr vert="horz" lIns="68580" tIns="34290" rIns="137160" bIns="34290" rtlCol="0">
            <a:normAutofit/>
          </a:bodyPr>
          <a:lstStyle/>
          <a:p>
            <a:pPr lvl="1" eaLnBrk="1" hangingPunct="1"/>
            <a:r>
              <a:rPr lang="en-US" altLang="es-ES" dirty="0" err="1"/>
              <a:t>Tiene</a:t>
            </a:r>
            <a:r>
              <a:rPr lang="en-US" altLang="es-ES" dirty="0"/>
              <a:t> un </a:t>
            </a:r>
            <a:r>
              <a:rPr lang="en-US" altLang="es-ES" dirty="0" err="1"/>
              <a:t>nombre</a:t>
            </a:r>
            <a:endParaRPr lang="en-US" altLang="es-ES" dirty="0"/>
          </a:p>
          <a:p>
            <a:pPr lvl="1" eaLnBrk="1" hangingPunct="1"/>
            <a:r>
              <a:rPr lang="en-US" altLang="es-ES" dirty="0" err="1"/>
              <a:t>Puede</a:t>
            </a:r>
            <a:r>
              <a:rPr lang="en-US" altLang="es-ES" dirty="0"/>
              <a:t> </a:t>
            </a:r>
            <a:r>
              <a:rPr lang="en-US" altLang="es-ES" dirty="0" err="1"/>
              <a:t>tener</a:t>
            </a:r>
            <a:r>
              <a:rPr lang="en-US" altLang="es-ES" dirty="0"/>
              <a:t> </a:t>
            </a:r>
            <a:r>
              <a:rPr lang="en-US" altLang="es-ES" dirty="0" err="1"/>
              <a:t>una</a:t>
            </a:r>
            <a:r>
              <a:rPr lang="en-US" altLang="es-ES" dirty="0"/>
              <a:t> </a:t>
            </a:r>
            <a:r>
              <a:rPr lang="en-US" altLang="es-ES" dirty="0" err="1"/>
              <a:t>lista</a:t>
            </a:r>
            <a:r>
              <a:rPr lang="en-US" altLang="es-ES" dirty="0"/>
              <a:t> de </a:t>
            </a:r>
            <a:r>
              <a:rPr lang="en-US" altLang="es-ES" dirty="0" err="1"/>
              <a:t>parámetros</a:t>
            </a:r>
            <a:endParaRPr lang="en-US" altLang="es-ES" dirty="0"/>
          </a:p>
          <a:p>
            <a:pPr lvl="1" eaLnBrk="1" hangingPunct="1"/>
            <a:r>
              <a:rPr lang="en-US" altLang="es-ES" dirty="0" err="1"/>
              <a:t>Puede</a:t>
            </a:r>
            <a:r>
              <a:rPr lang="en-US" altLang="es-ES" dirty="0"/>
              <a:t> </a:t>
            </a:r>
            <a:r>
              <a:rPr lang="en-US" altLang="es-ES" dirty="0" err="1"/>
              <a:t>contener</a:t>
            </a:r>
            <a:r>
              <a:rPr lang="en-US" altLang="es-ES" dirty="0"/>
              <a:t> un </a:t>
            </a:r>
            <a:r>
              <a:rPr lang="en-US" altLang="es-ES" dirty="0" err="1"/>
              <a:t>conjunto</a:t>
            </a:r>
            <a:r>
              <a:rPr lang="en-US" altLang="es-ES" dirty="0"/>
              <a:t> de </a:t>
            </a:r>
            <a:r>
              <a:rPr lang="en-US" altLang="es-ES" dirty="0" err="1"/>
              <a:t>sentencias</a:t>
            </a:r>
            <a:r>
              <a:rPr lang="en-US" altLang="es-ES" dirty="0"/>
              <a:t> SQL.</a:t>
            </a:r>
          </a:p>
          <a:p>
            <a:pPr eaLnBrk="1" hangingPunct="1"/>
            <a:r>
              <a:rPr lang="en-US" altLang="es-ES" dirty="0"/>
              <a:t>Se </a:t>
            </a:r>
            <a:r>
              <a:rPr lang="en-US" altLang="es-ES" dirty="0" err="1"/>
              <a:t>crean</a:t>
            </a:r>
            <a:r>
              <a:rPr lang="en-US" altLang="es-ES" dirty="0"/>
              <a:t> </a:t>
            </a:r>
            <a:r>
              <a:rPr lang="en-US" altLang="es-ES" dirty="0" err="1"/>
              <a:t>utilizando</a:t>
            </a:r>
            <a:r>
              <a:rPr lang="en-US" altLang="es-ES" dirty="0"/>
              <a:t> el </a:t>
            </a:r>
            <a:r>
              <a:rPr lang="en-US" altLang="es-ES" dirty="0" err="1"/>
              <a:t>comando</a:t>
            </a:r>
            <a:r>
              <a:rPr lang="en-US" altLang="es-ES" dirty="0"/>
              <a:t> </a:t>
            </a:r>
            <a:r>
              <a:rPr lang="en-US" altLang="es-ES" dirty="0">
                <a:solidFill>
                  <a:srgbClr val="FF0000"/>
                </a:solidFill>
              </a:rPr>
              <a:t>CREATE</a:t>
            </a:r>
            <a:r>
              <a:rPr lang="en-US" altLang="es-ES" dirty="0"/>
              <a:t>.</a:t>
            </a:r>
          </a:p>
          <a:p>
            <a:pPr eaLnBrk="1" hangingPunct="1"/>
            <a:endParaRPr lang="en-US" altLang="es-ES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s-ES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F99B5402-2E57-2F1A-A30B-5DD89139A7AC}"/>
              </a:ext>
            </a:extLst>
          </p:cNvPr>
          <p:cNvSpPr txBox="1">
            <a:spLocks/>
          </p:cNvSpPr>
          <p:nvPr/>
        </p:nvSpPr>
        <p:spPr>
          <a:xfrm>
            <a:off x="398207" y="3425987"/>
            <a:ext cx="8952270" cy="383298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5997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1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2400" b="1" dirty="0">
                <a:solidFill>
                  <a:schemeClr val="bg1"/>
                </a:solidFill>
              </a:rPr>
              <a:t>Qué es un procedimiento almacenado?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9DF2CA9E-7352-428C-B6F5-6842753C0177}"/>
              </a:ext>
            </a:extLst>
          </p:cNvPr>
          <p:cNvSpPr txBox="1">
            <a:spLocks/>
          </p:cNvSpPr>
          <p:nvPr/>
        </p:nvSpPr>
        <p:spPr>
          <a:xfrm>
            <a:off x="715184" y="3967316"/>
            <a:ext cx="7999809" cy="276230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39994" indent="-239994" algn="l" defTabSz="959979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985" indent="-239994" algn="l" defTabSz="959979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974" indent="-239994" algn="l" defTabSz="959979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963" indent="-239994" algn="l" defTabSz="959979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9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954" indent="-239994" algn="l" defTabSz="959979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9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942" indent="-239994" algn="l" defTabSz="959979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9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933" indent="-239994" algn="l" defTabSz="959979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9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922" indent="-239994" algn="l" defTabSz="959979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9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911" indent="-239994" algn="l" defTabSz="959979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9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AR" sz="2800" dirty="0"/>
              <a:t>Un procedimiento almacenado es un conjunto de comandos SQL que pueden almacenarse en el servidor.</a:t>
            </a:r>
          </a:p>
          <a:p>
            <a:pPr marL="0" indent="0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s-AR" sz="240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Cuando es conveniente utilizarlos?</a:t>
            </a:r>
          </a:p>
          <a:p>
            <a:r>
              <a:rPr lang="es-AR" sz="1800" dirty="0"/>
              <a:t>Cuando múltiples aplicaciones cliente necesitan realizar la misma operación en la base de datos.</a:t>
            </a:r>
          </a:p>
          <a:p>
            <a:r>
              <a:rPr lang="es-AR" sz="1800" dirty="0"/>
              <a:t>Cuando la seguridad es muy importante. Se crean procedimientos para realizar operaciones comunes.</a:t>
            </a:r>
          </a:p>
        </p:txBody>
      </p:sp>
    </p:spTree>
    <p:extLst>
      <p:ext uri="{BB962C8B-B14F-4D97-AF65-F5344CB8AC3E}">
        <p14:creationId xmlns:p14="http://schemas.microsoft.com/office/powerpoint/2010/main" val="65045964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0143" y="742138"/>
            <a:ext cx="8981767" cy="496727"/>
          </a:xfrm>
          <a:solidFill>
            <a:srgbClr val="0070C0"/>
          </a:solidFill>
        </p:spPr>
        <p:txBody>
          <a:bodyPr>
            <a:noAutofit/>
          </a:bodyPr>
          <a:lstStyle/>
          <a:p>
            <a:r>
              <a:rPr lang="es-AR" sz="3200" b="1" dirty="0">
                <a:solidFill>
                  <a:schemeClr val="bg1"/>
                </a:solidFill>
              </a:rPr>
              <a:t>Ventajas: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24465" y="1371599"/>
            <a:ext cx="8981767" cy="2034471"/>
          </a:xfrm>
        </p:spPr>
        <p:txBody>
          <a:bodyPr>
            <a:normAutofit/>
          </a:bodyPr>
          <a:lstStyle/>
          <a:p>
            <a:pPr algn="just"/>
            <a:r>
              <a:rPr lang="es-AR" sz="2000" dirty="0"/>
              <a:t>Los procedimientos almacenados pueden mejorar el rendimiento ya que se necesita enviar menos información entre el servidor y el cliente.</a:t>
            </a:r>
          </a:p>
          <a:p>
            <a:pPr algn="just"/>
            <a:r>
              <a:rPr lang="es-AR" sz="2000" dirty="0"/>
              <a:t>Proporciona un entorno seguro y consistente. En este entorno, las aplicaciones y los usuarios no obtendrían  ningún acceso directo a las tablas de la base de datos, sólo pueden ejecutar algunos procedimientos almacenados.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031A0B9-609F-FCED-7C1E-1E7D9703F989}"/>
              </a:ext>
            </a:extLst>
          </p:cNvPr>
          <p:cNvSpPr txBox="1">
            <a:spLocks noChangeArrowheads="1"/>
          </p:cNvSpPr>
          <p:nvPr/>
        </p:nvSpPr>
        <p:spPr>
          <a:xfrm>
            <a:off x="450143" y="3047081"/>
            <a:ext cx="8856089" cy="491723"/>
          </a:xfrm>
          <a:prstGeom prst="rect">
            <a:avLst/>
          </a:prstGeom>
        </p:spPr>
        <p:txBody>
          <a:bodyPr vert="horz" lIns="68580" tIns="34290" rIns="60959" bIns="34290" rtlCol="0" anchor="ctr">
            <a:normAutofit fontScale="75000" lnSpcReduction="20000"/>
          </a:bodyPr>
          <a:lstStyle>
            <a:lvl1pPr algn="l" defTabSz="95997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1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s-ES" dirty="0" err="1">
                <a:solidFill>
                  <a:srgbClr val="00B050"/>
                </a:solidFill>
              </a:rPr>
              <a:t>Tipos</a:t>
            </a:r>
            <a:r>
              <a:rPr lang="en-US" altLang="es-ES" dirty="0">
                <a:solidFill>
                  <a:srgbClr val="00B050"/>
                </a:solidFill>
              </a:rPr>
              <a:t> de </a:t>
            </a:r>
            <a:r>
              <a:rPr lang="en-US" altLang="es-ES" dirty="0" err="1">
                <a:solidFill>
                  <a:srgbClr val="00B050"/>
                </a:solidFill>
              </a:rPr>
              <a:t>parámetros</a:t>
            </a:r>
            <a:endParaRPr lang="en-US" altLang="es-ES" dirty="0">
              <a:solidFill>
                <a:srgbClr val="00B050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76BF8ED-2153-3353-A61F-ACB01F91C4AC}"/>
              </a:ext>
            </a:extLst>
          </p:cNvPr>
          <p:cNvSpPr txBox="1">
            <a:spLocks noChangeArrowheads="1"/>
          </p:cNvSpPr>
          <p:nvPr/>
        </p:nvSpPr>
        <p:spPr>
          <a:xfrm>
            <a:off x="450143" y="3660509"/>
            <a:ext cx="8819977" cy="2902523"/>
          </a:xfrm>
          <a:prstGeom prst="rect">
            <a:avLst/>
          </a:prstGeom>
        </p:spPr>
        <p:txBody>
          <a:bodyPr vert="horz" lIns="68580" tIns="34290" rIns="137160" bIns="34290" rtlCol="0">
            <a:normAutofit/>
          </a:bodyPr>
          <a:lstStyle>
            <a:lvl1pPr marL="239994" indent="-239994" algn="l" defTabSz="959979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985" indent="-239994" algn="l" defTabSz="959979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974" indent="-239994" algn="l" defTabSz="959979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963" indent="-239994" algn="l" defTabSz="959979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9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954" indent="-239994" algn="l" defTabSz="959979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9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942" indent="-239994" algn="l" defTabSz="959979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9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933" indent="-239994" algn="l" defTabSz="959979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9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922" indent="-239994" algn="l" defTabSz="959979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9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911" indent="-239994" algn="l" defTabSz="959979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9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accent3"/>
              </a:buClr>
              <a:buFont typeface="Arial" panose="020B0604020202020204" pitchFamily="34" charset="0"/>
              <a:buNone/>
              <a:defRPr/>
            </a:pPr>
            <a:r>
              <a:rPr lang="en-US" altLang="es-ES" dirty="0">
                <a:solidFill>
                  <a:srgbClr val="FF0000"/>
                </a:solidFill>
              </a:rPr>
              <a:t>IN </a:t>
            </a:r>
            <a:r>
              <a:rPr lang="en-US" altLang="es-ES" sz="1651" dirty="0"/>
              <a:t>Es </a:t>
            </a:r>
            <a:r>
              <a:rPr lang="en-US" altLang="es-ES" sz="1651" dirty="0" err="1"/>
              <a:t>el</a:t>
            </a:r>
            <a:r>
              <a:rPr lang="en-US" altLang="es-ES" sz="1651" dirty="0"/>
              <a:t> </a:t>
            </a:r>
            <a:r>
              <a:rPr lang="en-US" altLang="es-ES" sz="1651" dirty="0" err="1"/>
              <a:t>parámetro</a:t>
            </a:r>
            <a:r>
              <a:rPr lang="en-US" altLang="es-ES" sz="1651" dirty="0"/>
              <a:t> </a:t>
            </a:r>
            <a:r>
              <a:rPr lang="en-US" altLang="es-ES" sz="1651" dirty="0" err="1"/>
              <a:t>por</a:t>
            </a:r>
            <a:r>
              <a:rPr lang="en-US" altLang="es-ES" sz="1651" dirty="0"/>
              <a:t> </a:t>
            </a:r>
            <a:r>
              <a:rPr lang="en-US" altLang="es-ES" sz="1651" dirty="0" err="1"/>
              <a:t>defecto</a:t>
            </a:r>
            <a:r>
              <a:rPr lang="en-US" altLang="es-ES" sz="1651" dirty="0"/>
              <a:t>. </a:t>
            </a:r>
            <a:r>
              <a:rPr lang="en-US" altLang="es-ES" sz="1651" dirty="0" err="1"/>
              <a:t>Puede</a:t>
            </a:r>
            <a:r>
              <a:rPr lang="en-US" altLang="es-ES" sz="1651" dirty="0"/>
              <a:t> </a:t>
            </a:r>
            <a:r>
              <a:rPr lang="en-US" altLang="es-ES" sz="1651" dirty="0" err="1"/>
              <a:t>cambiar</a:t>
            </a:r>
            <a:r>
              <a:rPr lang="en-US" altLang="es-ES" sz="1651" dirty="0"/>
              <a:t> </a:t>
            </a:r>
            <a:r>
              <a:rPr lang="en-US" altLang="es-ES" sz="1651" dirty="0" err="1"/>
              <a:t>su</a:t>
            </a:r>
            <a:r>
              <a:rPr lang="en-US" altLang="es-ES" sz="1651" dirty="0"/>
              <a:t> valor </a:t>
            </a:r>
            <a:r>
              <a:rPr lang="en-US" altLang="es-ES" sz="1651" dirty="0" err="1"/>
              <a:t>dentro</a:t>
            </a:r>
            <a:r>
              <a:rPr lang="en-US" altLang="es-ES" sz="1651" dirty="0"/>
              <a:t> de la </a:t>
            </a:r>
            <a:r>
              <a:rPr lang="en-US" altLang="es-ES" sz="1651" dirty="0" err="1"/>
              <a:t>rutina</a:t>
            </a:r>
            <a:r>
              <a:rPr lang="en-US" altLang="es-ES" sz="1651" dirty="0"/>
              <a:t>, </a:t>
            </a:r>
            <a:r>
              <a:rPr lang="en-US" altLang="es-ES" sz="1651" dirty="0" err="1"/>
              <a:t>pero</a:t>
            </a:r>
            <a:r>
              <a:rPr lang="en-US" altLang="es-ES" sz="1651" dirty="0"/>
              <a:t>, </a:t>
            </a:r>
            <a:r>
              <a:rPr lang="en-US" altLang="es-ES" sz="1651" dirty="0" err="1"/>
              <a:t>permanece</a:t>
            </a:r>
            <a:r>
              <a:rPr lang="en-US" altLang="es-ES" sz="1651" dirty="0"/>
              <a:t> inalterable </a:t>
            </a:r>
            <a:r>
              <a:rPr lang="en-US" altLang="es-ES" sz="1651" dirty="0" err="1"/>
              <a:t>su</a:t>
            </a:r>
            <a:r>
              <a:rPr lang="en-US" altLang="es-ES" sz="1651" dirty="0"/>
              <a:t> valor </a:t>
            </a:r>
            <a:r>
              <a:rPr lang="en-US" altLang="es-ES" sz="1651" dirty="0" err="1"/>
              <a:t>externo</a:t>
            </a:r>
            <a:r>
              <a:rPr lang="en-US" altLang="es-ES" sz="1651" dirty="0"/>
              <a:t>.</a:t>
            </a:r>
          </a:p>
          <a:p>
            <a:pPr marL="0" indent="0">
              <a:buClr>
                <a:schemeClr val="accent3"/>
              </a:buClr>
              <a:buFont typeface="Arial" panose="020B0604020202020204" pitchFamily="34" charset="0"/>
              <a:buNone/>
              <a:defRPr/>
            </a:pPr>
            <a:r>
              <a:rPr lang="en-US" altLang="es-ES" dirty="0">
                <a:solidFill>
                  <a:srgbClr val="FF0000"/>
                </a:solidFill>
              </a:rPr>
              <a:t>OUT </a:t>
            </a:r>
            <a:r>
              <a:rPr lang="en-US" altLang="es-ES" sz="1651" dirty="0"/>
              <a:t>En </a:t>
            </a:r>
            <a:r>
              <a:rPr lang="en-US" altLang="es-ES" sz="1651" dirty="0" err="1"/>
              <a:t>el</a:t>
            </a:r>
            <a:r>
              <a:rPr lang="en-US" altLang="es-ES" sz="1651" dirty="0"/>
              <a:t> </a:t>
            </a:r>
            <a:r>
              <a:rPr lang="en-US" altLang="es-ES" sz="1651" dirty="0" err="1"/>
              <a:t>momento</a:t>
            </a:r>
            <a:r>
              <a:rPr lang="en-US" altLang="es-ES" sz="1651" dirty="0"/>
              <a:t> de la </a:t>
            </a:r>
            <a:r>
              <a:rPr lang="en-US" altLang="es-ES" sz="1651" dirty="0" err="1"/>
              <a:t>llamada</a:t>
            </a:r>
            <a:r>
              <a:rPr lang="en-US" altLang="es-ES" sz="1651" dirty="0"/>
              <a:t>, </a:t>
            </a:r>
            <a:r>
              <a:rPr lang="en-US" altLang="es-ES" sz="1651" dirty="0" err="1"/>
              <a:t>su</a:t>
            </a:r>
            <a:r>
              <a:rPr lang="en-US" altLang="es-ES" sz="1651" dirty="0"/>
              <a:t> valor es NULL, </a:t>
            </a:r>
            <a:r>
              <a:rPr lang="en-US" altLang="es-ES" sz="1651" dirty="0" err="1"/>
              <a:t>pero</a:t>
            </a:r>
            <a:r>
              <a:rPr lang="en-US" altLang="es-ES" sz="1651" dirty="0"/>
              <a:t>, </a:t>
            </a:r>
            <a:r>
              <a:rPr lang="en-US" altLang="es-ES" sz="1651" dirty="0" err="1"/>
              <a:t>puede</a:t>
            </a:r>
            <a:r>
              <a:rPr lang="en-US" altLang="es-ES" sz="1651" dirty="0"/>
              <a:t> ser </a:t>
            </a:r>
            <a:r>
              <a:rPr lang="en-US" altLang="es-ES" sz="1651" dirty="0" err="1"/>
              <a:t>modificado</a:t>
            </a:r>
            <a:r>
              <a:rPr lang="en-US" altLang="es-ES" sz="1651" dirty="0"/>
              <a:t> </a:t>
            </a:r>
            <a:r>
              <a:rPr lang="en-US" altLang="es-ES" sz="1651" dirty="0" err="1"/>
              <a:t>dentro</a:t>
            </a:r>
            <a:r>
              <a:rPr lang="en-US" altLang="es-ES" sz="1651" dirty="0"/>
              <a:t> de la </a:t>
            </a:r>
            <a:r>
              <a:rPr lang="en-US" altLang="es-ES" sz="1651" dirty="0" err="1"/>
              <a:t>rutina</a:t>
            </a:r>
            <a:r>
              <a:rPr lang="en-US" altLang="es-ES" sz="1651" dirty="0"/>
              <a:t> y </a:t>
            </a:r>
            <a:r>
              <a:rPr lang="en-US" altLang="es-ES" sz="1651" dirty="0" err="1"/>
              <a:t>dicho</a:t>
            </a:r>
            <a:r>
              <a:rPr lang="en-US" altLang="es-ES" sz="1651" dirty="0"/>
              <a:t> valor </a:t>
            </a:r>
            <a:r>
              <a:rPr lang="en-US" altLang="es-ES" sz="1651" dirty="0" err="1"/>
              <a:t>estará</a:t>
            </a:r>
            <a:r>
              <a:rPr lang="en-US" altLang="es-ES" sz="1651" dirty="0"/>
              <a:t> disponible </a:t>
            </a:r>
            <a:r>
              <a:rPr lang="en-US" altLang="es-ES" sz="1651" dirty="0" err="1"/>
              <a:t>en</a:t>
            </a:r>
            <a:r>
              <a:rPr lang="en-US" altLang="es-ES" sz="1651" dirty="0"/>
              <a:t> </a:t>
            </a:r>
            <a:r>
              <a:rPr lang="en-US" altLang="es-ES" sz="1651" dirty="0" err="1"/>
              <a:t>el</a:t>
            </a:r>
            <a:r>
              <a:rPr lang="en-US" altLang="es-ES" sz="1651" dirty="0"/>
              <a:t> exterior de la </a:t>
            </a:r>
            <a:r>
              <a:rPr lang="en-US" altLang="es-ES" sz="1651" dirty="0" err="1"/>
              <a:t>rutina</a:t>
            </a:r>
            <a:r>
              <a:rPr lang="en-US" altLang="es-ES" sz="1651" dirty="0"/>
              <a:t>.</a:t>
            </a:r>
          </a:p>
          <a:p>
            <a:pPr marL="0" indent="0">
              <a:buClr>
                <a:schemeClr val="accent3"/>
              </a:buClr>
              <a:buFont typeface="Arial" panose="020B0604020202020204" pitchFamily="34" charset="0"/>
              <a:buNone/>
              <a:defRPr/>
            </a:pPr>
            <a:r>
              <a:rPr lang="en-US" altLang="es-ES" dirty="0">
                <a:solidFill>
                  <a:srgbClr val="FF0000"/>
                </a:solidFill>
              </a:rPr>
              <a:t>INOUT </a:t>
            </a:r>
            <a:r>
              <a:rPr lang="en-US" altLang="es-ES" sz="1651" dirty="0"/>
              <a:t>Se </a:t>
            </a:r>
            <a:r>
              <a:rPr lang="en-US" altLang="es-ES" sz="1651" dirty="0" err="1"/>
              <a:t>comporta</a:t>
            </a:r>
            <a:r>
              <a:rPr lang="en-US" altLang="es-ES" sz="1651" dirty="0"/>
              <a:t> </a:t>
            </a:r>
            <a:r>
              <a:rPr lang="en-US" altLang="es-ES" sz="1651" dirty="0" err="1"/>
              <a:t>como</a:t>
            </a:r>
            <a:r>
              <a:rPr lang="en-US" altLang="es-ES" sz="1651" dirty="0"/>
              <a:t> </a:t>
            </a:r>
            <a:r>
              <a:rPr lang="en-US" altLang="es-ES" sz="1651" dirty="0" err="1"/>
              <a:t>una</a:t>
            </a:r>
            <a:r>
              <a:rPr lang="en-US" altLang="es-ES" sz="1651" dirty="0"/>
              <a:t> </a:t>
            </a:r>
            <a:r>
              <a:rPr lang="en-US" altLang="es-ES" sz="1651" dirty="0" err="1"/>
              <a:t>combinación</a:t>
            </a:r>
            <a:r>
              <a:rPr lang="en-US" altLang="es-ES" sz="1651" dirty="0"/>
              <a:t> de </a:t>
            </a:r>
            <a:r>
              <a:rPr lang="en-US" altLang="es-ES" sz="1651" dirty="0" err="1"/>
              <a:t>los</a:t>
            </a:r>
            <a:r>
              <a:rPr lang="en-US" altLang="es-ES" sz="1651" dirty="0"/>
              <a:t> 2 </a:t>
            </a:r>
            <a:r>
              <a:rPr lang="en-US" altLang="es-ES" sz="1651" dirty="0" err="1"/>
              <a:t>anteriores</a:t>
            </a:r>
            <a:r>
              <a:rPr lang="en-US" altLang="es-ES" sz="1651" dirty="0"/>
              <a:t>. Se le </a:t>
            </a:r>
            <a:r>
              <a:rPr lang="en-US" altLang="es-ES" sz="1651" dirty="0" err="1"/>
              <a:t>puede</a:t>
            </a:r>
            <a:r>
              <a:rPr lang="en-US" altLang="es-ES" sz="1651" dirty="0"/>
              <a:t> </a:t>
            </a:r>
            <a:r>
              <a:rPr lang="en-US" altLang="es-ES" sz="1651" dirty="0" err="1"/>
              <a:t>asignar</a:t>
            </a:r>
            <a:r>
              <a:rPr lang="en-US" altLang="es-ES" sz="1651" dirty="0"/>
              <a:t> un valor </a:t>
            </a:r>
            <a:r>
              <a:rPr lang="en-US" altLang="es-ES" sz="1651" dirty="0" err="1"/>
              <a:t>en</a:t>
            </a:r>
            <a:r>
              <a:rPr lang="en-US" altLang="es-ES" sz="1651" dirty="0"/>
              <a:t> la </a:t>
            </a:r>
            <a:r>
              <a:rPr lang="en-US" altLang="es-ES" sz="1651" dirty="0" err="1"/>
              <a:t>llamada</a:t>
            </a:r>
            <a:r>
              <a:rPr lang="en-US" altLang="es-ES" sz="1651" dirty="0"/>
              <a:t>, que </a:t>
            </a:r>
            <a:r>
              <a:rPr lang="en-US" altLang="es-ES" sz="1651" dirty="0" err="1"/>
              <a:t>puede</a:t>
            </a:r>
            <a:r>
              <a:rPr lang="en-US" altLang="es-ES" sz="1651" dirty="0"/>
              <a:t> ser </a:t>
            </a:r>
            <a:r>
              <a:rPr lang="en-US" altLang="es-ES" sz="1651" dirty="0" err="1"/>
              <a:t>modificado</a:t>
            </a:r>
            <a:r>
              <a:rPr lang="en-US" altLang="es-ES" sz="1651" dirty="0"/>
              <a:t> </a:t>
            </a:r>
            <a:r>
              <a:rPr lang="en-US" altLang="es-ES" sz="1651" dirty="0" err="1"/>
              <a:t>en</a:t>
            </a:r>
            <a:r>
              <a:rPr lang="en-US" altLang="es-ES" sz="1651" dirty="0"/>
              <a:t> </a:t>
            </a:r>
            <a:r>
              <a:rPr lang="en-US" altLang="es-ES" sz="1651" dirty="0" err="1"/>
              <a:t>el</a:t>
            </a:r>
            <a:r>
              <a:rPr lang="en-US" altLang="es-ES" sz="1651" dirty="0"/>
              <a:t> interior y </a:t>
            </a:r>
            <a:r>
              <a:rPr lang="en-US" altLang="es-ES" sz="1651" dirty="0" err="1"/>
              <a:t>estar</a:t>
            </a:r>
            <a:r>
              <a:rPr lang="en-US" altLang="es-ES" sz="1651" dirty="0"/>
              <a:t> disponible </a:t>
            </a:r>
            <a:r>
              <a:rPr lang="en-US" altLang="es-ES" sz="1651" dirty="0" err="1"/>
              <a:t>en</a:t>
            </a:r>
            <a:r>
              <a:rPr lang="en-US" altLang="es-ES" sz="1651" dirty="0"/>
              <a:t> </a:t>
            </a:r>
            <a:r>
              <a:rPr lang="en-US" altLang="es-ES" sz="1651" dirty="0" err="1"/>
              <a:t>el</a:t>
            </a:r>
            <a:r>
              <a:rPr lang="en-US" altLang="es-ES" sz="1651" dirty="0"/>
              <a:t> exterior.</a:t>
            </a:r>
          </a:p>
        </p:txBody>
      </p:sp>
    </p:spTree>
    <p:extLst>
      <p:ext uri="{BB962C8B-B14F-4D97-AF65-F5344CB8AC3E}">
        <p14:creationId xmlns:p14="http://schemas.microsoft.com/office/powerpoint/2010/main" val="904830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"/>
          <p:cNvSpPr>
            <a:spLocks noGrp="1" noChangeArrowheads="1"/>
          </p:cNvSpPr>
          <p:nvPr>
            <p:ph type="title"/>
          </p:nvPr>
        </p:nvSpPr>
        <p:spPr/>
        <p:txBody>
          <a:bodyPr vert="horz" lIns="68580" tIns="34290" rIns="60959" bIns="34290" rtlCol="0" anchor="ctr">
            <a:normAutofit/>
          </a:bodyPr>
          <a:lstStyle/>
          <a:p>
            <a:pPr algn="ctr" eaLnBrk="1" hangingPunct="1"/>
            <a:r>
              <a:rPr lang="en-US" altLang="es-ES" dirty="0" err="1">
                <a:solidFill>
                  <a:srgbClr val="00B050"/>
                </a:solidFill>
              </a:rPr>
              <a:t>Procedimientos</a:t>
            </a:r>
            <a:r>
              <a:rPr lang="en-US" altLang="es-ES" dirty="0">
                <a:solidFill>
                  <a:srgbClr val="00B050"/>
                </a:solidFill>
              </a:rPr>
              <a:t> </a:t>
            </a:r>
            <a:r>
              <a:rPr lang="en-US" altLang="es-ES" dirty="0" err="1">
                <a:solidFill>
                  <a:srgbClr val="00B050"/>
                </a:solidFill>
              </a:rPr>
              <a:t>Almacenados</a:t>
            </a:r>
            <a:endParaRPr lang="en-US" altLang="es-ES" dirty="0">
              <a:solidFill>
                <a:srgbClr val="00B050"/>
              </a:solidFill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idx="1"/>
          </p:nvPr>
        </p:nvSpPr>
        <p:spPr/>
        <p:txBody>
          <a:bodyPr vert="horz" lIns="68580" tIns="34290" rIns="137160" bIns="34290" rtlCol="0">
            <a:normAutofit/>
          </a:bodyPr>
          <a:lstStyle/>
          <a:p>
            <a:pPr eaLnBrk="1" hangingPunct="1"/>
            <a:r>
              <a:rPr lang="en-US" altLang="es-ES"/>
              <a:t>Aunque no tenga parámetros, hay que finalizar la definición de la cabecera con ().</a:t>
            </a:r>
          </a:p>
          <a:p>
            <a:pPr eaLnBrk="1" hangingPunct="1"/>
            <a:r>
              <a:rPr lang="en-US" altLang="es-ES"/>
              <a:t>No obstante, un SP sin parámetros, puede ser invocado sin utilizar los paréntesis.</a:t>
            </a:r>
          </a:p>
          <a:p>
            <a:pPr eaLnBrk="1" hangingPunct="1"/>
            <a:r>
              <a:rPr lang="en-US" altLang="es-ES"/>
              <a:t>Se le invoca utilizando el comando </a:t>
            </a:r>
            <a:r>
              <a:rPr lang="en-US" altLang="es-ES">
                <a:solidFill>
                  <a:srgbClr val="FF0000"/>
                </a:solidFill>
              </a:rPr>
              <a:t>CALL</a:t>
            </a:r>
            <a:r>
              <a:rPr lang="en-US" altLang="es-ES"/>
              <a:t>.</a:t>
            </a:r>
          </a:p>
          <a:p>
            <a:pPr eaLnBrk="1" hangingPunct="1"/>
            <a:r>
              <a:rPr lang="en-US" altLang="es-ES"/>
              <a:t>Un SP puede mostrar resultados o devolver los resultados en las variables OUTPUT especificadas.</a:t>
            </a:r>
          </a:p>
        </p:txBody>
      </p:sp>
    </p:spTree>
    <p:extLst>
      <p:ext uri="{BB962C8B-B14F-4D97-AF65-F5344CB8AC3E}">
        <p14:creationId xmlns:p14="http://schemas.microsoft.com/office/powerpoint/2010/main" val="422279950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4273" y="1495989"/>
            <a:ext cx="7952318" cy="560618"/>
          </a:xfrm>
        </p:spPr>
        <p:txBody>
          <a:bodyPr>
            <a:normAutofit fontScale="90000"/>
          </a:bodyPr>
          <a:lstStyle/>
          <a:p>
            <a:r>
              <a:rPr lang="es-AR" sz="2400" dirty="0">
                <a:solidFill>
                  <a:srgbClr val="00B050"/>
                </a:solidFill>
              </a:rPr>
              <a:t>Sintaxis</a:t>
            </a:r>
            <a:r>
              <a:rPr lang="es-AR" dirty="0">
                <a:solidFill>
                  <a:srgbClr val="00B050"/>
                </a:solidFill>
              </a:rPr>
              <a:t> de un procedimiento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77342" y="1977478"/>
            <a:ext cx="8039251" cy="404446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AR" i="1" dirty="0"/>
              <a:t>CREATE PROCEDURE </a:t>
            </a:r>
            <a:r>
              <a:rPr lang="es-AR" i="1" dirty="0" err="1"/>
              <a:t>nombre_procedimiento</a:t>
            </a:r>
            <a:r>
              <a:rPr lang="es-AR" i="1" dirty="0"/>
              <a:t> ( </a:t>
            </a:r>
            <a:r>
              <a:rPr lang="es-AR" i="1" dirty="0" err="1"/>
              <a:t>parametros</a:t>
            </a:r>
            <a:r>
              <a:rPr lang="es-AR" i="1" dirty="0"/>
              <a:t>)</a:t>
            </a:r>
          </a:p>
          <a:p>
            <a:pPr marL="0" indent="0">
              <a:buNone/>
            </a:pPr>
            <a:r>
              <a:rPr lang="es-AR" i="1" dirty="0"/>
              <a:t>	BEGIN</a:t>
            </a:r>
          </a:p>
          <a:p>
            <a:pPr marL="0" indent="0">
              <a:buNone/>
            </a:pPr>
            <a:r>
              <a:rPr lang="es-AR" i="1" dirty="0"/>
              <a:t>		Instrucciones</a:t>
            </a:r>
          </a:p>
          <a:p>
            <a:pPr marL="0" indent="0">
              <a:buNone/>
            </a:pPr>
            <a:r>
              <a:rPr lang="es-AR" i="1" dirty="0"/>
              <a:t>	END</a:t>
            </a:r>
          </a:p>
          <a:p>
            <a:pPr marL="0" indent="0">
              <a:buNone/>
            </a:pPr>
            <a:r>
              <a:rPr lang="es-AR" sz="2702" dirty="0">
                <a:solidFill>
                  <a:srgbClr val="00B050"/>
                </a:solidFill>
                <a:latin typeface="+mj-lt"/>
                <a:ea typeface="+mj-ea"/>
                <a:cs typeface="+mj-cs"/>
              </a:rPr>
              <a:t>Llamada a un procedimiento</a:t>
            </a:r>
          </a:p>
          <a:p>
            <a:pPr marL="300074" lvl="1" indent="0">
              <a:buNone/>
            </a:pPr>
            <a:r>
              <a:rPr lang="es-AR" i="1" dirty="0" err="1">
                <a:solidFill>
                  <a:srgbClr val="0070C0"/>
                </a:solidFill>
              </a:rPr>
              <a:t>Call</a:t>
            </a:r>
            <a:r>
              <a:rPr lang="es-AR" i="1" dirty="0"/>
              <a:t> </a:t>
            </a:r>
            <a:r>
              <a:rPr lang="es-AR" i="1" dirty="0" err="1">
                <a:solidFill>
                  <a:srgbClr val="FF0000"/>
                </a:solidFill>
              </a:rPr>
              <a:t>nombre_proc</a:t>
            </a:r>
            <a:r>
              <a:rPr lang="es-AR" i="1" dirty="0"/>
              <a:t>(</a:t>
            </a:r>
            <a:r>
              <a:rPr lang="es-AR" i="1" dirty="0" err="1"/>
              <a:t>parametros</a:t>
            </a:r>
            <a:r>
              <a:rPr lang="es-AR" i="1" dirty="0"/>
              <a:t>)</a:t>
            </a:r>
          </a:p>
          <a:p>
            <a:pPr marL="0" indent="0">
              <a:buNone/>
            </a:pPr>
            <a:r>
              <a:rPr lang="es-A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Parámetros </a:t>
            </a:r>
          </a:p>
          <a:p>
            <a:pPr marL="0" indent="0" algn="just">
              <a:buNone/>
            </a:pPr>
            <a:r>
              <a:rPr lang="es-AR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Parámetros IN: </a:t>
            </a:r>
            <a:r>
              <a:rPr lang="es-AR" sz="1800" dirty="0"/>
              <a:t>son la entrada a las funciones y procedimientos</a:t>
            </a:r>
            <a:endParaRPr lang="es-AR" sz="18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r>
              <a:rPr lang="es-AR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Parámetros OUT: </a:t>
            </a:r>
            <a:r>
              <a:rPr lang="es-AR" sz="1800" dirty="0"/>
              <a:t>permite comunicar valores al bloque de programa que invocó al subprograma</a:t>
            </a:r>
            <a:endParaRPr lang="es-AR" sz="18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72088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"/>
          <p:cNvSpPr>
            <a:spLocks noGrp="1" noChangeArrowheads="1"/>
          </p:cNvSpPr>
          <p:nvPr>
            <p:ph type="title"/>
          </p:nvPr>
        </p:nvSpPr>
        <p:spPr>
          <a:xfrm>
            <a:off x="806507" y="1292091"/>
            <a:ext cx="7886700" cy="994172"/>
          </a:xfrm>
        </p:spPr>
        <p:txBody>
          <a:bodyPr vert="horz" lIns="68580" tIns="34290" rIns="60959" bIns="34290" rtlCol="0" anchor="ctr">
            <a:normAutofit/>
          </a:bodyPr>
          <a:lstStyle/>
          <a:p>
            <a:pPr algn="ctr" eaLnBrk="1" hangingPunct="1"/>
            <a:r>
              <a:rPr lang="en-US" altLang="es-ES" dirty="0" err="1">
                <a:solidFill>
                  <a:srgbClr val="00B050"/>
                </a:solidFill>
              </a:rPr>
              <a:t>Procedimientos</a:t>
            </a:r>
            <a:r>
              <a:rPr lang="en-US" altLang="es-ES" dirty="0">
                <a:solidFill>
                  <a:srgbClr val="00B050"/>
                </a:solidFill>
              </a:rPr>
              <a:t> </a:t>
            </a:r>
            <a:r>
              <a:rPr lang="en-US" altLang="es-ES" dirty="0" err="1">
                <a:solidFill>
                  <a:srgbClr val="00B050"/>
                </a:solidFill>
              </a:rPr>
              <a:t>Almacenados</a:t>
            </a:r>
            <a:endParaRPr lang="en-US" altLang="es-ES" dirty="0">
              <a:solidFill>
                <a:srgbClr val="00B050"/>
              </a:solidFill>
            </a:endParaRPr>
          </a:p>
        </p:txBody>
      </p:sp>
      <p:sp>
        <p:nvSpPr>
          <p:cNvPr id="25603" name="Rectangle 2"/>
          <p:cNvSpPr>
            <a:spLocks noGrp="1" noChangeArrowheads="1"/>
          </p:cNvSpPr>
          <p:nvPr>
            <p:ph idx="1"/>
          </p:nvPr>
        </p:nvSpPr>
        <p:spPr>
          <a:xfrm>
            <a:off x="1553483" y="2479279"/>
            <a:ext cx="6392751" cy="3292078"/>
          </a:xfrm>
        </p:spPr>
        <p:txBody>
          <a:bodyPr vert="horz" lIns="68580" tIns="34290" rIns="137160" bIns="34290" rtlCol="0">
            <a:normAutofit/>
          </a:bodyPr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s-ES" sz="1800" dirty="0"/>
              <a:t>CREATE PROCEDURE </a:t>
            </a:r>
            <a:r>
              <a:rPr lang="en-US" altLang="es-ES" sz="1800" dirty="0" err="1"/>
              <a:t>mayor_menor</a:t>
            </a:r>
            <a:r>
              <a:rPr lang="en-US" altLang="es-ES" sz="1800" dirty="0"/>
              <a:t> (IN x INT)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s-ES" sz="1800" dirty="0"/>
              <a:t>BEGIN  </a:t>
            </a:r>
          </a:p>
          <a:p>
            <a:pPr lvl="1" eaLnBrk="1" hangingPunct="1">
              <a:buFont typeface="Wingdings 2" panose="05020102010507070707" pitchFamily="18" charset="2"/>
              <a:buNone/>
            </a:pPr>
            <a:r>
              <a:rPr lang="en-US" altLang="es-ES" dirty="0"/>
              <a:t>IF (x &gt; 5) THEN</a:t>
            </a:r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en-US" altLang="es-ES" sz="1800" dirty="0"/>
              <a:t>SELECT CONCAT(x, " </a:t>
            </a:r>
            <a:r>
              <a:rPr lang="en-US" altLang="es-ES" sz="1800" dirty="0" err="1"/>
              <a:t>es</a:t>
            </a:r>
            <a:r>
              <a:rPr lang="en-US" altLang="es-ES" sz="1800" dirty="0"/>
              <a:t> mayor") as </a:t>
            </a:r>
            <a:r>
              <a:rPr lang="en-US" altLang="es-ES" sz="1800" dirty="0" err="1"/>
              <a:t>resp</a:t>
            </a:r>
            <a:r>
              <a:rPr lang="en-US" altLang="es-ES" sz="1800" dirty="0"/>
              <a:t>;</a:t>
            </a:r>
          </a:p>
          <a:p>
            <a:pPr lvl="1" eaLnBrk="1" hangingPunct="1">
              <a:buFont typeface="Wingdings 2" panose="05020102010507070707" pitchFamily="18" charset="2"/>
              <a:buNone/>
            </a:pPr>
            <a:r>
              <a:rPr lang="en-US" altLang="es-ES" dirty="0"/>
              <a:t>ELSE</a:t>
            </a:r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en-US" altLang="es-ES" sz="1800" dirty="0"/>
              <a:t>SELECT CONCAT(x, " </a:t>
            </a:r>
            <a:r>
              <a:rPr lang="en-US" altLang="es-ES" sz="1800" dirty="0" err="1"/>
              <a:t>es</a:t>
            </a:r>
            <a:r>
              <a:rPr lang="en-US" altLang="es-ES" sz="1800" dirty="0"/>
              <a:t> </a:t>
            </a:r>
            <a:r>
              <a:rPr lang="en-US" altLang="es-ES" sz="1800" dirty="0" err="1"/>
              <a:t>menor</a:t>
            </a:r>
            <a:r>
              <a:rPr lang="en-US" altLang="es-ES" sz="1800" dirty="0"/>
              <a:t> ") as </a:t>
            </a:r>
            <a:r>
              <a:rPr lang="en-US" altLang="es-ES" sz="1800" dirty="0" err="1"/>
              <a:t>resp</a:t>
            </a:r>
            <a:r>
              <a:rPr lang="en-US" altLang="es-ES" sz="1800" dirty="0"/>
              <a:t>;</a:t>
            </a:r>
          </a:p>
          <a:p>
            <a:pPr lvl="1" eaLnBrk="1" hangingPunct="1">
              <a:buFont typeface="Wingdings 2" panose="05020102010507070707" pitchFamily="18" charset="2"/>
              <a:buNone/>
            </a:pPr>
            <a:r>
              <a:rPr lang="en-US" altLang="es-ES" dirty="0"/>
              <a:t>END IF;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s-ES" sz="1800" dirty="0"/>
              <a:t>END </a:t>
            </a:r>
          </a:p>
        </p:txBody>
      </p:sp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6/2/2021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03612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53846" y="1563603"/>
            <a:ext cx="6683765" cy="630956"/>
          </a:xfrm>
        </p:spPr>
        <p:txBody>
          <a:bodyPr>
            <a:normAutofit fontScale="90000"/>
          </a:bodyPr>
          <a:lstStyle/>
          <a:p>
            <a:r>
              <a:rPr lang="es-AR" dirty="0">
                <a:solidFill>
                  <a:srgbClr val="00B050"/>
                </a:solidFill>
              </a:rPr>
              <a:t>Parámetros (tipos)</a:t>
            </a:r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8479" y="2680862"/>
            <a:ext cx="6645499" cy="2619455"/>
          </a:xfrm>
          <a:prstGeom prst="rect">
            <a:avLst/>
          </a:prstGeom>
        </p:spPr>
      </p:pic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6/2/2021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537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09717" y="722671"/>
            <a:ext cx="8937522" cy="5899355"/>
          </a:xfrm>
        </p:spPr>
        <p:txBody>
          <a:bodyPr>
            <a:normAutofit fontScale="25000" lnSpcReduction="20000"/>
          </a:bodyPr>
          <a:lstStyle/>
          <a:p>
            <a:r>
              <a:rPr lang="es-AR" sz="4400" b="1" dirty="0"/>
              <a:t>EJEMPLO 1</a:t>
            </a:r>
          </a:p>
          <a:p>
            <a:pPr marL="0" indent="0">
              <a:buNone/>
            </a:pPr>
            <a:r>
              <a:rPr lang="es-AR" sz="4400" b="1" dirty="0"/>
              <a:t>EL PROCEDIMIENTO CUENTA_EMP CUENTA LOS REGISTROS QUE TIENE LA TABLA EMPLEADOS Y ALMACENA EL RESULTADO EN LA VARIABLE VAR1.</a:t>
            </a:r>
          </a:p>
          <a:p>
            <a:pPr marL="0" indent="0">
              <a:buNone/>
            </a:pPr>
            <a:r>
              <a:rPr lang="es-AR" sz="4400" dirty="0"/>
              <a:t>RECUERDE QUE ANTES DE CREAR EL PROCEDIMIENTO HAY QUE UBICARSE EN LA BASE DE DATOS CORRESPONDIENTE. EN ESTE CASO EMPRESA. </a:t>
            </a:r>
          </a:p>
          <a:p>
            <a:pPr marL="0" indent="0">
              <a:buNone/>
            </a:pPr>
            <a:endParaRPr lang="es-AR" dirty="0"/>
          </a:p>
          <a:p>
            <a:pPr marL="0" indent="0">
              <a:buNone/>
            </a:pPr>
            <a:r>
              <a:rPr lang="es-AR" sz="6400" dirty="0"/>
              <a:t>USE EMPRESA;</a:t>
            </a:r>
          </a:p>
          <a:p>
            <a:pPr marL="0" indent="0">
              <a:buNone/>
            </a:pPr>
            <a:r>
              <a:rPr lang="es-AR" sz="6400" dirty="0"/>
              <a:t>--------------------------CREAMOS EL PROCEDIMIENTO---------------------------------</a:t>
            </a:r>
          </a:p>
          <a:p>
            <a:pPr marL="0" indent="0">
              <a:buNone/>
            </a:pPr>
            <a:r>
              <a:rPr lang="es-AR" sz="6400" dirty="0" err="1"/>
              <a:t>delimiter</a:t>
            </a:r>
            <a:r>
              <a:rPr lang="es-AR" sz="6400" dirty="0"/>
              <a:t> //</a:t>
            </a:r>
          </a:p>
          <a:p>
            <a:pPr marL="0" indent="0">
              <a:buNone/>
            </a:pPr>
            <a:r>
              <a:rPr lang="en-US" sz="6400" dirty="0"/>
              <a:t>create procedure </a:t>
            </a:r>
            <a:r>
              <a:rPr lang="en-US" sz="6400" dirty="0" err="1"/>
              <a:t>cuenta_emp</a:t>
            </a:r>
            <a:r>
              <a:rPr lang="en-US" sz="6400" dirty="0"/>
              <a:t> (out var1 </a:t>
            </a:r>
            <a:r>
              <a:rPr lang="en-US" sz="6400" dirty="0" err="1"/>
              <a:t>int</a:t>
            </a:r>
            <a:r>
              <a:rPr lang="en-US" sz="6400" dirty="0"/>
              <a:t>)</a:t>
            </a:r>
          </a:p>
          <a:p>
            <a:pPr marL="0" indent="0">
              <a:buNone/>
            </a:pPr>
            <a:r>
              <a:rPr lang="es-AR" sz="6400" dirty="0" err="1"/>
              <a:t>begin</a:t>
            </a:r>
            <a:endParaRPr lang="es-AR" sz="6400" dirty="0"/>
          </a:p>
          <a:p>
            <a:pPr marL="0" indent="0">
              <a:buNone/>
            </a:pPr>
            <a:r>
              <a:rPr lang="en-US" sz="6400" dirty="0"/>
              <a:t>select count(*) into var1 from </a:t>
            </a:r>
            <a:r>
              <a:rPr lang="en-US" sz="6400" dirty="0" err="1"/>
              <a:t>empleado</a:t>
            </a:r>
            <a:r>
              <a:rPr lang="en-US" sz="6400" dirty="0"/>
              <a:t>;</a:t>
            </a:r>
          </a:p>
          <a:p>
            <a:pPr marL="0" indent="0">
              <a:buNone/>
            </a:pPr>
            <a:r>
              <a:rPr lang="es-AR" sz="6400" dirty="0" err="1"/>
              <a:t>end</a:t>
            </a:r>
            <a:endParaRPr lang="es-AR" sz="6400" dirty="0"/>
          </a:p>
          <a:p>
            <a:pPr marL="0" indent="0">
              <a:buNone/>
            </a:pPr>
            <a:r>
              <a:rPr lang="es-AR" sz="6400" dirty="0"/>
              <a:t>//</a:t>
            </a:r>
          </a:p>
          <a:p>
            <a:pPr marL="0" indent="0">
              <a:buNone/>
            </a:pPr>
            <a:r>
              <a:rPr lang="es-AR" sz="6400" dirty="0" err="1"/>
              <a:t>delimiter</a:t>
            </a:r>
            <a:r>
              <a:rPr lang="es-AR" sz="6400" dirty="0"/>
              <a:t> ;</a:t>
            </a:r>
          </a:p>
          <a:p>
            <a:pPr marL="0" indent="0">
              <a:buNone/>
            </a:pPr>
            <a:r>
              <a:rPr lang="es-AR" sz="6400" dirty="0"/>
              <a:t>------------------------------LLAMAMOS EL PROCEDIMIENTO----------------------------</a:t>
            </a:r>
          </a:p>
          <a:p>
            <a:pPr marL="0" indent="0">
              <a:buNone/>
            </a:pPr>
            <a:r>
              <a:rPr lang="es-AR" sz="6400" dirty="0" err="1"/>
              <a:t>call</a:t>
            </a:r>
            <a:r>
              <a:rPr lang="es-AR" sz="6400" dirty="0"/>
              <a:t> </a:t>
            </a:r>
            <a:r>
              <a:rPr lang="es-AR" sz="6400" dirty="0" err="1"/>
              <a:t>cuenta_emp</a:t>
            </a:r>
            <a:r>
              <a:rPr lang="es-AR" sz="6400" dirty="0"/>
              <a:t>(@var1);</a:t>
            </a:r>
          </a:p>
          <a:p>
            <a:pPr marL="0" indent="0">
              <a:buNone/>
            </a:pPr>
            <a:r>
              <a:rPr lang="es-AR" sz="6400" dirty="0" err="1"/>
              <a:t>Tambien</a:t>
            </a:r>
            <a:r>
              <a:rPr lang="es-AR" sz="6400" dirty="0"/>
              <a:t> puede utilizar otros nombres de variable cuando llama el procedimiento. Recuerde que en esta se almacena el</a:t>
            </a:r>
          </a:p>
          <a:p>
            <a:pPr marL="0" indent="0">
              <a:buNone/>
            </a:pPr>
            <a:r>
              <a:rPr lang="es-AR" sz="6400" dirty="0"/>
              <a:t>resultado del procedimiento.</a:t>
            </a:r>
          </a:p>
          <a:p>
            <a:pPr marL="0" indent="0">
              <a:buNone/>
            </a:pPr>
            <a:r>
              <a:rPr lang="es-AR" sz="6400" dirty="0" err="1"/>
              <a:t>Call</a:t>
            </a:r>
            <a:r>
              <a:rPr lang="es-AR" sz="6400" dirty="0"/>
              <a:t> </a:t>
            </a:r>
            <a:r>
              <a:rPr lang="es-AR" sz="6400" dirty="0" err="1"/>
              <a:t>cuenta_emp</a:t>
            </a:r>
            <a:r>
              <a:rPr lang="es-AR" sz="6400" dirty="0"/>
              <a:t>(@contar);</a:t>
            </a:r>
          </a:p>
        </p:txBody>
      </p:sp>
    </p:spTree>
    <p:extLst>
      <p:ext uri="{BB962C8B-B14F-4D97-AF65-F5344CB8AC3E}">
        <p14:creationId xmlns:p14="http://schemas.microsoft.com/office/powerpoint/2010/main" val="387204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7568" y="1300470"/>
            <a:ext cx="8329025" cy="416085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AR" dirty="0"/>
              <a:t>--------------------------</a:t>
            </a:r>
            <a:r>
              <a:rPr lang="es-AR" dirty="0">
                <a:solidFill>
                  <a:srgbClr val="0070C0"/>
                </a:solidFill>
              </a:rPr>
              <a:t>VER EL CONTENIDO DE LA VARIABLE-</a:t>
            </a:r>
            <a:r>
              <a:rPr lang="es-AR" dirty="0"/>
              <a:t>-------------------------</a:t>
            </a:r>
          </a:p>
          <a:p>
            <a:pPr marL="0" indent="0">
              <a:buNone/>
            </a:pPr>
            <a:r>
              <a:rPr lang="es-AR" dirty="0" err="1"/>
              <a:t>select</a:t>
            </a:r>
            <a:r>
              <a:rPr lang="es-AR" dirty="0"/>
              <a:t> @var1;</a:t>
            </a:r>
          </a:p>
          <a:p>
            <a:pPr marL="0" indent="0">
              <a:buNone/>
            </a:pPr>
            <a:r>
              <a:rPr lang="es-AR" dirty="0"/>
              <a:t>o si utilizo la variable contar:</a:t>
            </a:r>
          </a:p>
          <a:p>
            <a:pPr marL="0" indent="0">
              <a:buNone/>
            </a:pPr>
            <a:r>
              <a:rPr lang="es-AR" dirty="0" err="1"/>
              <a:t>select</a:t>
            </a:r>
            <a:r>
              <a:rPr lang="es-AR" dirty="0"/>
              <a:t> @contar;</a:t>
            </a:r>
          </a:p>
          <a:p>
            <a:pPr marL="0" indent="0">
              <a:buNone/>
            </a:pPr>
            <a:r>
              <a:rPr lang="es-AR" dirty="0"/>
              <a:t>-------------------------------</a:t>
            </a:r>
            <a:r>
              <a:rPr lang="es-AR" dirty="0">
                <a:solidFill>
                  <a:srgbClr val="0070C0"/>
                </a:solidFill>
              </a:rPr>
              <a:t>USAR EL PROCEDIMIENTO-</a:t>
            </a:r>
            <a:r>
              <a:rPr lang="es-AR" dirty="0"/>
              <a:t>------------------------------</a:t>
            </a:r>
          </a:p>
          <a:p>
            <a:pPr marL="0" indent="0" algn="just">
              <a:buNone/>
            </a:pPr>
            <a:r>
              <a:rPr lang="es-AR" dirty="0"/>
              <a:t>Si vamos a hacer una consulta que nos muestre el promedio del salario de los empleados teniendo en cuenta el procedimiento </a:t>
            </a:r>
            <a:r>
              <a:rPr lang="es-AR" dirty="0" err="1"/>
              <a:t>cuenta_emp</a:t>
            </a:r>
            <a:r>
              <a:rPr lang="es-AR" dirty="0"/>
              <a:t> que nos proporciona la cantidad total de empleados almacenado en la variable var1:</a:t>
            </a:r>
          </a:p>
          <a:p>
            <a:pPr marL="0" indent="0">
              <a:buNone/>
            </a:pPr>
            <a:r>
              <a:rPr lang="es-AR" dirty="0" err="1"/>
              <a:t>Select</a:t>
            </a:r>
            <a:r>
              <a:rPr lang="es-AR" dirty="0"/>
              <a:t> sum(salario)/@var1 “PROMEDIO” </a:t>
            </a:r>
            <a:r>
              <a:rPr lang="es-AR" dirty="0" err="1"/>
              <a:t>from</a:t>
            </a:r>
            <a:r>
              <a:rPr lang="es-AR" dirty="0"/>
              <a:t> empleado;</a:t>
            </a:r>
          </a:p>
          <a:p>
            <a:pPr marL="0" indent="0">
              <a:buNone/>
            </a:pPr>
            <a:endParaRPr lang="es-AR" dirty="0"/>
          </a:p>
        </p:txBody>
      </p:sp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6/2/2021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4819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contenido 5"/>
          <p:cNvSpPr>
            <a:spLocks noGrp="1"/>
          </p:cNvSpPr>
          <p:nvPr>
            <p:ph idx="1"/>
          </p:nvPr>
        </p:nvSpPr>
        <p:spPr>
          <a:xfrm>
            <a:off x="471656" y="1247093"/>
            <a:ext cx="8760833" cy="4826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AR" sz="2000" dirty="0">
                <a:solidFill>
                  <a:srgbClr val="00B050"/>
                </a:solidFill>
                <a:latin typeface="LiberationMono-Bold"/>
              </a:rPr>
              <a:t>Procedimiento con parámetros de entrada y de salida</a:t>
            </a:r>
          </a:p>
          <a:p>
            <a:pPr marL="0" indent="0">
              <a:buNone/>
            </a:pPr>
            <a:r>
              <a:rPr lang="es-AR" sz="2000" dirty="0">
                <a:solidFill>
                  <a:srgbClr val="0070C0"/>
                </a:solidFill>
                <a:latin typeface="LiberationMono-Bold"/>
              </a:rPr>
              <a:t>DELIMITER</a:t>
            </a:r>
            <a:r>
              <a:rPr lang="es-AR" sz="2000" dirty="0">
                <a:latin typeface="LiberationMono-Bold"/>
              </a:rPr>
              <a:t> //</a:t>
            </a:r>
          </a:p>
          <a:p>
            <a:pPr marL="0" indent="0" algn="just">
              <a:buNone/>
            </a:pPr>
            <a:r>
              <a:rPr lang="es-AR" sz="2000" dirty="0">
                <a:solidFill>
                  <a:srgbClr val="0070C0"/>
                </a:solidFill>
                <a:latin typeface="LiberationMono-Bold"/>
              </a:rPr>
              <a:t>CREATE</a:t>
            </a:r>
            <a:r>
              <a:rPr lang="es-AR" sz="2000" dirty="0">
                <a:latin typeface="LiberationMono-Bold"/>
              </a:rPr>
              <a:t> PROCEDURE </a:t>
            </a:r>
            <a:r>
              <a:rPr lang="es-AR" sz="2000" dirty="0" err="1">
                <a:latin typeface="LiberationMono-Bold"/>
              </a:rPr>
              <a:t>ObtenerNombreApellidoSalida</a:t>
            </a:r>
            <a:r>
              <a:rPr lang="es-AR" sz="2000" dirty="0">
                <a:latin typeface="LiberationMono-Bold"/>
              </a:rPr>
              <a:t>(</a:t>
            </a:r>
            <a:r>
              <a:rPr lang="es-AR" sz="2000" dirty="0" err="1">
                <a:latin typeface="LiberationMono-Bold"/>
              </a:rPr>
              <a:t>idAlumno</a:t>
            </a:r>
            <a:r>
              <a:rPr lang="es-AR" sz="2000" dirty="0">
                <a:latin typeface="LiberationMono-Bold"/>
              </a:rPr>
              <a:t> INT, OUT </a:t>
            </a:r>
            <a:r>
              <a:rPr lang="es-AR" sz="2000" dirty="0" err="1">
                <a:latin typeface="LiberationMono-Bold"/>
              </a:rPr>
              <a:t>nombreApellido</a:t>
            </a:r>
            <a:r>
              <a:rPr lang="es-AR" sz="2000" dirty="0">
                <a:latin typeface="LiberationMono-Bold"/>
              </a:rPr>
              <a:t> VARCHAR(200))</a:t>
            </a:r>
          </a:p>
          <a:p>
            <a:pPr marL="0" indent="0" algn="just">
              <a:buNone/>
            </a:pPr>
            <a:r>
              <a:rPr lang="es-AR" sz="2000" dirty="0">
                <a:solidFill>
                  <a:srgbClr val="0070C0"/>
                </a:solidFill>
                <a:latin typeface="LiberationMono-Bold"/>
              </a:rPr>
              <a:t>BEGIN</a:t>
            </a:r>
          </a:p>
          <a:p>
            <a:pPr marL="0" indent="0" algn="just">
              <a:buNone/>
            </a:pPr>
            <a:r>
              <a:rPr lang="es-AR" sz="2000" dirty="0">
                <a:latin typeface="LiberationMono-Bold"/>
              </a:rPr>
              <a:t>SELECT CONCAT(nombre, ' ', apellido) INTO </a:t>
            </a:r>
            <a:r>
              <a:rPr lang="es-AR" sz="2000" dirty="0" err="1">
                <a:latin typeface="LiberationMono-Bold"/>
              </a:rPr>
              <a:t>nombreApellido</a:t>
            </a:r>
            <a:endParaRPr lang="es-AR" sz="2000" dirty="0">
              <a:latin typeface="LiberationMono-Bold"/>
            </a:endParaRPr>
          </a:p>
          <a:p>
            <a:pPr marL="0" indent="0" algn="just">
              <a:buNone/>
            </a:pPr>
            <a:r>
              <a:rPr lang="es-AR" sz="2000" dirty="0">
                <a:latin typeface="LiberationMono-Bold"/>
              </a:rPr>
              <a:t>FROM estudiantes WHERE id = </a:t>
            </a:r>
            <a:r>
              <a:rPr lang="es-AR" sz="2000" dirty="0" err="1">
                <a:latin typeface="LiberationMono-Bold"/>
              </a:rPr>
              <a:t>idAlumno</a:t>
            </a:r>
            <a:r>
              <a:rPr lang="es-AR" sz="2000" dirty="0">
                <a:latin typeface="LiberationMono-Bold"/>
              </a:rPr>
              <a:t>;</a:t>
            </a:r>
          </a:p>
          <a:p>
            <a:pPr marL="0" indent="0" algn="just">
              <a:buNone/>
            </a:pPr>
            <a:r>
              <a:rPr lang="es-AR" sz="2000" dirty="0">
                <a:latin typeface="LiberationMono-Bold"/>
              </a:rPr>
              <a:t>END //</a:t>
            </a:r>
          </a:p>
          <a:p>
            <a:pPr marL="0" indent="0" algn="just">
              <a:buNone/>
            </a:pPr>
            <a:r>
              <a:rPr lang="es-AR" sz="2000" dirty="0">
                <a:solidFill>
                  <a:srgbClr val="0070C0"/>
                </a:solidFill>
                <a:latin typeface="LiberationMono-Bold"/>
              </a:rPr>
              <a:t>DELIMITER </a:t>
            </a:r>
            <a:r>
              <a:rPr lang="es-AR" sz="2000" dirty="0">
                <a:latin typeface="LiberationMono-Bold"/>
              </a:rPr>
              <a:t>;</a:t>
            </a:r>
          </a:p>
          <a:p>
            <a:pPr marL="0" indent="0" algn="just">
              <a:buNone/>
            </a:pPr>
            <a:r>
              <a:rPr lang="es-AR" sz="2000" dirty="0">
                <a:latin typeface="LinuxLibertineG"/>
              </a:rPr>
              <a:t>Al llamar a este nuevo procedimiento, no es necesario crear la variable @nombre.</a:t>
            </a:r>
          </a:p>
          <a:p>
            <a:pPr marL="0" indent="0" algn="just">
              <a:buNone/>
            </a:pPr>
            <a:r>
              <a:rPr lang="es-AR" sz="2000" dirty="0">
                <a:solidFill>
                  <a:srgbClr val="0070C0"/>
                </a:solidFill>
                <a:latin typeface="LiberationMono-Bold"/>
              </a:rPr>
              <a:t>CALL</a:t>
            </a:r>
            <a:r>
              <a:rPr lang="es-AR" sz="2000" dirty="0">
                <a:latin typeface="LiberationMono-Bold"/>
              </a:rPr>
              <a:t> </a:t>
            </a:r>
            <a:r>
              <a:rPr lang="es-AR" sz="2000" dirty="0" err="1">
                <a:latin typeface="LiberationMono-Bold"/>
              </a:rPr>
              <a:t>ObtenerNombreApellidoSalida</a:t>
            </a:r>
            <a:r>
              <a:rPr lang="es-AR" sz="2000" dirty="0">
                <a:latin typeface="LiberationMono-Bold"/>
              </a:rPr>
              <a:t>(2, @</a:t>
            </a:r>
            <a:r>
              <a:rPr lang="es-AR" sz="2000" dirty="0" err="1">
                <a:latin typeface="LiberationMono-Bold"/>
              </a:rPr>
              <a:t>nombreApellido</a:t>
            </a:r>
            <a:r>
              <a:rPr lang="es-AR" sz="2000" dirty="0">
                <a:latin typeface="LiberationMono-Bold"/>
              </a:rPr>
              <a:t>);</a:t>
            </a:r>
          </a:p>
          <a:p>
            <a:pPr marL="0" indent="0" algn="just">
              <a:buNone/>
            </a:pPr>
            <a:r>
              <a:rPr lang="es-AR" sz="2000" dirty="0">
                <a:solidFill>
                  <a:srgbClr val="0070C0"/>
                </a:solidFill>
                <a:latin typeface="LiberationMono-Bold"/>
              </a:rPr>
              <a:t>SELECT</a:t>
            </a:r>
            <a:r>
              <a:rPr lang="es-AR" sz="2000" dirty="0">
                <a:latin typeface="LiberationMono-Bold"/>
              </a:rPr>
              <a:t> @</a:t>
            </a:r>
            <a:r>
              <a:rPr lang="es-AR" sz="2000" dirty="0" err="1">
                <a:latin typeface="LiberationMono-Bold"/>
              </a:rPr>
              <a:t>nombreApellido</a:t>
            </a:r>
            <a:endParaRPr lang="es-AR" sz="2000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6/2/2021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252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"/>
          <p:cNvSpPr>
            <a:spLocks noGrp="1" noChangeArrowheads="1"/>
          </p:cNvSpPr>
          <p:nvPr>
            <p:ph type="title"/>
          </p:nvPr>
        </p:nvSpPr>
        <p:spPr>
          <a:xfrm>
            <a:off x="668267" y="840657"/>
            <a:ext cx="8383727" cy="550717"/>
          </a:xfrm>
          <a:solidFill>
            <a:srgbClr val="0070C0"/>
          </a:solidFill>
        </p:spPr>
        <p:txBody>
          <a:bodyPr vert="horz" lIns="68580" tIns="34290" rIns="60959" bIns="34290" rtlCol="0" anchor="ctr">
            <a:normAutofit/>
          </a:bodyPr>
          <a:lstStyle/>
          <a:p>
            <a:pPr algn="ctr" eaLnBrk="1" hangingPunct="1"/>
            <a:r>
              <a:rPr lang="en-US" altLang="es-ES" sz="3200" b="1" dirty="0" err="1">
                <a:solidFill>
                  <a:schemeClr val="bg1"/>
                </a:solidFill>
              </a:rPr>
              <a:t>Funciones</a:t>
            </a:r>
            <a:r>
              <a:rPr lang="en-US" altLang="es-ES" sz="3200" b="1" dirty="0">
                <a:solidFill>
                  <a:schemeClr val="bg1"/>
                </a:solidFill>
              </a:rPr>
              <a:t> </a:t>
            </a:r>
            <a:r>
              <a:rPr lang="en-US" altLang="es-ES" sz="3200" b="1" dirty="0" err="1">
                <a:solidFill>
                  <a:schemeClr val="bg1"/>
                </a:solidFill>
              </a:rPr>
              <a:t>Almacenadas</a:t>
            </a:r>
            <a:endParaRPr lang="en-US" altLang="es-ES" sz="3200" b="1" dirty="0">
              <a:solidFill>
                <a:schemeClr val="bg1"/>
              </a:solidFill>
            </a:endParaRPr>
          </a:p>
        </p:txBody>
      </p:sp>
      <p:sp>
        <p:nvSpPr>
          <p:cNvPr id="29699" name="Rectangle 2"/>
          <p:cNvSpPr>
            <a:spLocks noGrp="1" noChangeArrowheads="1"/>
          </p:cNvSpPr>
          <p:nvPr>
            <p:ph idx="1"/>
          </p:nvPr>
        </p:nvSpPr>
        <p:spPr>
          <a:xfrm>
            <a:off x="419756" y="1592826"/>
            <a:ext cx="8915973" cy="4067805"/>
          </a:xfrm>
        </p:spPr>
        <p:txBody>
          <a:bodyPr vert="horz" lIns="68580" tIns="34290" rIns="137160" bIns="34290" rtlCol="0">
            <a:normAutofit lnSpcReduction="10000"/>
          </a:bodyPr>
          <a:lstStyle/>
          <a:p>
            <a:pPr eaLnBrk="1" hangingPunct="1"/>
            <a:endParaRPr lang="en-US" altLang="es-ES" dirty="0"/>
          </a:p>
          <a:p>
            <a:pPr eaLnBrk="1" hangingPunct="1"/>
            <a:r>
              <a:rPr lang="en-US" altLang="es-ES" dirty="0" err="1"/>
              <a:t>Una</a:t>
            </a:r>
            <a:r>
              <a:rPr lang="en-US" altLang="es-ES" dirty="0"/>
              <a:t> SF </a:t>
            </a:r>
            <a:r>
              <a:rPr lang="en-US" altLang="es-ES" dirty="0" err="1"/>
              <a:t>es</a:t>
            </a:r>
            <a:r>
              <a:rPr lang="en-US" altLang="es-ES" dirty="0"/>
              <a:t> </a:t>
            </a:r>
            <a:r>
              <a:rPr lang="en-US" altLang="es-ES" dirty="0" err="1"/>
              <a:t>llamada</a:t>
            </a:r>
            <a:r>
              <a:rPr lang="en-US" altLang="es-ES" dirty="0"/>
              <a:t> </a:t>
            </a:r>
            <a:r>
              <a:rPr lang="en-US" altLang="es-ES" dirty="0" err="1"/>
              <a:t>simplemente</a:t>
            </a:r>
            <a:r>
              <a:rPr lang="en-US" altLang="es-ES" dirty="0"/>
              <a:t> con </a:t>
            </a:r>
            <a:r>
              <a:rPr lang="en-US" altLang="es-ES" dirty="0" err="1"/>
              <a:t>su</a:t>
            </a:r>
            <a:r>
              <a:rPr lang="en-US" altLang="es-ES" dirty="0"/>
              <a:t> </a:t>
            </a:r>
            <a:r>
              <a:rPr lang="en-US" altLang="es-ES" dirty="0" err="1"/>
              <a:t>nombre</a:t>
            </a:r>
            <a:r>
              <a:rPr lang="en-US" altLang="es-ES" dirty="0"/>
              <a:t> </a:t>
            </a:r>
            <a:r>
              <a:rPr lang="en-US" altLang="es-ES" sz="1501" dirty="0"/>
              <a:t>(sin </a:t>
            </a:r>
            <a:r>
              <a:rPr lang="en-US" altLang="es-ES" sz="1501" dirty="0" err="1"/>
              <a:t>usar</a:t>
            </a:r>
            <a:r>
              <a:rPr lang="en-US" altLang="es-ES" sz="1501" dirty="0"/>
              <a:t> CALL)</a:t>
            </a:r>
            <a:r>
              <a:rPr lang="en-US" altLang="es-ES" dirty="0"/>
              <a:t>.</a:t>
            </a:r>
          </a:p>
          <a:p>
            <a:pPr eaLnBrk="1" hangingPunct="1"/>
            <a:r>
              <a:rPr lang="en-US" altLang="es-ES" dirty="0"/>
              <a:t>El </a:t>
            </a:r>
            <a:r>
              <a:rPr lang="en-US" altLang="es-ES" dirty="0" err="1"/>
              <a:t>nombre</a:t>
            </a:r>
            <a:r>
              <a:rPr lang="en-US" altLang="es-ES" dirty="0"/>
              <a:t> de </a:t>
            </a:r>
            <a:r>
              <a:rPr lang="en-US" altLang="es-ES" dirty="0" err="1"/>
              <a:t>una</a:t>
            </a:r>
            <a:r>
              <a:rPr lang="en-US" altLang="es-ES" dirty="0"/>
              <a:t> SF </a:t>
            </a:r>
            <a:r>
              <a:rPr lang="en-US" altLang="es-ES" dirty="0" err="1"/>
              <a:t>debe</a:t>
            </a:r>
            <a:r>
              <a:rPr lang="en-US" altLang="es-ES" dirty="0"/>
              <a:t> </a:t>
            </a:r>
            <a:r>
              <a:rPr lang="en-US" altLang="es-ES" dirty="0" err="1"/>
              <a:t>ser</a:t>
            </a:r>
            <a:r>
              <a:rPr lang="en-US" altLang="es-ES" dirty="0"/>
              <a:t> </a:t>
            </a:r>
            <a:r>
              <a:rPr lang="en-US" altLang="es-ES" dirty="0" err="1"/>
              <a:t>diferente</a:t>
            </a:r>
            <a:r>
              <a:rPr lang="en-US" altLang="es-ES" dirty="0"/>
              <a:t> a la de </a:t>
            </a:r>
            <a:r>
              <a:rPr lang="en-US" altLang="es-ES" dirty="0" err="1"/>
              <a:t>cualquier</a:t>
            </a:r>
            <a:r>
              <a:rPr lang="en-US" altLang="es-ES" dirty="0"/>
              <a:t> </a:t>
            </a:r>
            <a:r>
              <a:rPr lang="en-US" altLang="es-ES" dirty="0" err="1"/>
              <a:t>función</a:t>
            </a:r>
            <a:r>
              <a:rPr lang="en-US" altLang="es-ES" dirty="0"/>
              <a:t> SQL.</a:t>
            </a:r>
          </a:p>
          <a:p>
            <a:pPr algn="just"/>
            <a:r>
              <a:rPr lang="es-AR" dirty="0"/>
              <a:t>La diferencia entre una función y un procedimiento es que la función devuelve valores. Estos valores pueden ser utilizados como argumentos para instrucciones SQL, tal como lo hacemos con otras funciones como: MAX() o COUNT().</a:t>
            </a:r>
            <a:endParaRPr lang="en-US" altLang="es-ES" dirty="0"/>
          </a:p>
          <a:p>
            <a:pPr eaLnBrk="1" hangingPunct="1"/>
            <a:endParaRPr lang="en-US" altLang="es-ES" dirty="0"/>
          </a:p>
          <a:p>
            <a:pPr eaLnBrk="1" hangingPunct="1"/>
            <a:endParaRPr lang="en-US" altLang="es-ES" dirty="0"/>
          </a:p>
          <a:p>
            <a:pPr eaLnBrk="1" hangingPunct="1"/>
            <a:endParaRPr lang="en-US" altLang="es-ES" dirty="0"/>
          </a:p>
        </p:txBody>
      </p:sp>
    </p:spTree>
    <p:extLst>
      <p:ext uri="{BB962C8B-B14F-4D97-AF65-F5344CB8AC3E}">
        <p14:creationId xmlns:p14="http://schemas.microsoft.com/office/powerpoint/2010/main" val="3595545104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0940" y="852598"/>
            <a:ext cx="8272541" cy="334682"/>
          </a:xfrm>
        </p:spPr>
        <p:txBody>
          <a:bodyPr>
            <a:normAutofit fontScale="90000"/>
          </a:bodyPr>
          <a:lstStyle/>
          <a:p>
            <a:r>
              <a:rPr lang="es-AR" sz="210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SINTAXIS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30942" y="1386348"/>
            <a:ext cx="8731045" cy="462568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AR" dirty="0">
                <a:solidFill>
                  <a:srgbClr val="00B050"/>
                </a:solidFill>
              </a:rPr>
              <a:t>CREATE FUNCTION </a:t>
            </a:r>
            <a:r>
              <a:rPr lang="es-AR" dirty="0"/>
              <a:t>nombre (parámetro)</a:t>
            </a:r>
          </a:p>
          <a:p>
            <a:pPr marL="0" indent="0">
              <a:buNone/>
            </a:pPr>
            <a:r>
              <a:rPr lang="es-AR" dirty="0">
                <a:solidFill>
                  <a:srgbClr val="00B050"/>
                </a:solidFill>
              </a:rPr>
              <a:t>RETURNS</a:t>
            </a:r>
            <a:r>
              <a:rPr lang="es-AR" dirty="0"/>
              <a:t> tipo</a:t>
            </a:r>
          </a:p>
          <a:p>
            <a:pPr marL="0" indent="0">
              <a:buNone/>
            </a:pPr>
            <a:r>
              <a:rPr lang="es-AR" dirty="0"/>
              <a:t>definición</a:t>
            </a:r>
          </a:p>
          <a:p>
            <a:pPr marL="0" indent="0">
              <a:buNone/>
            </a:pPr>
            <a:r>
              <a:rPr lang="es-AR" dirty="0"/>
              <a:t>Puede haber más de un parámetro (separados con comas) o ninguno. </a:t>
            </a:r>
          </a:p>
          <a:p>
            <a:pPr marL="0" indent="0">
              <a:buNone/>
            </a:pPr>
            <a:r>
              <a:rPr lang="es-AR" dirty="0"/>
              <a:t>Donde:</a:t>
            </a:r>
          </a:p>
          <a:p>
            <a:pPr algn="just"/>
            <a:r>
              <a:rPr lang="es-AR" dirty="0"/>
              <a:t>nombre: es el nombre del parámetro.</a:t>
            </a:r>
          </a:p>
          <a:p>
            <a:pPr algn="just"/>
            <a:r>
              <a:rPr lang="es-AR" dirty="0"/>
              <a:t>Los parámetros</a:t>
            </a:r>
          </a:p>
          <a:p>
            <a:pPr algn="just"/>
            <a:r>
              <a:rPr lang="es-AR" dirty="0"/>
              <a:t>tienen la siguiente </a:t>
            </a:r>
            <a:r>
              <a:rPr lang="es-AR" dirty="0" err="1"/>
              <a:t>estructura:nombre</a:t>
            </a:r>
            <a:r>
              <a:rPr lang="es-AR" dirty="0"/>
              <a:t> tipo.</a:t>
            </a:r>
          </a:p>
          <a:p>
            <a:pPr algn="just"/>
            <a:r>
              <a:rPr lang="es-AR" dirty="0"/>
              <a:t>tipo: es cualquier tipo de dato de los provistos por </a:t>
            </a:r>
            <a:r>
              <a:rPr lang="es-AR" dirty="0" err="1"/>
              <a:t>MySQL</a:t>
            </a:r>
            <a:r>
              <a:rPr lang="es-AR" dirty="0"/>
              <a:t>.</a:t>
            </a:r>
          </a:p>
          <a:p>
            <a:pPr algn="just"/>
            <a:r>
              <a:rPr lang="es-AR" dirty="0"/>
              <a:t>definición: es el cuerpo del procedimiento y está compuesto por el procedimiento en sí: aquí se define qué hace, cómo lo hace y cuándo lo hace.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6/2/2021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2860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"/>
          <p:cNvSpPr>
            <a:spLocks noGrp="1" noChangeArrowheads="1"/>
          </p:cNvSpPr>
          <p:nvPr>
            <p:ph type="title"/>
          </p:nvPr>
        </p:nvSpPr>
        <p:spPr>
          <a:xfrm>
            <a:off x="427703" y="813061"/>
            <a:ext cx="8893278" cy="413114"/>
          </a:xfrm>
          <a:solidFill>
            <a:srgbClr val="0070C0"/>
          </a:solidFill>
        </p:spPr>
        <p:txBody>
          <a:bodyPr vert="horz" lIns="68580" tIns="34290" rIns="60959" bIns="34290" rtlCol="0" anchor="ctr">
            <a:noAutofit/>
          </a:bodyPr>
          <a:lstStyle/>
          <a:p>
            <a:pPr algn="ctr" eaLnBrk="1" hangingPunct="1"/>
            <a:r>
              <a:rPr lang="en-US" altLang="es-ES" sz="3200" b="1" dirty="0" err="1">
                <a:solidFill>
                  <a:schemeClr val="bg1"/>
                </a:solidFill>
              </a:rPr>
              <a:t>Funciones</a:t>
            </a:r>
            <a:r>
              <a:rPr lang="en-US" altLang="es-ES" sz="3200" b="1" dirty="0">
                <a:solidFill>
                  <a:schemeClr val="bg1"/>
                </a:solidFill>
              </a:rPr>
              <a:t> </a:t>
            </a:r>
            <a:r>
              <a:rPr lang="en-US" altLang="es-ES" sz="3200" b="1" dirty="0" err="1">
                <a:solidFill>
                  <a:schemeClr val="bg1"/>
                </a:solidFill>
              </a:rPr>
              <a:t>Almacenadas</a:t>
            </a:r>
            <a:endParaRPr lang="en-US" altLang="es-ES" sz="3200" b="1" dirty="0">
              <a:solidFill>
                <a:schemeClr val="bg1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idx="1"/>
          </p:nvPr>
        </p:nvSpPr>
        <p:spPr>
          <a:xfrm>
            <a:off x="560439" y="1533832"/>
            <a:ext cx="8760542" cy="3952568"/>
          </a:xfrm>
        </p:spPr>
        <p:txBody>
          <a:bodyPr vert="horz" lIns="68580" tIns="34290" rIns="137160" bIns="34290" rtlCol="0">
            <a:normAutofit/>
          </a:bodyPr>
          <a:lstStyle/>
          <a:p>
            <a:pPr>
              <a:spcBef>
                <a:spcPts val="450"/>
              </a:spcBef>
              <a:spcAft>
                <a:spcPct val="0"/>
              </a:spcAft>
              <a:buNone/>
            </a:pPr>
            <a:r>
              <a:rPr lang="en-US" altLang="es-ES" sz="1501" dirty="0"/>
              <a:t>CREATE FUNCTION  </a:t>
            </a:r>
            <a:r>
              <a:rPr lang="en-US" altLang="es-ES" sz="1501" dirty="0" err="1"/>
              <a:t>es_mayor</a:t>
            </a:r>
            <a:r>
              <a:rPr lang="en-US" altLang="es-ES" sz="1501" dirty="0"/>
              <a:t>(x INT)</a:t>
            </a:r>
          </a:p>
          <a:p>
            <a:pPr>
              <a:spcBef>
                <a:spcPts val="450"/>
              </a:spcBef>
              <a:spcAft>
                <a:spcPct val="0"/>
              </a:spcAft>
              <a:buNone/>
            </a:pPr>
            <a:r>
              <a:rPr lang="en-US" altLang="es-ES" sz="1501" dirty="0">
                <a:solidFill>
                  <a:srgbClr val="FF0000"/>
                </a:solidFill>
              </a:rPr>
              <a:t>RETURNS</a:t>
            </a:r>
            <a:r>
              <a:rPr lang="en-US" altLang="es-ES" sz="1501" dirty="0"/>
              <a:t> CHAR(3)</a:t>
            </a:r>
          </a:p>
          <a:p>
            <a:pPr>
              <a:spcBef>
                <a:spcPts val="450"/>
              </a:spcBef>
              <a:spcAft>
                <a:spcPct val="0"/>
              </a:spcAft>
              <a:buNone/>
            </a:pPr>
            <a:r>
              <a:rPr lang="en-US" altLang="es-ES" sz="1501" dirty="0"/>
              <a:t>BEGIN</a:t>
            </a:r>
          </a:p>
          <a:p>
            <a:pPr>
              <a:spcBef>
                <a:spcPts val="450"/>
              </a:spcBef>
              <a:spcAft>
                <a:spcPct val="0"/>
              </a:spcAft>
              <a:buNone/>
            </a:pPr>
            <a:r>
              <a:rPr lang="en-US" altLang="es-ES" sz="1501" dirty="0"/>
              <a:t>   IF (x &gt; 5) THEN</a:t>
            </a:r>
          </a:p>
          <a:p>
            <a:pPr>
              <a:spcBef>
                <a:spcPts val="450"/>
              </a:spcBef>
              <a:spcAft>
                <a:spcPct val="0"/>
              </a:spcAft>
              <a:buNone/>
            </a:pPr>
            <a:r>
              <a:rPr lang="en-US" altLang="es-ES" sz="1501" dirty="0"/>
              <a:t>      </a:t>
            </a:r>
            <a:r>
              <a:rPr lang="en-US" altLang="es-ES" sz="1501" dirty="0">
                <a:solidFill>
                  <a:srgbClr val="0070C0"/>
                </a:solidFill>
              </a:rPr>
              <a:t>RETURN</a:t>
            </a:r>
            <a:r>
              <a:rPr lang="en-US" altLang="es-ES" sz="1501" dirty="0"/>
              <a:t> ‘S’';</a:t>
            </a:r>
          </a:p>
          <a:p>
            <a:pPr>
              <a:spcBef>
                <a:spcPts val="450"/>
              </a:spcBef>
              <a:spcAft>
                <a:spcPct val="0"/>
              </a:spcAft>
              <a:buNone/>
            </a:pPr>
            <a:r>
              <a:rPr lang="en-US" altLang="es-ES" sz="1501" dirty="0"/>
              <a:t>   ELSE</a:t>
            </a:r>
          </a:p>
          <a:p>
            <a:pPr>
              <a:spcBef>
                <a:spcPts val="450"/>
              </a:spcBef>
              <a:spcAft>
                <a:spcPct val="0"/>
              </a:spcAft>
              <a:buNone/>
            </a:pPr>
            <a:r>
              <a:rPr lang="en-US" altLang="es-ES" sz="1501" dirty="0"/>
              <a:t>      </a:t>
            </a:r>
            <a:r>
              <a:rPr lang="en-US" altLang="es-ES" sz="1501" dirty="0">
                <a:solidFill>
                  <a:srgbClr val="0070C0"/>
                </a:solidFill>
              </a:rPr>
              <a:t>RETURN</a:t>
            </a:r>
            <a:r>
              <a:rPr lang="en-US" altLang="es-ES" sz="1501" dirty="0"/>
              <a:t> ‘NO’;</a:t>
            </a:r>
          </a:p>
          <a:p>
            <a:pPr>
              <a:spcBef>
                <a:spcPts val="450"/>
              </a:spcBef>
              <a:spcAft>
                <a:spcPct val="0"/>
              </a:spcAft>
              <a:buNone/>
            </a:pPr>
            <a:r>
              <a:rPr lang="en-US" altLang="es-ES" sz="1501" dirty="0"/>
              <a:t>   END IF;</a:t>
            </a:r>
          </a:p>
          <a:p>
            <a:pPr>
              <a:spcBef>
                <a:spcPts val="450"/>
              </a:spcBef>
              <a:spcAft>
                <a:spcPct val="0"/>
              </a:spcAft>
              <a:buNone/>
            </a:pPr>
            <a:r>
              <a:rPr lang="en-US" altLang="es-ES" sz="1501" dirty="0"/>
              <a:t>END</a:t>
            </a:r>
          </a:p>
          <a:p>
            <a:pPr>
              <a:spcBef>
                <a:spcPts val="450"/>
              </a:spcBef>
              <a:spcAft>
                <a:spcPct val="0"/>
              </a:spcAft>
              <a:buNone/>
            </a:pPr>
            <a:endParaRPr lang="en-US" altLang="es-ES" sz="1501" dirty="0"/>
          </a:p>
          <a:p>
            <a:r>
              <a:rPr lang="es-AR" sz="1501" dirty="0"/>
              <a:t>Utilizar la cláusula </a:t>
            </a:r>
            <a:r>
              <a:rPr lang="es-AR" sz="1501" dirty="0">
                <a:solidFill>
                  <a:srgbClr val="FF0000"/>
                </a:solidFill>
              </a:rPr>
              <a:t>RETURNS</a:t>
            </a:r>
            <a:r>
              <a:rPr lang="es-AR" sz="1501" dirty="0"/>
              <a:t> es obligatorio al momento de definir una función y sirve para especificar el tipo de dato devuelto (sólo el tipo de dato, no el dato).</a:t>
            </a:r>
            <a:endParaRPr lang="en-US" altLang="es-ES" sz="1501" dirty="0"/>
          </a:p>
        </p:txBody>
      </p:sp>
      <p:sp>
        <p:nvSpPr>
          <p:cNvPr id="6" name="Rectángulo 5"/>
          <p:cNvSpPr/>
          <p:nvPr/>
        </p:nvSpPr>
        <p:spPr>
          <a:xfrm>
            <a:off x="1002184" y="5665481"/>
            <a:ext cx="6127124" cy="514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50" dirty="0">
                <a:latin typeface="CourierNewPS-BoldMT"/>
              </a:rPr>
              <a:t>CREATE FUNCTION </a:t>
            </a:r>
            <a:r>
              <a:rPr lang="en-US" sz="1350" dirty="0" err="1">
                <a:latin typeface="CourierNewPS-BoldMT"/>
              </a:rPr>
              <a:t>cuadrado</a:t>
            </a:r>
            <a:r>
              <a:rPr lang="en-US" sz="1350" dirty="0">
                <a:latin typeface="CourierNewPS-BoldMT"/>
              </a:rPr>
              <a:t> (s SMALLINT) RETURNS SMALLINT</a:t>
            </a:r>
          </a:p>
          <a:p>
            <a:r>
              <a:rPr lang="es-AR" sz="1350" dirty="0">
                <a:latin typeface="CourierNewPS-BoldMT"/>
              </a:rPr>
              <a:t>RETURN s*s;</a:t>
            </a:r>
            <a:endParaRPr lang="es-AR" sz="1350" dirty="0"/>
          </a:p>
        </p:txBody>
      </p:sp>
    </p:spTree>
    <p:extLst>
      <p:ext uri="{BB962C8B-B14F-4D97-AF65-F5344CB8AC3E}">
        <p14:creationId xmlns:p14="http://schemas.microsoft.com/office/powerpoint/2010/main" val="3225297492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6/2/2021</a:t>
            </a:r>
            <a:endParaRPr lang="en-US" dirty="0"/>
          </a:p>
        </p:txBody>
      </p:sp>
      <p:sp>
        <p:nvSpPr>
          <p:cNvPr id="6" name="Rectángulo 5"/>
          <p:cNvSpPr/>
          <p:nvPr/>
        </p:nvSpPr>
        <p:spPr>
          <a:xfrm>
            <a:off x="668269" y="1396008"/>
            <a:ext cx="8446234" cy="4676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101" dirty="0"/>
              <a:t>create function divide(</a:t>
            </a:r>
            <a:r>
              <a:rPr lang="en-US" sz="2101" dirty="0" err="1"/>
              <a:t>dividendo</a:t>
            </a:r>
            <a:r>
              <a:rPr lang="en-US" sz="2101" dirty="0"/>
              <a:t> </a:t>
            </a:r>
            <a:r>
              <a:rPr lang="en-US" sz="2101" dirty="0" err="1"/>
              <a:t>int,divisor</a:t>
            </a:r>
            <a:r>
              <a:rPr lang="en-US" sz="2101" dirty="0"/>
              <a:t> </a:t>
            </a:r>
            <a:r>
              <a:rPr lang="en-US" sz="2101" dirty="0" err="1"/>
              <a:t>int</a:t>
            </a:r>
            <a:r>
              <a:rPr lang="en-US" sz="2101" dirty="0"/>
              <a:t>) returns </a:t>
            </a:r>
            <a:r>
              <a:rPr lang="en-US" sz="2101" dirty="0" err="1"/>
              <a:t>int</a:t>
            </a:r>
            <a:endParaRPr lang="en-US" sz="2101" dirty="0"/>
          </a:p>
          <a:p>
            <a:r>
              <a:rPr lang="es-AR" sz="2101" dirty="0" err="1"/>
              <a:t>begin</a:t>
            </a:r>
            <a:endParaRPr lang="es-AR" sz="2101" dirty="0"/>
          </a:p>
          <a:p>
            <a:r>
              <a:rPr lang="es-AR" sz="2101" dirty="0">
                <a:solidFill>
                  <a:srgbClr val="0070C0"/>
                </a:solidFill>
              </a:rPr>
              <a:t>declare</a:t>
            </a:r>
            <a:r>
              <a:rPr lang="es-AR" sz="2101" dirty="0"/>
              <a:t> </a:t>
            </a:r>
            <a:r>
              <a:rPr lang="es-AR" sz="2101" dirty="0" err="1"/>
              <a:t>aux</a:t>
            </a:r>
            <a:r>
              <a:rPr lang="es-AR" sz="2101" dirty="0"/>
              <a:t> </a:t>
            </a:r>
            <a:r>
              <a:rPr lang="es-AR" sz="2101" dirty="0" err="1"/>
              <a:t>int</a:t>
            </a:r>
            <a:r>
              <a:rPr lang="es-AR" sz="2101" dirty="0"/>
              <a:t>;</a:t>
            </a:r>
          </a:p>
          <a:p>
            <a:r>
              <a:rPr lang="es-AR" sz="2101" dirty="0">
                <a:solidFill>
                  <a:srgbClr val="0070C0"/>
                </a:solidFill>
              </a:rPr>
              <a:t>declare</a:t>
            </a:r>
            <a:r>
              <a:rPr lang="es-AR" sz="2101" dirty="0"/>
              <a:t> contador </a:t>
            </a:r>
            <a:r>
              <a:rPr lang="es-AR" sz="2101" dirty="0" err="1"/>
              <a:t>int</a:t>
            </a:r>
            <a:r>
              <a:rPr lang="es-AR" sz="2101" dirty="0"/>
              <a:t>;</a:t>
            </a:r>
          </a:p>
          <a:p>
            <a:r>
              <a:rPr lang="es-AR" sz="2101" dirty="0">
                <a:solidFill>
                  <a:srgbClr val="0070C0"/>
                </a:solidFill>
              </a:rPr>
              <a:t>declare</a:t>
            </a:r>
            <a:r>
              <a:rPr lang="es-AR" sz="2101" dirty="0"/>
              <a:t> resto </a:t>
            </a:r>
            <a:r>
              <a:rPr lang="es-AR" sz="2101" dirty="0" err="1"/>
              <a:t>int</a:t>
            </a:r>
            <a:r>
              <a:rPr lang="es-AR" sz="2101" dirty="0"/>
              <a:t>;</a:t>
            </a:r>
          </a:p>
          <a:p>
            <a:r>
              <a:rPr lang="es-AR" sz="2101" dirty="0"/>
              <a:t>set contador = 0;</a:t>
            </a:r>
          </a:p>
          <a:p>
            <a:r>
              <a:rPr lang="es-AR" sz="2101" dirty="0"/>
              <a:t>set </a:t>
            </a:r>
            <a:r>
              <a:rPr lang="es-AR" sz="2101" dirty="0" err="1"/>
              <a:t>aux</a:t>
            </a:r>
            <a:r>
              <a:rPr lang="es-AR" sz="2101" dirty="0"/>
              <a:t> = dividendo;</a:t>
            </a:r>
          </a:p>
          <a:p>
            <a:r>
              <a:rPr lang="pt-BR" sz="2101" dirty="0" err="1"/>
              <a:t>while</a:t>
            </a:r>
            <a:r>
              <a:rPr lang="pt-BR" sz="2101" dirty="0"/>
              <a:t> </a:t>
            </a:r>
            <a:r>
              <a:rPr lang="pt-BR" sz="2101" dirty="0" err="1"/>
              <a:t>aux</a:t>
            </a:r>
            <a:r>
              <a:rPr lang="pt-BR" sz="2101" dirty="0"/>
              <a:t> =&gt;  divisor do</a:t>
            </a:r>
          </a:p>
          <a:p>
            <a:r>
              <a:rPr lang="es-AR" sz="2101" dirty="0"/>
              <a:t>set </a:t>
            </a:r>
            <a:r>
              <a:rPr lang="es-AR" sz="2101" dirty="0" err="1"/>
              <a:t>aux</a:t>
            </a:r>
            <a:r>
              <a:rPr lang="es-AR" sz="2101" dirty="0"/>
              <a:t> = </a:t>
            </a:r>
            <a:r>
              <a:rPr lang="es-AR" sz="2101" dirty="0" err="1"/>
              <a:t>aux</a:t>
            </a:r>
            <a:r>
              <a:rPr lang="es-AR" sz="2101" dirty="0"/>
              <a:t>- divisor;</a:t>
            </a:r>
          </a:p>
          <a:p>
            <a:r>
              <a:rPr lang="es-AR" sz="2101" dirty="0"/>
              <a:t>set contador = contador + 1;</a:t>
            </a:r>
          </a:p>
          <a:p>
            <a:r>
              <a:rPr lang="es-AR" sz="2101" dirty="0" err="1"/>
              <a:t>end</a:t>
            </a:r>
            <a:r>
              <a:rPr lang="es-AR" sz="2101" dirty="0"/>
              <a:t> </a:t>
            </a:r>
            <a:r>
              <a:rPr lang="es-AR" sz="2101" dirty="0" err="1"/>
              <a:t>while</a:t>
            </a:r>
            <a:r>
              <a:rPr lang="es-AR" sz="2101" dirty="0"/>
              <a:t>;</a:t>
            </a:r>
          </a:p>
          <a:p>
            <a:r>
              <a:rPr lang="es-AR" sz="2101" dirty="0"/>
              <a:t>set resto = dividendo - </a:t>
            </a:r>
            <a:r>
              <a:rPr lang="es-AR" sz="2101" dirty="0" err="1"/>
              <a:t>aux</a:t>
            </a:r>
            <a:r>
              <a:rPr lang="es-AR" sz="2101" dirty="0"/>
              <a:t> ;</a:t>
            </a:r>
          </a:p>
          <a:p>
            <a:r>
              <a:rPr lang="es-AR" sz="2101" dirty="0" err="1"/>
              <a:t>return</a:t>
            </a:r>
            <a:r>
              <a:rPr lang="es-AR" sz="2101" dirty="0"/>
              <a:t> contador;</a:t>
            </a:r>
          </a:p>
          <a:p>
            <a:r>
              <a:rPr lang="es-AR" sz="2101" dirty="0" err="1"/>
              <a:t>end</a:t>
            </a:r>
            <a:r>
              <a:rPr lang="es-AR" sz="2101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400262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408</TotalTime>
  <Words>1281</Words>
  <Application>Microsoft Office PowerPoint</Application>
  <PresentationFormat>Personalizado</PresentationFormat>
  <Paragraphs>159</Paragraphs>
  <Slides>17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7" baseType="lpstr">
      <vt:lpstr>Arial</vt:lpstr>
      <vt:lpstr>Arial Black</vt:lpstr>
      <vt:lpstr>Calibri</vt:lpstr>
      <vt:lpstr>Calibri Light</vt:lpstr>
      <vt:lpstr>CourierNewPS-BoldMT</vt:lpstr>
      <vt:lpstr>LiberationMono-Bold</vt:lpstr>
      <vt:lpstr>LinuxLibertineG</vt:lpstr>
      <vt:lpstr>Wingdings</vt:lpstr>
      <vt:lpstr>Wingdings 2</vt:lpstr>
      <vt:lpstr>Tema de Office</vt:lpstr>
      <vt:lpstr>Presentación de PowerPoint</vt:lpstr>
      <vt:lpstr>Rutinas Almacenadas</vt:lpstr>
      <vt:lpstr>Rutinas Almacenadas</vt:lpstr>
      <vt:lpstr>Rutinas Almacenadas</vt:lpstr>
      <vt:lpstr>Rutinas Almacenadas</vt:lpstr>
      <vt:lpstr>Ventajas:</vt:lpstr>
      <vt:lpstr>Procedimientos Almacenados</vt:lpstr>
      <vt:lpstr>Sintaxis de un procedimiento</vt:lpstr>
      <vt:lpstr>Procedimientos Almacenados</vt:lpstr>
      <vt:lpstr>Parámetros (tipos)</vt:lpstr>
      <vt:lpstr>Presentación de PowerPoint</vt:lpstr>
      <vt:lpstr>Presentación de PowerPoint</vt:lpstr>
      <vt:lpstr>Presentación de PowerPoint</vt:lpstr>
      <vt:lpstr>Funciones Almacenadas</vt:lpstr>
      <vt:lpstr>SINTAXIS</vt:lpstr>
      <vt:lpstr>Funciones Almacenadas</vt:lpstr>
      <vt:lpstr>Presentación de PowerPoint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Bases de Datos Avanzadas</dc:title>
  <dc:creator>NOT03</dc:creator>
  <cp:lastModifiedBy>Patricia Neumann</cp:lastModifiedBy>
  <cp:revision>24</cp:revision>
  <dcterms:created xsi:type="dcterms:W3CDTF">2017-09-03T19:31:35Z</dcterms:created>
  <dcterms:modified xsi:type="dcterms:W3CDTF">2024-05-21T17:53:08Z</dcterms:modified>
</cp:coreProperties>
</file>