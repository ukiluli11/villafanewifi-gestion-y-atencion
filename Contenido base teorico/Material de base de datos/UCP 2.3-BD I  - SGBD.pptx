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86" r:id="rId3"/>
    <p:sldId id="287" r:id="rId4"/>
    <p:sldId id="288" r:id="rId5"/>
    <p:sldId id="285" r:id="rId6"/>
    <p:sldId id="290" r:id="rId7"/>
    <p:sldId id="291" r:id="rId8"/>
    <p:sldId id="292" r:id="rId9"/>
    <p:sldId id="279" r:id="rId10"/>
    <p:sldId id="277" r:id="rId11"/>
    <p:sldId id="278" r:id="rId12"/>
    <p:sldId id="299" r:id="rId13"/>
    <p:sldId id="280" r:id="rId14"/>
    <p:sldId id="296" r:id="rId15"/>
    <p:sldId id="297" r:id="rId16"/>
    <p:sldId id="298" r:id="rId17"/>
    <p:sldId id="300" r:id="rId18"/>
    <p:sldId id="283" r:id="rId1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5" autoAdjust="0"/>
    <p:restoredTop sz="94640" autoAdjust="0"/>
  </p:normalViewPr>
  <p:slideViewPr>
    <p:cSldViewPr snapToGrid="0">
      <p:cViewPr varScale="1">
        <p:scale>
          <a:sx n="67" d="100"/>
          <a:sy n="67" d="100"/>
        </p:scale>
        <p:origin x="73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5022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42DB97-1324-49FD-B3AB-EB7D1E36D080}" type="datetimeFigureOut">
              <a:rPr lang="es-AR" smtClean="0"/>
              <a:t>19/3/2024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AEDB96-3D33-4F4D-AECF-EC54F0BFCBE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3965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AEDB96-3D33-4F4D-AECF-EC54F0BFCBE4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223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="" xmlns:a16="http://schemas.microsoft.com/office/drawing/2014/main" id="{A83C04EC-1BB0-B300-1DD8-45B3091EBF79}"/>
              </a:ext>
            </a:extLst>
          </p:cNvPr>
          <p:cNvSpPr/>
          <p:nvPr userDrawn="1"/>
        </p:nvSpPr>
        <p:spPr>
          <a:xfrm>
            <a:off x="8449911" y="53439"/>
            <a:ext cx="694088" cy="680456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="" xmlns:a16="http://schemas.microsoft.com/office/drawing/2014/main" id="{7694B84E-B012-31C5-04DC-0D112C8DFB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3F73D9E-94BF-DA63-6996-4989E345F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7FD6C57B-53A8-EBD5-21D2-35984D2F0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 Nova" panose="020B05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AR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C16D89B-4AFE-AD7B-0070-CA560120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522" y="6351361"/>
            <a:ext cx="7642389" cy="365125"/>
          </a:xfrm>
        </p:spPr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18111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="" xmlns:a16="http://schemas.microsoft.com/office/drawing/2014/main" id="{372735DD-3B16-9107-4488-521099D74D20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6B24E221-7D8D-4D24-D383-2F7CD99B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71174A32-E6B8-6468-33C8-55EAFBFEF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="" xmlns:a16="http://schemas.microsoft.com/office/drawing/2014/main" id="{849FC3D4-2363-1493-739E-7730FE405F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19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E344C43-4F3D-8671-6082-ACF34064A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42C2BE0B-143D-E0C8-81A6-0B6A2A55B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844798DE-AF1A-F3EB-697B-94EF18A2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0A581D9-B4D1-0FC6-ED76-804110E5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BE6D42E-25E5-2072-014F-457FCC82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  <p:pic>
        <p:nvPicPr>
          <p:cNvPr id="7" name="Imagen 6" descr="Icono&#10;&#10;Descripción generada automáticamente">
            <a:extLst>
              <a:ext uri="{FF2B5EF4-FFF2-40B4-BE49-F238E27FC236}">
                <a16:creationId xmlns="" xmlns:a16="http://schemas.microsoft.com/office/drawing/2014/main" id="{1B7C0C9E-AD00-DDCC-EC54-8F4D99EC02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51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="" xmlns:a16="http://schemas.microsoft.com/office/drawing/2014/main" id="{CA6405C0-5214-E6A8-47D6-38D67A4A24AB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9" name="Imagen 8" descr="Icono&#10;&#10;Descripción generada automáticamente">
            <a:extLst>
              <a:ext uri="{FF2B5EF4-FFF2-40B4-BE49-F238E27FC236}">
                <a16:creationId xmlns="" xmlns:a16="http://schemas.microsoft.com/office/drawing/2014/main" id="{6B686260-CC66-80DA-7452-530477E355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D3594E81-873A-ED93-C735-834D381EB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9713C620-6010-E101-8A28-5E35C77C7E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1C023731-3F28-F74A-E514-A008088ED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DFADA76B-0564-D9B2-BBD9-E5929496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33BC37B5-6090-0ECA-DBFA-B44881FEF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70FA9E11-A02D-54EB-0B1A-DE1F2365B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870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: esquinas redondeadas 9">
            <a:extLst>
              <a:ext uri="{FF2B5EF4-FFF2-40B4-BE49-F238E27FC236}">
                <a16:creationId xmlns="" xmlns:a16="http://schemas.microsoft.com/office/drawing/2014/main" id="{14704E23-3F7D-118A-9D26-C2A0A722A08F}"/>
              </a:ext>
            </a:extLst>
          </p:cNvPr>
          <p:cNvSpPr/>
          <p:nvPr userDrawn="1"/>
        </p:nvSpPr>
        <p:spPr>
          <a:xfrm>
            <a:off x="0" y="365126"/>
            <a:ext cx="8716488" cy="1325563"/>
          </a:xfrm>
          <a:prstGeom prst="roundRect">
            <a:avLst>
              <a:gd name="adj" fmla="val 4125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>
              <a:latin typeface="Arial Nova" panose="020B0504020202020204" pitchFamily="34" charset="0"/>
            </a:endParaRPr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="" xmlns:a16="http://schemas.microsoft.com/office/drawing/2014/main" id="{36510483-F031-9BF3-5648-88FFFE26F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50" y="6173994"/>
            <a:ext cx="676275" cy="62865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016D54EA-50AE-9BC2-30AC-32F277B7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EF996B2-8591-61B4-3028-6388AD5B2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41B0A12F-D484-EE30-023D-E05B7E093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AR" dirty="0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21811CC4-A120-5A4C-A154-67ECD047BB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Arial Nova" panose="020B05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F3249824-0AAD-5661-131B-33D18EDC0C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>
                <a:latin typeface="Arial Nova" panose="020B0504020202020204" pitchFamily="34" charset="0"/>
              </a:defRPr>
            </a:lvl1pPr>
            <a:lvl2pPr>
              <a:defRPr sz="2000">
                <a:latin typeface="Arial Nova" panose="020B0504020202020204" pitchFamily="34" charset="0"/>
              </a:defRPr>
            </a:lvl2pPr>
            <a:lvl3pPr>
              <a:defRPr sz="1800">
                <a:latin typeface="Arial Nova" panose="020B0504020202020204" pitchFamily="34" charset="0"/>
              </a:defRPr>
            </a:lvl3pPr>
            <a:lvl4pPr>
              <a:defRPr sz="1600">
                <a:latin typeface="Arial Nova" panose="020B0504020202020204" pitchFamily="34" charset="0"/>
              </a:defRPr>
            </a:lvl4pPr>
            <a:lvl5pPr>
              <a:defRPr sz="1600"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2E1950E0-799C-2981-CF41-98FEBF312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24DE170F-51C4-12C5-445B-EC6C5446B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1E585FF4-D0D5-3C9D-F2D3-1BC5A4AD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851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Icono&#10;&#10;Descripción generada automáticamente">
            <a:extLst>
              <a:ext uri="{FF2B5EF4-FFF2-40B4-BE49-F238E27FC236}">
                <a16:creationId xmlns="" xmlns:a16="http://schemas.microsoft.com/office/drawing/2014/main" id="{F1CB7C11-E2DC-4C87-E8BF-158B1293F8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E3FD26A-79E6-1CE7-33D3-60A3C77E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56568965-9ED1-120B-9459-3CA45E2D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7E704F6F-8789-981E-4C27-A58A7D073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E72157F0-CE71-6C93-7AD7-46C882E8A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1012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cono&#10;&#10;Descripción generada automáticamente">
            <a:extLst>
              <a:ext uri="{FF2B5EF4-FFF2-40B4-BE49-F238E27FC236}">
                <a16:creationId xmlns="" xmlns:a16="http://schemas.microsoft.com/office/drawing/2014/main" id="{6266B280-68DF-34B6-1ED5-FD6A7D020E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7EA855BC-B166-4639-C80C-BFF59165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7664C-02C4-4D18-BBA6-B878AC2F62EE}" type="datetimeFigureOut">
              <a:rPr lang="es-AR" smtClean="0"/>
              <a:t>19/3/2024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8E68F156-CDE3-F6AA-9983-C0825C823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895FC38F-2E3E-8BB3-DE4A-22CB5C08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BE127-9856-4054-BF95-BFE53DDBC6E5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2072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="" xmlns:a16="http://schemas.microsoft.com/office/drawing/2014/main" id="{11E14A04-B191-A482-55B9-BFAA32780D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A53DF4C-5C85-C608-EDA9-FADFB87AC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253B0A8F-D22F-F5CD-2FF9-83A5BD75C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>
                <a:latin typeface="Arial Nova" panose="020B0504020202020204" pitchFamily="34" charset="0"/>
              </a:defRPr>
            </a:lvl1pPr>
            <a:lvl2pPr>
              <a:defRPr sz="2800">
                <a:latin typeface="Arial Nova" panose="020B0504020202020204" pitchFamily="34" charset="0"/>
              </a:defRPr>
            </a:lvl2pPr>
            <a:lvl3pPr>
              <a:defRPr sz="2400">
                <a:latin typeface="Arial Nova" panose="020B0504020202020204" pitchFamily="34" charset="0"/>
              </a:defRPr>
            </a:lvl3pPr>
            <a:lvl4pPr>
              <a:defRPr sz="2000">
                <a:latin typeface="Arial Nova" panose="020B0504020202020204" pitchFamily="34" charset="0"/>
              </a:defRPr>
            </a:lvl4pPr>
            <a:lvl5pPr>
              <a:defRPr sz="2000">
                <a:latin typeface="Arial Nova" panose="020B05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6106C5D6-139B-CC8D-AB19-1B6DB3AA8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6644512-3A9F-FDF8-ECD7-830D07525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7C37EE07-5147-4F90-EA7F-89FB2EDC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84F8AE94-9EB4-7393-D79B-2EE759B9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50928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="" xmlns:a16="http://schemas.microsoft.com/office/drawing/2014/main" id="{51635144-7A66-851B-6CF6-B9583B47D5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FE834816-5F06-14BF-3E79-C0B46E27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3C39E45B-BDE7-AA03-65BA-B0FFA02D61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Arial Nova" panose="020B05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CB2FA824-8ACF-42B9-7303-05C5FCA5C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>
                <a:latin typeface="Arial Nova" panose="020B05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5419BA93-3F32-336D-A0B9-42DFCCC4B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EFA60753-3A3E-35E7-D567-91E817304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EA2BC01C-0718-6E34-A5AB-775C26E03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18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="" xmlns:a16="http://schemas.microsoft.com/office/drawing/2014/main" id="{D211FC79-3207-033A-8689-FF7C303104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EE30248-AD78-2A08-2702-45C5C49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9B8823CB-602C-604D-A16C-6E1F40C9C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E2882FCF-27A3-C6BC-7FC8-E2343B9F8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7E7CAA22-6D6D-918D-6A21-C0AE506E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B09C3CAE-31D6-B89D-745B-DFFFB224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0300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="" xmlns:a16="http://schemas.microsoft.com/office/drawing/2014/main" id="{24EB53E1-4473-FD2F-AEE8-A7C7BA2E6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927" y="6169227"/>
            <a:ext cx="660197" cy="613704"/>
          </a:xfrm>
          <a:prstGeom prst="rect">
            <a:avLst/>
          </a:prstGeom>
        </p:spPr>
      </p:pic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83C10135-5A51-DBD6-BFCD-C56709AA0E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759CF9BA-7C62-8F9A-B4D5-6C233CF59D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>
                <a:latin typeface="Arial Nova" panose="020B0504020202020204" pitchFamily="34" charset="0"/>
              </a:defRPr>
            </a:lvl1pPr>
            <a:lvl2pPr>
              <a:defRPr>
                <a:latin typeface="Arial Nova" panose="020B0504020202020204" pitchFamily="34" charset="0"/>
              </a:defRPr>
            </a:lvl2pPr>
            <a:lvl3pPr>
              <a:defRPr>
                <a:latin typeface="Arial Nova" panose="020B0504020202020204" pitchFamily="34" charset="0"/>
              </a:defRPr>
            </a:lvl3pPr>
            <a:lvl4pPr>
              <a:defRPr>
                <a:latin typeface="Arial Nova" panose="020B0504020202020204" pitchFamily="34" charset="0"/>
              </a:defRPr>
            </a:lvl4pPr>
            <a:lvl5pPr>
              <a:defRPr>
                <a:latin typeface="Arial Nova" panose="020B0504020202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A06A7238-82AB-6B53-1FD5-952B8863C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41B1659-ED7F-B169-5FB9-B166DFEE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461C9001-B0FC-63ED-C3C4-072A7169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17954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B61158DD-CBEF-4805-BFB2-F7DBCA62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7E8DDC70-7CD0-F491-7066-29DFC859F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C3BD5B7E-78F5-1FAD-7B9D-FC63685A28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E897664C-02C4-4D18-BBA6-B878AC2F62EE}" type="datetimeFigureOut">
              <a:rPr lang="es-AR" smtClean="0"/>
              <a:pPr/>
              <a:t>19/3/2024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2D57D191-252B-77E0-A256-C4CA28E780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BFFA2EAC-8AFF-E514-8A45-E9A5D5755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522BE127-9856-4054-BF95-BFE53DDBC6E5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947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 Nova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 Nova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31B64D85-A189-A232-47E0-A1AF6595E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s-AR" dirty="0">
                <a:solidFill>
                  <a:schemeClr val="tx1"/>
                </a:solidFill>
                <a:latin typeface="Arial Nova" panose="020B0604020202020204" pitchFamily="34" charset="0"/>
              </a:rPr>
              <a:t>Bases de Datos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7CCE6FAE-455A-9B11-B622-CE2422324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992427"/>
          </a:xfrm>
        </p:spPr>
        <p:txBody>
          <a:bodyPr>
            <a:normAutofit/>
          </a:bodyPr>
          <a:lstStyle/>
          <a:p>
            <a:r>
              <a:rPr lang="es-AR" dirty="0">
                <a:solidFill>
                  <a:schemeClr val="tx1"/>
                </a:solidFill>
                <a:latin typeface="Arial Nova" panose="020B0504020202020204" pitchFamily="34" charset="0"/>
              </a:rPr>
              <a:t>Sistemas Gestores de Bases de Datos</a:t>
            </a:r>
          </a:p>
          <a:p>
            <a:r>
              <a:rPr lang="es-AR" dirty="0" smtClean="0">
                <a:solidFill>
                  <a:schemeClr val="tx1"/>
                </a:solidFill>
                <a:latin typeface="Arial Nova" panose="020B0504020202020204" pitchFamily="34" charset="0"/>
              </a:rPr>
              <a:t>Licenciatura en Sistemas de Información </a:t>
            </a:r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  <a:p>
            <a:endParaRPr lang="es-AR" dirty="0">
              <a:solidFill>
                <a:schemeClr val="tx1"/>
              </a:solidFill>
              <a:latin typeface="Arial Nova" panose="020B0504020202020204" pitchFamily="34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485775" y="5686538"/>
            <a:ext cx="2714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b="1" dirty="0">
                <a:latin typeface="Arial Nova" panose="020B0504020202020204" pitchFamily="34" charset="0"/>
              </a:rPr>
              <a:t>Lic. Patricia Neumann</a:t>
            </a:r>
          </a:p>
          <a:p>
            <a:endParaRPr lang="es-AR" b="1" dirty="0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35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814388"/>
            <a:ext cx="7886700" cy="876301"/>
          </a:xfrm>
          <a:solidFill>
            <a:schemeClr val="accent1"/>
          </a:solidFill>
        </p:spPr>
        <p:txBody>
          <a:bodyPr/>
          <a:lstStyle/>
          <a:p>
            <a:r>
              <a:rPr lang="es-AR" dirty="0"/>
              <a:t>Sistemas de Bases de Datos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dirty="0"/>
              <a:t>En Sistemas de Procesamiento de Archivos, las aplicaciones acceden directamente al archivo</a:t>
            </a:r>
          </a:p>
          <a:p>
            <a:r>
              <a:rPr lang="es-AR" dirty="0"/>
              <a:t>En Sistemas de Bases de Datos, las aplicaciones acceden a los datos a través del DBMS</a:t>
            </a:r>
          </a:p>
          <a:p>
            <a:r>
              <a:rPr lang="es-AR" dirty="0"/>
              <a:t>Esto facilita la programación de la aplicación. </a:t>
            </a:r>
          </a:p>
        </p:txBody>
      </p:sp>
    </p:spTree>
    <p:extLst>
      <p:ext uri="{BB962C8B-B14F-4D97-AF65-F5344CB8AC3E}">
        <p14:creationId xmlns:p14="http://schemas.microsoft.com/office/powerpoint/2010/main" val="405049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700088"/>
            <a:ext cx="7886700" cy="990601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s-AR" sz="4000" dirty="0"/>
              <a:t>Características Deseables de un BDMS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000" b="1" dirty="0"/>
              <a:t>DATOS INTEGRADOS</a:t>
            </a:r>
          </a:p>
          <a:p>
            <a:pPr lvl="1"/>
            <a:r>
              <a:rPr lang="es-AR" sz="2000" dirty="0"/>
              <a:t>Los datos se encuentran almacenados en una Base de Datos</a:t>
            </a:r>
          </a:p>
          <a:p>
            <a:pPr lvl="1"/>
            <a:r>
              <a:rPr lang="es-AR" sz="2000" dirty="0"/>
              <a:t>Un programa de aplicación solicita datos al DBMS, y este se encarga del trabajo de extracción, procesamiento y distribución de los datos</a:t>
            </a:r>
          </a:p>
        </p:txBody>
      </p:sp>
    </p:spTree>
    <p:extLst>
      <p:ext uri="{BB962C8B-B14F-4D97-AF65-F5344CB8AC3E}">
        <p14:creationId xmlns:p14="http://schemas.microsoft.com/office/powerpoint/2010/main" val="225264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649" y="814652"/>
            <a:ext cx="5383021" cy="278377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09" y="3498415"/>
            <a:ext cx="5975157" cy="284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82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312146"/>
            <a:ext cx="8129587" cy="39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407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2888" y="771525"/>
            <a:ext cx="8686800" cy="919164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4000" dirty="0"/>
              <a:t>Características Deseables de un BDMS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sz="2000" b="1" dirty="0"/>
              <a:t>REDUCCION DE DATOS DUPLICADOS</a:t>
            </a:r>
          </a:p>
          <a:p>
            <a:pPr lvl="1"/>
            <a:r>
              <a:rPr lang="es-AR" sz="2000" dirty="0"/>
              <a:t>La duplicación es mínima</a:t>
            </a:r>
          </a:p>
          <a:p>
            <a:pPr lvl="1"/>
            <a:r>
              <a:rPr lang="es-AR" sz="2000" dirty="0"/>
              <a:t>Debido a que los datos se almacenan en un solo lugar, se evitan </a:t>
            </a:r>
            <a:r>
              <a:rPr lang="es-AR" sz="2000" b="1" dirty="0"/>
              <a:t>Problemas de Integridad de Datos e Inconsistencia de Datos</a:t>
            </a:r>
          </a:p>
          <a:p>
            <a:pPr lvl="1"/>
            <a:r>
              <a:rPr lang="es-AR" sz="2000" dirty="0"/>
              <a:t>Se logra aplicando Técnicas de </a:t>
            </a:r>
            <a:r>
              <a:rPr lang="es-AR" sz="2000" i="1" dirty="0"/>
              <a:t>Normalización </a:t>
            </a:r>
            <a:r>
              <a:rPr lang="es-AR" sz="2000" dirty="0"/>
              <a:t>en el Diseño de la Base de Datos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77854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1" y="757238"/>
            <a:ext cx="8615362" cy="933451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s-AR" sz="2800" dirty="0"/>
              <a:t>Características Deseables de un BDMS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AR" sz="2400" b="1" dirty="0"/>
              <a:t>INDEPENDENCIA DE DATOS/PROGRAMAS</a:t>
            </a:r>
          </a:p>
          <a:p>
            <a:pPr lvl="1"/>
            <a:r>
              <a:rPr lang="es-AR" dirty="0"/>
              <a:t>Reduce la dependencia de los formatos del archivo</a:t>
            </a:r>
          </a:p>
          <a:p>
            <a:pPr lvl="1"/>
            <a:r>
              <a:rPr lang="es-AR" dirty="0"/>
              <a:t>Los formatos de registro se almacenan en un mismo lugar</a:t>
            </a:r>
          </a:p>
          <a:p>
            <a:pPr lvl="1"/>
            <a:r>
              <a:rPr lang="es-AR" dirty="0"/>
              <a:t>Los programas de aplicación solo tienen la definición  de los datos que se necesitan.</a:t>
            </a:r>
          </a:p>
          <a:p>
            <a:pPr lvl="1"/>
            <a:r>
              <a:rPr lang="es-AR" dirty="0"/>
              <a:t>Si hubo algún cambio en el formato de los datos, en la mayoría de los casos, las aplicaciones no se dan cuenta</a:t>
            </a:r>
          </a:p>
          <a:p>
            <a:pPr lvl="1"/>
            <a:r>
              <a:rPr lang="es-AR" dirty="0"/>
              <a:t>Si existe alguna modificación, solo se modifica la aplicación que utiliza esos datos. </a:t>
            </a:r>
          </a:p>
        </p:txBody>
      </p:sp>
    </p:spTree>
    <p:extLst>
      <p:ext uri="{BB962C8B-B14F-4D97-AF65-F5344CB8AC3E}">
        <p14:creationId xmlns:p14="http://schemas.microsoft.com/office/powerpoint/2010/main" val="926846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9663" y="728663"/>
            <a:ext cx="8676026" cy="962026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r>
              <a:rPr lang="es-AR" sz="4000" dirty="0"/>
              <a:t>Características Deseables de un BDMS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AR" sz="1800" b="1" dirty="0"/>
              <a:t>REPRESENTACION FACIL DE LAS PERSPECTIVAS DEL USUARIO</a:t>
            </a:r>
          </a:p>
          <a:p>
            <a:pPr lvl="1"/>
            <a:r>
              <a:rPr lang="es-AR" sz="1800" dirty="0"/>
              <a:t>Facilita la forma de representar los datos al usuario. </a:t>
            </a:r>
          </a:p>
          <a:p>
            <a:pPr lvl="1"/>
            <a:endParaRPr lang="es-AR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63" y="2801127"/>
            <a:ext cx="3667978" cy="259314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8693" y="2801127"/>
            <a:ext cx="4896996" cy="3375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70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21" y="902662"/>
            <a:ext cx="5345157" cy="520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79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714375"/>
            <a:ext cx="7886700" cy="976314"/>
          </a:xfrm>
          <a:solidFill>
            <a:srgbClr val="0070C0"/>
          </a:solidFill>
        </p:spPr>
        <p:txBody>
          <a:bodyPr>
            <a:normAutofit/>
          </a:bodyPr>
          <a:lstStyle/>
          <a:p>
            <a:r>
              <a:rPr lang="en-US" sz="4000" dirty="0" err="1"/>
              <a:t>Estructura</a:t>
            </a:r>
            <a:r>
              <a:rPr lang="en-US" sz="4000" dirty="0"/>
              <a:t> de DBMS</a:t>
            </a:r>
            <a:endParaRPr lang="es-AR" sz="4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7251" y="2057400"/>
            <a:ext cx="7404653" cy="4400550"/>
          </a:xfrm>
        </p:spPr>
        <p:txBody>
          <a:bodyPr>
            <a:normAutofit/>
          </a:bodyPr>
          <a:lstStyle/>
          <a:p>
            <a:r>
              <a:rPr lang="es-AR" sz="2000" dirty="0"/>
              <a:t>Un DBMS se divide en dos módulos:</a:t>
            </a:r>
          </a:p>
          <a:p>
            <a:pPr lvl="1" algn="just"/>
            <a:r>
              <a:rPr lang="es-AR" sz="2000" dirty="0"/>
              <a:t>Gestor de Almacenamiento</a:t>
            </a:r>
          </a:p>
          <a:p>
            <a:pPr lvl="1" algn="just"/>
            <a:r>
              <a:rPr lang="es-AR" sz="2000" dirty="0"/>
              <a:t>Procesador de Consultas</a:t>
            </a:r>
          </a:p>
          <a:p>
            <a:pPr algn="just"/>
            <a:r>
              <a:rPr lang="es-AR" sz="2000" dirty="0"/>
              <a:t>El </a:t>
            </a:r>
            <a:r>
              <a:rPr lang="es-AR" sz="2000" i="1" dirty="0"/>
              <a:t>Gestor de Almacenamiento</a:t>
            </a:r>
            <a:r>
              <a:rPr lang="es-AR" sz="2000" dirty="0"/>
              <a:t> </a:t>
            </a:r>
            <a:r>
              <a:rPr lang="es-AR" sz="2000" dirty="0">
                <a:sym typeface="Wingdings" panose="05000000000000000000" pitchFamily="2" charset="2"/>
              </a:rPr>
              <a:t> Modulo que proporciona la interfaz entre los datos de bajo nivel en la BD y los programas de aplicación y consultas emitidas por el sistema.</a:t>
            </a:r>
          </a:p>
          <a:p>
            <a:pPr algn="just"/>
            <a:r>
              <a:rPr lang="es-AR" sz="2000" dirty="0">
                <a:sym typeface="Wingdings" panose="05000000000000000000" pitchFamily="2" charset="2"/>
              </a:rPr>
              <a:t>Los componentes del Gestor de Almacenamiento son</a:t>
            </a:r>
          </a:p>
          <a:p>
            <a:pPr lvl="1" algn="just"/>
            <a:r>
              <a:rPr lang="es-AR" sz="2000" i="1" dirty="0">
                <a:sym typeface="Wingdings" panose="05000000000000000000" pitchFamily="2" charset="2"/>
              </a:rPr>
              <a:t>Gestor de Autorización e Integridad</a:t>
            </a:r>
          </a:p>
          <a:p>
            <a:pPr lvl="1" algn="just"/>
            <a:r>
              <a:rPr lang="es-AR" sz="2000" i="1" dirty="0">
                <a:sym typeface="Wingdings" panose="05000000000000000000" pitchFamily="2" charset="2"/>
              </a:rPr>
              <a:t>Gestor de Transacciones</a:t>
            </a:r>
          </a:p>
          <a:p>
            <a:pPr lvl="1" algn="just"/>
            <a:r>
              <a:rPr lang="es-AR" sz="2000" i="1" dirty="0">
                <a:sym typeface="Wingdings" panose="05000000000000000000" pitchFamily="2" charset="2"/>
              </a:rPr>
              <a:t>Gestor de Archivos</a:t>
            </a:r>
          </a:p>
          <a:p>
            <a:pPr lvl="1" algn="just"/>
            <a:r>
              <a:rPr lang="es-AR" sz="2000" i="1" dirty="0">
                <a:sym typeface="Wingdings" panose="05000000000000000000" pitchFamily="2" charset="2"/>
              </a:rPr>
              <a:t>Gestor de Memoria Intermedia</a:t>
            </a:r>
          </a:p>
        </p:txBody>
      </p:sp>
    </p:spTree>
    <p:extLst>
      <p:ext uri="{BB962C8B-B14F-4D97-AF65-F5344CB8AC3E}">
        <p14:creationId xmlns:p14="http://schemas.microsoft.com/office/powerpoint/2010/main" val="4150597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742950"/>
            <a:ext cx="7886700" cy="947739"/>
          </a:xfrm>
          <a:solidFill>
            <a:srgbClr val="0070C0"/>
          </a:solidFill>
        </p:spPr>
        <p:txBody>
          <a:bodyPr/>
          <a:lstStyle/>
          <a:p>
            <a:r>
              <a:rPr lang="en-US" dirty="0" err="1"/>
              <a:t>Estructura</a:t>
            </a:r>
            <a:r>
              <a:rPr lang="en-US" dirty="0"/>
              <a:t> de DBMS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AR" sz="2000" i="1" dirty="0">
                <a:sym typeface="Wingdings" panose="05000000000000000000" pitchFamily="2" charset="2"/>
              </a:rPr>
              <a:t>Un Gestor de Almacenamiento</a:t>
            </a:r>
            <a:r>
              <a:rPr lang="es-AR" sz="2000" dirty="0">
                <a:sym typeface="Wingdings" panose="05000000000000000000" pitchFamily="2" charset="2"/>
              </a:rPr>
              <a:t> implementa varias estructuras de Datos como parte de la implementación Física del Sistema:</a:t>
            </a:r>
          </a:p>
          <a:p>
            <a:pPr lvl="1" algn="just"/>
            <a:r>
              <a:rPr lang="es-AR" sz="2000" b="1" i="1" dirty="0">
                <a:sym typeface="Wingdings" panose="05000000000000000000" pitchFamily="2" charset="2"/>
              </a:rPr>
              <a:t>Archivo de Datos</a:t>
            </a:r>
          </a:p>
          <a:p>
            <a:pPr lvl="1" algn="just"/>
            <a:r>
              <a:rPr lang="es-AR" sz="2000" b="1" i="1" dirty="0">
                <a:sym typeface="Wingdings" panose="05000000000000000000" pitchFamily="2" charset="2"/>
              </a:rPr>
              <a:t>Diccionario de Datos</a:t>
            </a:r>
          </a:p>
          <a:p>
            <a:pPr lvl="1" algn="just"/>
            <a:r>
              <a:rPr lang="es-AR" sz="2000" b="1" i="1" dirty="0">
                <a:sym typeface="Wingdings" panose="05000000000000000000" pitchFamily="2" charset="2"/>
              </a:rPr>
              <a:t>Índices</a:t>
            </a:r>
            <a:endParaRPr lang="es-AR" sz="2000" b="1" i="1" dirty="0"/>
          </a:p>
          <a:p>
            <a:pPr algn="just"/>
            <a:r>
              <a:rPr lang="es-AR" sz="2000" dirty="0"/>
              <a:t>El </a:t>
            </a:r>
            <a:r>
              <a:rPr lang="es-AR" sz="2000" i="1" dirty="0"/>
              <a:t>Procesador de Consultas</a:t>
            </a:r>
            <a:r>
              <a:rPr lang="es-AR" sz="2000" dirty="0"/>
              <a:t> incluye los siguientes componentes</a:t>
            </a:r>
          </a:p>
          <a:p>
            <a:pPr lvl="1" algn="just"/>
            <a:r>
              <a:rPr lang="es-AR" sz="2000" b="1" i="1" dirty="0"/>
              <a:t>Interprete del DDL</a:t>
            </a:r>
          </a:p>
          <a:p>
            <a:pPr lvl="1" algn="just"/>
            <a:r>
              <a:rPr lang="es-AR" sz="2000" b="1" i="1" dirty="0"/>
              <a:t>Compilador DML </a:t>
            </a:r>
            <a:r>
              <a:rPr lang="es-AR" sz="2000" b="1" i="1" dirty="0">
                <a:sym typeface="Wingdings" panose="05000000000000000000" pitchFamily="2" charset="2"/>
              </a:rPr>
              <a:t></a:t>
            </a:r>
            <a:r>
              <a:rPr lang="es-AR" sz="2000" dirty="0">
                <a:sym typeface="Wingdings" panose="05000000000000000000" pitchFamily="2" charset="2"/>
              </a:rPr>
              <a:t>Asociado con la </a:t>
            </a:r>
            <a:r>
              <a:rPr lang="es-AR" sz="2000" i="1" dirty="0">
                <a:sym typeface="Wingdings" panose="05000000000000000000" pitchFamily="2" charset="2"/>
              </a:rPr>
              <a:t>Optimización de Consultas.</a:t>
            </a:r>
            <a:endParaRPr lang="es-AR" sz="2000" b="1" i="1" dirty="0"/>
          </a:p>
          <a:p>
            <a:pPr lvl="1" algn="just"/>
            <a:r>
              <a:rPr lang="es-AR" sz="2000" b="1" i="1" dirty="0"/>
              <a:t>Motor de Evaluación de Consultas</a:t>
            </a:r>
          </a:p>
        </p:txBody>
      </p:sp>
    </p:spTree>
    <p:extLst>
      <p:ext uri="{BB962C8B-B14F-4D97-AF65-F5344CB8AC3E}">
        <p14:creationId xmlns:p14="http://schemas.microsoft.com/office/powerpoint/2010/main" val="3301299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/>
          </p:cNvSpPr>
          <p:nvPr>
            <p:ph type="title"/>
          </p:nvPr>
        </p:nvSpPr>
        <p:spPr>
          <a:xfrm>
            <a:off x="390526" y="757237"/>
            <a:ext cx="8307388" cy="719138"/>
          </a:xfrm>
          <a:solidFill>
            <a:srgbClr val="0070C0"/>
          </a:solidFill>
        </p:spPr>
        <p:txBody>
          <a:bodyPr>
            <a:normAutofit/>
          </a:bodyPr>
          <a:lstStyle/>
          <a:p>
            <a:pPr eaLnBrk="1" hangingPunct="1"/>
            <a:r>
              <a:rPr lang="es-ES_tradnl" altLang="es-ES" sz="3200" b="1" dirty="0" smtClean="0">
                <a:ln>
                  <a:noFill/>
                </a:ln>
              </a:rPr>
              <a:t>SGBD - Componentes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390525" y="1712913"/>
            <a:ext cx="7705725" cy="4624387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b="1" dirty="0">
                <a:solidFill>
                  <a:srgbClr val="0099FF"/>
                </a:solidFill>
              </a:rPr>
              <a:t>Diccionario de Datos (DD)</a:t>
            </a:r>
            <a:r>
              <a:rPr lang="es-ES_tradnl" altLang="es-ES" sz="1800" b="1" dirty="0"/>
              <a:t>: </a:t>
            </a:r>
          </a:p>
          <a:p>
            <a:pPr lvl="1" eaLnBrk="1" fontAlgn="auto" hangingPunct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dirty="0"/>
              <a:t>Contiene datos sobre el esquema de la BD, los usuarios, los permisos de acceso, etc.  </a:t>
            </a:r>
          </a:p>
          <a:p>
            <a:pPr lvl="1" eaLnBrk="1" fontAlgn="auto" hangingPunct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dirty="0"/>
              <a:t>Almacena los datos que permiten la traducción entre los tres niveles</a:t>
            </a:r>
            <a:r>
              <a:rPr lang="es-ES_tradnl" altLang="es-ES" sz="1800" dirty="0">
                <a:solidFill>
                  <a:srgbClr val="FF3300"/>
                </a:solidFill>
              </a:rPr>
              <a:t>*</a:t>
            </a:r>
            <a:r>
              <a:rPr lang="es-ES_tradnl" altLang="es-ES" sz="1800" dirty="0"/>
              <a:t> de la arquitectura ANSI-SPARC (</a:t>
            </a:r>
            <a:r>
              <a:rPr lang="en-US" altLang="es-ES" sz="1800" i="1" dirty="0"/>
              <a:t>American National Standards Institute, Standards Planning And Requirements Committee</a:t>
            </a:r>
            <a:r>
              <a:rPr lang="es-ES_tradnl" altLang="es-ES" sz="1800" dirty="0"/>
              <a:t>).</a:t>
            </a:r>
          </a:p>
          <a:p>
            <a:pPr lvl="1" eaLnBrk="1" fontAlgn="auto" hangingPunct="1">
              <a:lnSpc>
                <a:spcPct val="11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dirty="0"/>
              <a:t>Es un catálogo </a:t>
            </a:r>
            <a:r>
              <a:rPr lang="es-ES_tradnl" altLang="es-ES" sz="1800" dirty="0" err="1"/>
              <a:t>autodescriptivo</a:t>
            </a:r>
            <a:r>
              <a:rPr lang="es-ES_tradnl" altLang="es-ES" sz="1800" dirty="0"/>
              <a:t>, datos sobre los objetos existentes en el sistema </a:t>
            </a:r>
            <a:r>
              <a:rPr lang="es-ES_tradnl" altLang="es-ES" sz="1800" dirty="0">
                <a:sym typeface="Wingdings" panose="05000000000000000000" pitchFamily="2" charset="2"/>
              </a:rPr>
              <a:t> </a:t>
            </a:r>
            <a:r>
              <a:rPr lang="es-ES_tradnl" altLang="es-ES" sz="1800" dirty="0">
                <a:solidFill>
                  <a:srgbClr val="0000FF"/>
                </a:solidFill>
                <a:sym typeface="Wingdings" panose="05000000000000000000" pitchFamily="2" charset="2"/>
              </a:rPr>
              <a:t>Datos sobre los datos</a:t>
            </a:r>
            <a:r>
              <a:rPr lang="es-ES_tradnl" altLang="es-ES" sz="1800" i="1" dirty="0">
                <a:sym typeface="Wingdings" panose="05000000000000000000" pitchFamily="2" charset="2"/>
              </a:rPr>
              <a:t> (</a:t>
            </a:r>
            <a:r>
              <a:rPr lang="es-ES_tradnl" altLang="es-ES" sz="1800" dirty="0">
                <a:sym typeface="Wingdings" panose="05000000000000000000" pitchFamily="2" charset="2"/>
              </a:rPr>
              <a:t>Metadatos</a:t>
            </a:r>
            <a:r>
              <a:rPr lang="es-ES_tradnl" altLang="es-ES" sz="1800" i="1" dirty="0">
                <a:sym typeface="Wingdings" panose="05000000000000000000" pitchFamily="2" charset="2"/>
              </a:rPr>
              <a:t>).</a:t>
            </a:r>
            <a:endParaRPr lang="es-ES_tradnl" altLang="es-ES" sz="1800" i="1" dirty="0"/>
          </a:p>
          <a:p>
            <a:pPr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Tx/>
              <a:buNone/>
              <a:defRPr/>
            </a:pPr>
            <a:endParaRPr lang="es-ES_tradnl" altLang="es-ES" sz="1800" dirty="0"/>
          </a:p>
          <a:p>
            <a:pPr algn="just" eaLnBrk="1" fontAlgn="auto" hangingPunct="1">
              <a:lnSpc>
                <a:spcPct val="12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b="1" dirty="0">
                <a:solidFill>
                  <a:srgbClr val="0099FF"/>
                </a:solidFill>
              </a:rPr>
              <a:t>Optimizador de consultas</a:t>
            </a:r>
            <a:r>
              <a:rPr lang="es-ES_tradnl" altLang="es-ES" sz="1800" dirty="0"/>
              <a:t>: Define el plan de ejecución de las operaciones solicitadas por los usuarios, de tal manera que se ejecuten de manera eficiente.</a:t>
            </a:r>
          </a:p>
          <a:p>
            <a:pPr algn="just"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endParaRPr lang="es-ES_tradnl" altLang="es-ES" sz="1800" dirty="0"/>
          </a:p>
          <a:p>
            <a:pPr algn="just"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 typeface="Arial"/>
              <a:buChar char="•"/>
              <a:defRPr/>
            </a:pPr>
            <a:r>
              <a:rPr lang="es-ES_tradnl" altLang="es-ES" sz="1800" b="1" dirty="0">
                <a:solidFill>
                  <a:srgbClr val="0099FF"/>
                </a:solidFill>
              </a:rPr>
              <a:t>Manejador de transacciones</a:t>
            </a:r>
            <a:r>
              <a:rPr lang="es-ES_tradnl" altLang="es-ES" sz="1800" dirty="0"/>
              <a:t>: Controla el acceso y la concurrencia de operaciones.</a:t>
            </a:r>
          </a:p>
          <a:p>
            <a:pPr algn="just"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Tx/>
              <a:buNone/>
              <a:defRPr/>
            </a:pPr>
            <a:endParaRPr lang="es-CO" altLang="es-ES" sz="1800" dirty="0"/>
          </a:p>
          <a:p>
            <a:pPr algn="just" eaLnBrk="1" fontAlgn="auto" hangingPunct="1">
              <a:lnSpc>
                <a:spcPct val="80000"/>
              </a:lnSpc>
              <a:buClr>
                <a:schemeClr val="accent1">
                  <a:lumMod val="75000"/>
                </a:schemeClr>
              </a:buClr>
              <a:buFontTx/>
              <a:buNone/>
              <a:defRPr/>
            </a:pPr>
            <a:endParaRPr lang="es-ES_tradnl" altLang="es-ES" sz="1800" dirty="0"/>
          </a:p>
        </p:txBody>
      </p:sp>
    </p:spTree>
    <p:extLst>
      <p:ext uri="{BB962C8B-B14F-4D97-AF65-F5344CB8AC3E}">
        <p14:creationId xmlns:p14="http://schemas.microsoft.com/office/powerpoint/2010/main" val="353482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58425"/>
            <a:ext cx="6745129" cy="6301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1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885825"/>
            <a:ext cx="7886700" cy="804864"/>
          </a:xfrm>
          <a:solidFill>
            <a:srgbClr val="0070C0"/>
          </a:solidFill>
        </p:spPr>
        <p:txBody>
          <a:bodyPr/>
          <a:lstStyle/>
          <a:p>
            <a:r>
              <a:rPr lang="es-AR" dirty="0"/>
              <a:t>Funciones de un DBMS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/>
            <a:r>
              <a:rPr lang="es-AR" dirty="0"/>
              <a:t>Almacenamiento de Datos, Recuperación y Actualización</a:t>
            </a:r>
          </a:p>
          <a:p>
            <a:pPr lvl="0"/>
            <a:r>
              <a:rPr lang="es-AR" dirty="0"/>
              <a:t>Catalogo (Metadatos) de Datos Accesible por los Usuarios. </a:t>
            </a:r>
          </a:p>
          <a:p>
            <a:pPr lvl="0"/>
            <a:r>
              <a:rPr lang="es-AR" dirty="0"/>
              <a:t>Soporte de Transacciones</a:t>
            </a:r>
          </a:p>
          <a:p>
            <a:pPr lvl="0"/>
            <a:r>
              <a:rPr lang="es-AR" dirty="0"/>
              <a:t>Control de Concurrencia</a:t>
            </a:r>
          </a:p>
          <a:p>
            <a:pPr lvl="0"/>
            <a:r>
              <a:rPr lang="es-AR" dirty="0"/>
              <a:t>Servicios de Recuperación</a:t>
            </a:r>
          </a:p>
          <a:p>
            <a:pPr lvl="0"/>
            <a:r>
              <a:rPr lang="es-AR" dirty="0"/>
              <a:t>Servicios de Autorización</a:t>
            </a:r>
          </a:p>
          <a:p>
            <a:pPr lvl="0"/>
            <a:r>
              <a:rPr lang="es-AR" dirty="0"/>
              <a:t>Soporte a la Comunicación de Datos</a:t>
            </a:r>
          </a:p>
          <a:p>
            <a:pPr lvl="1"/>
            <a:r>
              <a:rPr lang="es-AR" dirty="0"/>
              <a:t>Sobre todo en entornos Distribuidos</a:t>
            </a:r>
          </a:p>
          <a:p>
            <a:pPr lvl="0"/>
            <a:r>
              <a:rPr lang="es-AR" dirty="0"/>
              <a:t>Integridad de Datos</a:t>
            </a:r>
          </a:p>
          <a:p>
            <a:pPr lvl="0"/>
            <a:r>
              <a:rPr lang="es-AR" dirty="0"/>
              <a:t>Independencia de Datos</a:t>
            </a:r>
          </a:p>
          <a:p>
            <a:pPr lvl="0"/>
            <a:r>
              <a:rPr lang="es-AR" dirty="0"/>
              <a:t>Servicios utilitarios</a:t>
            </a:r>
          </a:p>
          <a:p>
            <a:pPr lvl="1"/>
            <a:endParaRPr lang="es-AR" dirty="0"/>
          </a:p>
          <a:p>
            <a:pPr lvl="1"/>
            <a:endParaRPr lang="es-AR" dirty="0"/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15761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742950"/>
            <a:ext cx="7886700" cy="947739"/>
          </a:xfrm>
          <a:solidFill>
            <a:srgbClr val="0070C0"/>
          </a:solidFill>
        </p:spPr>
        <p:txBody>
          <a:bodyPr/>
          <a:lstStyle/>
          <a:p>
            <a:r>
              <a:rPr lang="es-AR" dirty="0"/>
              <a:t>Ventajas de un DBMS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</p:nvPr>
        </p:nvGraphicFramePr>
        <p:xfrm>
          <a:off x="628650" y="1825622"/>
          <a:ext cx="7886700" cy="4258699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39433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521423">
                <a:tc>
                  <a:txBody>
                    <a:bodyPr/>
                    <a:lstStyle/>
                    <a:p>
                      <a:r>
                        <a:rPr lang="es-AR" sz="1800" b="0" dirty="0"/>
                        <a:t>Control de la Redundancia</a:t>
                      </a:r>
                      <a:r>
                        <a:rPr lang="es-AR" sz="1800" b="0" baseline="0" dirty="0"/>
                        <a:t> de Datos</a:t>
                      </a:r>
                      <a:endParaRPr lang="es-AR" sz="1800" b="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b="0" dirty="0"/>
                        <a:t>Económica a escala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21423">
                <a:tc>
                  <a:txBody>
                    <a:bodyPr/>
                    <a:lstStyle/>
                    <a:p>
                      <a:r>
                        <a:rPr lang="es-AR" sz="1800" dirty="0"/>
                        <a:t>Consistencia</a:t>
                      </a:r>
                      <a:r>
                        <a:rPr lang="es-AR" sz="1800" baseline="0" dirty="0"/>
                        <a:t> de Datos</a:t>
                      </a:r>
                      <a:endParaRPr lang="es-AR" sz="18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Balanceado</a:t>
                      </a:r>
                      <a:r>
                        <a:rPr lang="es-AR" sz="1800" baseline="0" dirty="0"/>
                        <a:t> de Requerimientos en Conflicto</a:t>
                      </a:r>
                      <a:endParaRPr lang="es-AR" sz="18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19050" cap="flat" cmpd="sng" algn="ctr">
                      <a:noFill/>
                      <a:prstDash val="solid"/>
                      <a:miter lim="800000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21423">
                <a:tc>
                  <a:txBody>
                    <a:bodyPr/>
                    <a:lstStyle/>
                    <a:p>
                      <a:r>
                        <a:rPr lang="es-AR" sz="1800" dirty="0"/>
                        <a:t>Mas información de la misma cantidad de datos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Mejora en el acceso a datos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21423">
                <a:tc>
                  <a:txBody>
                    <a:bodyPr/>
                    <a:lstStyle/>
                    <a:p>
                      <a:r>
                        <a:rPr lang="es-AR" sz="1800" dirty="0"/>
                        <a:t>Compartición de Datos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Incremento de Productividad</a:t>
                      </a:r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07135">
                <a:tc>
                  <a:txBody>
                    <a:bodyPr/>
                    <a:lstStyle/>
                    <a:p>
                      <a:r>
                        <a:rPr lang="es-AR" sz="1800" dirty="0"/>
                        <a:t>Mejora</a:t>
                      </a:r>
                      <a:r>
                        <a:rPr lang="es-AR" sz="1800" baseline="0" dirty="0"/>
                        <a:t> en la Integridad de Datos</a:t>
                      </a:r>
                      <a:endParaRPr lang="es-AR" sz="1800" dirty="0"/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Mejora en el Mantenimiento gracias a la Independencia</a:t>
                      </a:r>
                      <a:r>
                        <a:rPr lang="es-AR" sz="1800" baseline="0" dirty="0"/>
                        <a:t> de Datos</a:t>
                      </a:r>
                      <a:endParaRPr lang="es-AR" sz="18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21423">
                <a:tc>
                  <a:txBody>
                    <a:bodyPr/>
                    <a:lstStyle/>
                    <a:p>
                      <a:r>
                        <a:rPr lang="es-AR" sz="1800" dirty="0"/>
                        <a:t>Mejora en la Seguridad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Incremento en</a:t>
                      </a:r>
                      <a:r>
                        <a:rPr lang="es-AR" sz="1800" baseline="0" dirty="0"/>
                        <a:t> la Concurrencia</a:t>
                      </a:r>
                      <a:endParaRPr lang="es-AR" sz="18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07135">
                <a:tc>
                  <a:txBody>
                    <a:bodyPr/>
                    <a:lstStyle/>
                    <a:p>
                      <a:r>
                        <a:rPr lang="es-AR" sz="1800" dirty="0"/>
                        <a:t>Refuerzo de Estándares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AR" sz="1800" dirty="0"/>
                        <a:t>Mejora en servicios</a:t>
                      </a:r>
                      <a:r>
                        <a:rPr lang="es-AR" sz="1800" baseline="0" dirty="0"/>
                        <a:t> de </a:t>
                      </a:r>
                      <a:r>
                        <a:rPr lang="es-AR" sz="1800" baseline="0" dirty="0" err="1"/>
                        <a:t>Backup</a:t>
                      </a:r>
                      <a:r>
                        <a:rPr lang="es-AR" sz="1800" baseline="0" dirty="0"/>
                        <a:t> y Recuperación de Datos</a:t>
                      </a:r>
                      <a:endParaRPr lang="es-AR" sz="1800" dirty="0"/>
                    </a:p>
                  </a:txBody>
                  <a:tcPr>
                    <a:lnL>
                      <a:noFill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43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757238"/>
            <a:ext cx="7886700" cy="933451"/>
          </a:xfrm>
          <a:solidFill>
            <a:srgbClr val="0070C0"/>
          </a:solidFill>
        </p:spPr>
        <p:txBody>
          <a:bodyPr/>
          <a:lstStyle/>
          <a:p>
            <a:r>
              <a:rPr lang="es-AR" dirty="0"/>
              <a:t>Desventajas de un DBMS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3354042"/>
              </p:ext>
            </p:extLst>
          </p:nvPr>
        </p:nvGraphicFramePr>
        <p:xfrm>
          <a:off x="628650" y="1825624"/>
          <a:ext cx="7886700" cy="3570623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78867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b="0" dirty="0"/>
                        <a:t>Complejidad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190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Tamaño</a:t>
                      </a:r>
                    </a:p>
                  </a:txBody>
                  <a:tcPr>
                    <a:lnT w="19050" cap="flat" cmpd="sng" algn="ctr">
                      <a:noFill/>
                      <a:prstDash val="solid"/>
                      <a:miter lim="800000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Costo de DBMS</a:t>
                      </a:r>
                    </a:p>
                  </a:txBody>
                  <a:tcPr>
                    <a:lnB>
                      <a:noFill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Costo Adicional de Hardware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miter lim="800000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Costo de Conversión</a:t>
                      </a:r>
                    </a:p>
                  </a:txBody>
                  <a:tcPr>
                    <a:lnT>
                      <a:noFill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Performance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0089">
                <a:tc>
                  <a:txBody>
                    <a:bodyPr/>
                    <a:lstStyle/>
                    <a:p>
                      <a:pPr algn="l"/>
                      <a:r>
                        <a:rPr lang="es-AR" sz="2400" dirty="0"/>
                        <a:t>Mayor impacto ante</a:t>
                      </a:r>
                      <a:r>
                        <a:rPr lang="es-AR" sz="2400" baseline="0" dirty="0"/>
                        <a:t> un Fallo.</a:t>
                      </a:r>
                      <a:endParaRPr lang="es-AR" sz="2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62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/>
          </p:cNvSpPr>
          <p:nvPr>
            <p:ph type="title"/>
          </p:nvPr>
        </p:nvSpPr>
        <p:spPr>
          <a:xfrm>
            <a:off x="300039" y="757237"/>
            <a:ext cx="8386762" cy="581025"/>
          </a:xfrm>
          <a:solidFill>
            <a:srgbClr val="0070C0"/>
          </a:solidFill>
        </p:spPr>
        <p:txBody>
          <a:bodyPr>
            <a:normAutofit/>
          </a:bodyPr>
          <a:lstStyle/>
          <a:p>
            <a:pPr eaLnBrk="1" hangingPunct="1"/>
            <a:r>
              <a:rPr lang="es-ES_tradnl" altLang="es-ES" sz="3200" b="1" dirty="0" smtClean="0">
                <a:ln>
                  <a:noFill/>
                </a:ln>
                <a:latin typeface="Arial" panose="020B0604020202020204" pitchFamily="34" charset="0"/>
                <a:cs typeface="Arial" panose="020B0604020202020204" pitchFamily="34" charset="0"/>
              </a:rPr>
              <a:t>Tendencias en BD</a:t>
            </a:r>
          </a:p>
        </p:txBody>
      </p:sp>
      <p:sp>
        <p:nvSpPr>
          <p:cNvPr id="7" name="Rectangle 3"/>
          <p:cNvSpPr>
            <a:spLocks noGrp="1"/>
          </p:cNvSpPr>
          <p:nvPr>
            <p:ph idx="1"/>
          </p:nvPr>
        </p:nvSpPr>
        <p:spPr>
          <a:xfrm>
            <a:off x="300038" y="1509713"/>
            <a:ext cx="8386763" cy="4533900"/>
          </a:xfrm>
        </p:spPr>
        <p:txBody>
          <a:bodyPr>
            <a:normAutofit lnSpcReduction="10000"/>
          </a:bodyPr>
          <a:lstStyle/>
          <a:p>
            <a:pPr lvl="1" algn="just" eaLnBrk="1" hangingPunct="1">
              <a:lnSpc>
                <a:spcPct val="80000"/>
              </a:lnSpc>
              <a:buFontTx/>
              <a:buNone/>
            </a:pPr>
            <a:endParaRPr lang="es-ES_tradnl" altLang="es-ES" sz="2400" dirty="0" smtClean="0"/>
          </a:p>
          <a:p>
            <a:pPr lvl="1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/>
              <a:t>Sistemas para el soporte para la toma de decisiones (</a:t>
            </a:r>
            <a:r>
              <a:rPr lang="es-ES_tradnl" altLang="es-ES" sz="2400" i="1" dirty="0" smtClean="0"/>
              <a:t>Data </a:t>
            </a:r>
            <a:r>
              <a:rPr lang="es-ES_tradnl" altLang="es-ES" sz="2400" i="1" dirty="0" err="1" smtClean="0"/>
              <a:t>Warehouse</a:t>
            </a:r>
            <a:r>
              <a:rPr lang="es-ES_tradnl" altLang="es-ES" sz="2400" dirty="0" smtClean="0"/>
              <a:t>). </a:t>
            </a:r>
          </a:p>
          <a:p>
            <a:pPr lvl="1" algn="just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/>
              <a:t>BD deductivas, temporales, </a:t>
            </a:r>
            <a:r>
              <a:rPr lang="es-ES_tradnl" altLang="es-ES" sz="2400" dirty="0" err="1" smtClean="0"/>
              <a:t>multimediales</a:t>
            </a:r>
            <a:r>
              <a:rPr lang="es-ES_tradnl" altLang="es-ES" sz="2400" dirty="0" smtClean="0"/>
              <a:t> (imágenes, audio, videos) </a:t>
            </a:r>
            <a:r>
              <a:rPr lang="es-ES_tradnl" altLang="es-ES" sz="2400" dirty="0" smtClean="0">
                <a:sym typeface="Wingdings" panose="05000000000000000000" pitchFamily="2" charset="2"/>
              </a:rPr>
              <a:t> consultas sobre estos tipos de datos</a:t>
            </a:r>
            <a:r>
              <a:rPr lang="es-ES_tradnl" altLang="es-ES" sz="2400" dirty="0" smtClean="0"/>
              <a:t>.</a:t>
            </a:r>
          </a:p>
          <a:p>
            <a:pPr lvl="1" algn="just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/>
              <a:t>BD orientadas a dispositivos móviles.</a:t>
            </a:r>
          </a:p>
          <a:p>
            <a:pPr lvl="1" algn="just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/>
              <a:t>Datos </a:t>
            </a:r>
            <a:r>
              <a:rPr lang="es-ES_tradnl" altLang="es-ES" sz="2400" dirty="0" err="1" smtClean="0"/>
              <a:t>georeferenciados</a:t>
            </a:r>
            <a:r>
              <a:rPr lang="es-ES_tradnl" altLang="es-ES" sz="2400" dirty="0" smtClean="0"/>
              <a:t>: Sistemas de Información Geográficos (SIG), </a:t>
            </a:r>
            <a:r>
              <a:rPr lang="es-ES_tradnl" altLang="es-ES" sz="2400" dirty="0" smtClean="0">
                <a:solidFill>
                  <a:srgbClr val="0099FF"/>
                </a:solidFill>
              </a:rPr>
              <a:t>trayectorias</a:t>
            </a:r>
            <a:r>
              <a:rPr lang="es-ES_tradnl" altLang="es-ES" sz="2400" dirty="0" smtClean="0"/>
              <a:t>.</a:t>
            </a:r>
          </a:p>
          <a:p>
            <a:pPr lvl="1" algn="just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/>
              <a:t>BD nativas para XML.</a:t>
            </a:r>
            <a:endParaRPr lang="es-ES" altLang="es-ES" sz="2400" dirty="0" smtClean="0"/>
          </a:p>
          <a:p>
            <a:pPr lvl="1" algn="just" eaLnBrk="1" hangingPunct="1">
              <a:lnSpc>
                <a:spcPct val="80000"/>
              </a:lnSpc>
              <a:spcAft>
                <a:spcPct val="50000"/>
              </a:spcAft>
              <a:buClr>
                <a:schemeClr val="tx1"/>
              </a:buClr>
              <a:buFont typeface="Wingdings" panose="05000000000000000000" pitchFamily="2" charset="2"/>
              <a:buChar char="ð"/>
            </a:pPr>
            <a:r>
              <a:rPr lang="es-ES_tradnl" altLang="es-ES" sz="2400" dirty="0" smtClean="0">
                <a:solidFill>
                  <a:srgbClr val="0099FF"/>
                </a:solidFill>
              </a:rPr>
              <a:t>Big Data: BD </a:t>
            </a:r>
            <a:r>
              <a:rPr lang="es-ES_tradnl" altLang="es-ES" sz="2400" dirty="0" err="1" smtClean="0">
                <a:solidFill>
                  <a:srgbClr val="0099FF"/>
                </a:solidFill>
              </a:rPr>
              <a:t>NoSQL</a:t>
            </a:r>
            <a:r>
              <a:rPr lang="es-ES_tradnl" altLang="es-ES" sz="2400" dirty="0" smtClean="0">
                <a:solidFill>
                  <a:srgbClr val="0099FF"/>
                </a:solidFill>
              </a:rPr>
              <a:t> (</a:t>
            </a:r>
            <a:r>
              <a:rPr lang="es-ES_tradnl" altLang="es-ES" sz="2400" i="1" dirty="0" err="1" smtClean="0">
                <a:solidFill>
                  <a:srgbClr val="0099FF"/>
                </a:solidFill>
              </a:rPr>
              <a:t>Not</a:t>
            </a:r>
            <a:r>
              <a:rPr lang="es-ES_tradnl" altLang="es-ES" sz="2400" i="1" dirty="0" smtClean="0">
                <a:solidFill>
                  <a:srgbClr val="0099FF"/>
                </a:solidFill>
              </a:rPr>
              <a:t> </a:t>
            </a:r>
            <a:r>
              <a:rPr lang="es-ES_tradnl" altLang="es-ES" sz="2400" b="1" i="1" dirty="0" err="1" smtClean="0">
                <a:solidFill>
                  <a:srgbClr val="0099FF"/>
                </a:solidFill>
              </a:rPr>
              <a:t>only</a:t>
            </a:r>
            <a:r>
              <a:rPr lang="es-ES_tradnl" altLang="es-ES" sz="2400" i="1" dirty="0" smtClean="0">
                <a:solidFill>
                  <a:srgbClr val="0099FF"/>
                </a:solidFill>
              </a:rPr>
              <a:t> SQL</a:t>
            </a:r>
            <a:r>
              <a:rPr lang="es-ES_tradnl" altLang="es-ES" sz="2400" dirty="0" smtClean="0">
                <a:solidFill>
                  <a:srgbClr val="0099FF"/>
                </a:solidFill>
              </a:rPr>
              <a:t>) </a:t>
            </a:r>
            <a:r>
              <a:rPr lang="es-ES_tradnl" altLang="es-ES" sz="2400" dirty="0" smtClean="0">
                <a:solidFill>
                  <a:srgbClr val="0099FF"/>
                </a:solidFill>
                <a:sym typeface="Wingdings" panose="05000000000000000000" pitchFamily="2" charset="2"/>
              </a:rPr>
              <a:t> No garantizan ACID</a:t>
            </a:r>
            <a:r>
              <a:rPr lang="es-ES_tradnl" altLang="es-ES" sz="2400" dirty="0" smtClean="0">
                <a:solidFill>
                  <a:srgbClr val="0099FF"/>
                </a:solidFill>
              </a:rPr>
              <a:t>. Documentos JSON.</a:t>
            </a:r>
          </a:p>
        </p:txBody>
      </p:sp>
    </p:spTree>
    <p:extLst>
      <p:ext uri="{BB962C8B-B14F-4D97-AF65-F5344CB8AC3E}">
        <p14:creationId xmlns:p14="http://schemas.microsoft.com/office/powerpoint/2010/main" val="1324116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3957637" y="1500188"/>
            <a:ext cx="2896073" cy="1926668"/>
          </a:xfrm>
        </p:spPr>
        <p:txBody>
          <a:bodyPr>
            <a:noAutofit/>
          </a:bodyPr>
          <a:lstStyle/>
          <a:p>
            <a:r>
              <a:rPr lang="es-AR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FIN</a:t>
            </a:r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188" y="1841896"/>
            <a:ext cx="5384799" cy="4038600"/>
          </a:xfrm>
        </p:spPr>
      </p:pic>
    </p:spTree>
    <p:extLst>
      <p:ext uri="{BB962C8B-B14F-4D97-AF65-F5344CB8AC3E}">
        <p14:creationId xmlns:p14="http://schemas.microsoft.com/office/powerpoint/2010/main" val="202241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lase ISPRMM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BD.potx" id="{FF81F31E-91FB-4AAE-B9B4-41066F83A4AF}" vid="{14ED157B-45B2-4CB0-923A-B2B40686894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729</Words>
  <Application>Microsoft Office PowerPoint</Application>
  <PresentationFormat>Presentación en pantalla (4:3)</PresentationFormat>
  <Paragraphs>101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Arial Nova</vt:lpstr>
      <vt:lpstr>Calibri</vt:lpstr>
      <vt:lpstr>Wingdings</vt:lpstr>
      <vt:lpstr>Tema de Office</vt:lpstr>
      <vt:lpstr>Bases de Datos I</vt:lpstr>
      <vt:lpstr>Sistemas de Bases de Datos</vt:lpstr>
      <vt:lpstr>Características Deseables de un BDMS</vt:lpstr>
      <vt:lpstr>Presentación de PowerPoint</vt:lpstr>
      <vt:lpstr>Presentación de PowerPoint</vt:lpstr>
      <vt:lpstr>Características Deseables de un BDMS</vt:lpstr>
      <vt:lpstr>Características Deseables de un BDMS</vt:lpstr>
      <vt:lpstr>Características Deseables de un BDMS</vt:lpstr>
      <vt:lpstr>Presentación de PowerPoint</vt:lpstr>
      <vt:lpstr>Estructura de DBMS</vt:lpstr>
      <vt:lpstr>Estructura de DBMS</vt:lpstr>
      <vt:lpstr>SGBD - Componentes</vt:lpstr>
      <vt:lpstr>Presentación de PowerPoint</vt:lpstr>
      <vt:lpstr>Funciones de un DBMS</vt:lpstr>
      <vt:lpstr>Ventajas de un DBMS</vt:lpstr>
      <vt:lpstr>Desventajas de un DBMS</vt:lpstr>
      <vt:lpstr>Tendencias en BD</vt:lpstr>
      <vt:lpstr>FIN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Bruno Manuel Sosa</dc:creator>
  <cp:lastModifiedBy>patricia</cp:lastModifiedBy>
  <cp:revision>10</cp:revision>
  <dcterms:created xsi:type="dcterms:W3CDTF">2022-08-13T13:37:02Z</dcterms:created>
  <dcterms:modified xsi:type="dcterms:W3CDTF">2024-03-19T19:18:57Z</dcterms:modified>
</cp:coreProperties>
</file>