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2" r:id="rId9"/>
    <p:sldId id="295" r:id="rId10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40" autoAdjust="0"/>
  </p:normalViewPr>
  <p:slideViewPr>
    <p:cSldViewPr snapToGrid="0">
      <p:cViewPr varScale="1">
        <p:scale>
          <a:sx n="85" d="100"/>
          <a:sy n="85" d="100"/>
        </p:scale>
        <p:origin x="1363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2DB97-1324-49FD-B3AB-EB7D1E36D080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EDB96-3D33-4F4D-AECF-EC54F0BFCBE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396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EDB96-3D33-4F4D-AECF-EC54F0BFCBE4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223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83C04EC-1BB0-B300-1DD8-45B3091EBF79}"/>
              </a:ext>
            </a:extLst>
          </p:cNvPr>
          <p:cNvSpPr/>
          <p:nvPr userDrawn="1"/>
        </p:nvSpPr>
        <p:spPr>
          <a:xfrm>
            <a:off x="8449911" y="53439"/>
            <a:ext cx="694088" cy="68045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7694B84E-B012-31C5-04DC-0D112C8DFB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3F73D9E-94BF-DA63-6996-4989E345F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D6C57B-53A8-EBD5-21D2-35984D2F0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6D89B-4AFE-AD7B-0070-CA560120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522" y="6351361"/>
            <a:ext cx="7642389" cy="365125"/>
          </a:xfrm>
        </p:spPr>
        <p:txBody>
          <a:bodyPr/>
          <a:lstStyle/>
          <a:p>
            <a:fld id="{522BE127-9856-4054-BF95-BFE53DDBC6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11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72735DD-3B16-9107-4488-521099D74D20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24E221-7D8D-4D24-D383-2F7CD99B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174A32-E6B8-6468-33C8-55EAFBFEF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849FC3D4-2363-1493-739E-7730FE405F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1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44C43-4F3D-8671-6082-ACF34064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2BE0B-143D-E0C8-81A6-0B6A2A55B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4798DE-AF1A-F3EB-697B-94EF18A2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A581D9-B4D1-0FC6-ED76-804110E5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6D42E-25E5-2072-014F-457FCC82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1B7C0C9E-AD00-DDCC-EC54-8F4D99EC0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5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A6405C0-5214-E6A8-47D6-38D67A4A24AB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Arial Nova" panose="020B0504020202020204" pitchFamily="34" charset="0"/>
            </a:endParaRPr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6B686260-CC66-80DA-7452-530477E355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594E81-873A-ED93-C735-834D381E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13C620-6010-E101-8A28-5E35C77C7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023731-3F28-F74A-E514-A008088ED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ADA76B-0564-D9B2-BBD9-E5929496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BC37B5-6090-0ECA-DBFA-B44881FE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FA9E11-A02D-54EB-0B1A-DE1F2365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870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4704E23-3F7D-118A-9D26-C2A0A722A08F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Arial Nova" panose="020B0504020202020204" pitchFamily="34" charset="0"/>
            </a:endParaRPr>
          </a:p>
        </p:txBody>
      </p:sp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36510483-F031-9BF3-5648-88FFFE26F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6D54EA-50AE-9BC2-30AC-32F277B7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F996B2-8591-61B4-3028-6388AD5B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B0A12F-D484-EE30-023D-E05B7E093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8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11CC4-A120-5A4C-A154-67ECD047B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249824-0AAD-5661-131B-33D18EDC0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8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1950E0-799C-2981-CF41-98FEBF31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DE170F-51C4-12C5-445B-EC6C5446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585FF4-D0D5-3C9D-F2D3-1BC5A4AD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851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F1CB7C11-E2DC-4C87-E8BF-158B1293F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E3FD26A-79E6-1CE7-33D3-60A3C77E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568965-9ED1-120B-9459-3CA45E2D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704F6F-8789-981E-4C27-A58A7D07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2157F0-CE71-6C93-7AD7-46C882E8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012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6266B280-68DF-34B6-1ED5-FD6A7D020E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A855BC-B166-4639-C80C-BFF59165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68F156-CDE3-F6AA-9983-C0825C82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5FC38F-2E3E-8BB3-DE4A-22CB5C08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E127-9856-4054-BF95-BFE53DDBC6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207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11E14A04-B191-A482-55B9-BFAA32780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53DF4C-5C85-C608-EDA9-FADFB87AC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3B0A8F-D22F-F5CD-2FF9-83A5BD75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Arial Nova" panose="020B0504020202020204" pitchFamily="34" charset="0"/>
              </a:defRPr>
            </a:lvl1pPr>
            <a:lvl2pPr>
              <a:defRPr sz="2800">
                <a:latin typeface="Arial Nova" panose="020B0504020202020204" pitchFamily="34" charset="0"/>
              </a:defRPr>
            </a:lvl2pPr>
            <a:lvl3pPr>
              <a:defRPr sz="2400">
                <a:latin typeface="Arial Nova" panose="020B0504020202020204" pitchFamily="34" charset="0"/>
              </a:defRPr>
            </a:lvl3pPr>
            <a:lvl4pPr>
              <a:defRPr sz="2000">
                <a:latin typeface="Arial Nova" panose="020B0504020202020204" pitchFamily="34" charset="0"/>
              </a:defRPr>
            </a:lvl4pPr>
            <a:lvl5pPr>
              <a:defRPr sz="2000">
                <a:latin typeface="Arial Nova" panose="020B05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06C5D6-139B-CC8D-AB19-1B6DB3AA8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Arial Nova" panose="020B05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644512-3A9F-FDF8-ECD7-830D0752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37EE07-5147-4F90-EA7F-89FB2EDC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F8AE94-9EB4-7393-D79B-2EE759B9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92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51635144-7A66-851B-6CF6-B9583B47D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834816-5F06-14BF-3E79-C0B46E27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39E45B-BDE7-AA03-65BA-B0FFA02D6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Arial Nova" panose="020B05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2FA824-8ACF-42B9-7303-05C5FCA5C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Arial Nova" panose="020B05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19BA93-3F32-336D-A0B9-42DFCCC4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A60753-3A3E-35E7-D567-91E81730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2BC01C-0718-6E34-A5AB-775C26E0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01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D211FC79-3207-033A-8689-FF7C303104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E30248-AD78-2A08-2702-45C5C49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8823CB-602C-604D-A16C-6E1F40C9C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882FCF-27A3-C6BC-7FC8-E2343B9F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7CAA22-6D6D-918D-6A21-C0AE506E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9C3CAE-31D6-B89D-745B-DFFFB224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300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24EB53E1-4473-FD2F-AEE8-A7C7BA2E6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C10135-5A51-DBD6-BFCD-C56709AA0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9CF9BA-7C62-8F9A-B4D5-6C233CF59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6A7238-82AB-6B53-1FD5-952B8863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1B1659-ED7F-B169-5FB9-B166DFEE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C9001-B0FC-63ED-C3C4-072A7169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795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1158DD-CBEF-4805-BFB2-F7DBCA62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8DDC70-7CD0-F491-7066-29DFC859F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BD5B7E-78F5-1FAD-7B9D-FC63685A2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57D191-252B-77E0-A256-C4CA28E78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FACULTAD DE INGENIERIA Y TECNOLOGIA - BASE DE DATOS - SEDE CENTRAL</a:t>
            </a:r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A2EAC-8AFF-E514-8A45-E9A5D5755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947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CCE6FAE-455A-9B11-B622-CE242232480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58486" y="4139920"/>
            <a:ext cx="8386762" cy="11211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AR" dirty="0">
              <a:latin typeface="Arial Nova" panose="020B0504020202020204" pitchFamily="34" charset="0"/>
            </a:endParaRPr>
          </a:p>
          <a:p>
            <a:pPr marL="0" indent="0" algn="ctr">
              <a:buNone/>
            </a:pPr>
            <a:r>
              <a:rPr lang="es-AR" dirty="0">
                <a:latin typeface="Arial Nova" panose="020B0504020202020204" pitchFamily="34" charset="0"/>
              </a:rPr>
              <a:t>Lic. en Sistemas de Información </a:t>
            </a:r>
          </a:p>
          <a:p>
            <a:pPr marL="0" indent="0" algn="ctr">
              <a:buNone/>
            </a:pPr>
            <a:endParaRPr lang="es-AR" dirty="0">
              <a:latin typeface="Arial Nova" panose="020B05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AEDFE2C-B9D3-99C3-5429-F00E22D58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6" y="2998694"/>
            <a:ext cx="8386762" cy="10578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b="1" dirty="0">
                <a:latin typeface="Arial Unicode MS" pitchFamily="34" charset="-128"/>
                <a:ea typeface="Arial Unicode MS" pitchFamily="34" charset="-128"/>
              </a:rPr>
              <a:t>Transformación del Modelo CHEN al Modelo Relacional</a:t>
            </a:r>
          </a:p>
        </p:txBody>
      </p:sp>
      <p:pic>
        <p:nvPicPr>
          <p:cNvPr id="5" name="Marcador de contenido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180" y="724152"/>
            <a:ext cx="3028950" cy="224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5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C36F9B25-EF96-45A9-3E67-B9F3DF551D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623" y="2245659"/>
            <a:ext cx="8229600" cy="3424612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Se transformará el esquema conceptual (MER) a un esquema relacional. </a:t>
            </a:r>
          </a:p>
          <a:p>
            <a:pPr marL="0" indent="0">
              <a:buFontTx/>
              <a:buNone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Este esquema sigue siendo independiente de SGBD.</a:t>
            </a:r>
          </a:p>
          <a:p>
            <a:pPr marL="0" indent="0">
              <a:buFontTx/>
              <a:buNone/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El paso del esquema MER al relacional se basa en los siguientes principios:</a:t>
            </a:r>
            <a:endParaRPr lang="es-CL" altLang="es-AR" sz="2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49623" y="887507"/>
            <a:ext cx="8485095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3200" b="1" dirty="0">
                <a:solidFill>
                  <a:schemeClr val="bg1"/>
                </a:solidFill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390229D9-BC1C-66BE-8DC7-BA70C430EB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02296"/>
            <a:ext cx="8229600" cy="490330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FontTx/>
              <a:buAutoNum type="arabicPeriod"/>
            </a:pPr>
            <a:r>
              <a:rPr lang="es-ES" altLang="es-AR" sz="2800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s-ES" altLang="es-AR" sz="2400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Todo tipo de entidad se convierte en relación.</a:t>
            </a: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" altLang="es-AR" sz="2000" dirty="0">
                <a:latin typeface="+mn-lt"/>
                <a:cs typeface="Arial" panose="020B0604020202020204" pitchFamily="34" charset="0"/>
              </a:rPr>
              <a:t>Cada entidad del MER da lugar a una nueva relación. </a:t>
            </a:r>
          </a:p>
          <a:p>
            <a:pPr marL="0" indent="0" algn="just">
              <a:lnSpc>
                <a:spcPct val="80000"/>
              </a:lnSpc>
            </a:pPr>
            <a:r>
              <a:rPr lang="es-ES" altLang="es-AR" sz="20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Identificador principal</a:t>
            </a:r>
            <a:r>
              <a:rPr lang="es-ES" altLang="es-AR" sz="20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atributo(s) que forman la clave primaria de la nueva relación. </a:t>
            </a: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" altLang="es-AR" sz="2000" dirty="0">
                <a:latin typeface="+mn-lt"/>
                <a:cs typeface="Arial" panose="020B0604020202020204" pitchFamily="34" charset="0"/>
              </a:rPr>
              <a:t>Cada atributo de una entidad se transforma en un atributo de esta relación. Tomar en cuenta:</a:t>
            </a:r>
          </a:p>
          <a:p>
            <a:pPr marL="0" indent="0" algn="just">
              <a:lnSpc>
                <a:spcPct val="80000"/>
              </a:lnSpc>
            </a:pPr>
            <a:r>
              <a:rPr lang="es-ES" altLang="es-AR" sz="20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Atributos obligatorios</a:t>
            </a:r>
            <a:r>
              <a:rPr lang="es-ES" altLang="es-AR" sz="20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atributos que </a:t>
            </a:r>
            <a:r>
              <a:rPr lang="es-ES" altLang="es-AR" sz="2000" b="1" dirty="0">
                <a:latin typeface="+mn-lt"/>
                <a:cs typeface="Arial" panose="020B0604020202020204" pitchFamily="34" charset="0"/>
              </a:rPr>
              <a:t>deben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contar con un valor en la tabla, no debe aceptar valores nulos. (restricción NOT NULL.)</a:t>
            </a:r>
            <a:endParaRPr lang="es-ES" altLang="es-AR" sz="2000" b="1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</a:pPr>
            <a:r>
              <a:rPr lang="es-ES" altLang="es-AR" sz="20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Atributos opcionales</a:t>
            </a:r>
            <a:r>
              <a:rPr lang="es-ES" altLang="es-AR" sz="20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atributos que pueden tomar valores nulos (no se conoce el valor,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etc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NULL)</a:t>
            </a:r>
            <a:endParaRPr lang="es-ES" altLang="es-AR" sz="2000" b="1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</a:pPr>
            <a:r>
              <a:rPr lang="es-ES" altLang="es-AR" sz="20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Identificador alternativo</a:t>
            </a:r>
            <a:r>
              <a:rPr lang="es-ES" altLang="es-AR" sz="20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atributo alternativo en la entidad que debe ser único en la relación (restricción UNIQUE)</a:t>
            </a:r>
            <a:endParaRPr lang="es-ES" altLang="es-AR" sz="2000" b="1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</a:pPr>
            <a:r>
              <a:rPr lang="es-ES" altLang="es-AR" sz="20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Atributos </a:t>
            </a:r>
            <a:r>
              <a:rPr lang="es-ES" altLang="es-AR" sz="2000" b="1" dirty="0" err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monovaluados</a:t>
            </a:r>
            <a:r>
              <a:rPr lang="es-ES" altLang="es-AR" sz="20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dan lugar a un atributo de la relación.</a:t>
            </a:r>
            <a:endParaRPr lang="es-CL" altLang="es-AR" sz="2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852E3E8-1A23-364C-C73A-B8CC7450F5D7}"/>
              </a:ext>
            </a:extLst>
          </p:cNvPr>
          <p:cNvSpPr txBox="1"/>
          <p:nvPr/>
        </p:nvSpPr>
        <p:spPr>
          <a:xfrm>
            <a:off x="457200" y="728870"/>
            <a:ext cx="82296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0D0D8F80-DC80-053A-FDA8-9382F29E09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83665"/>
            <a:ext cx="8229600" cy="2592388"/>
          </a:xfrm>
        </p:spPr>
        <p:txBody>
          <a:bodyPr/>
          <a:lstStyle/>
          <a:p>
            <a:pPr marL="0" indent="0">
              <a:buFontTx/>
              <a:buNone/>
            </a:pPr>
            <a:endParaRPr lang="es-ES" altLang="es-AR" sz="2400" dirty="0"/>
          </a:p>
          <a:p>
            <a:pPr marL="0" indent="0">
              <a:buFontTx/>
              <a:buNone/>
            </a:pPr>
            <a:r>
              <a:rPr lang="es-ES" altLang="es-AR" sz="2400" b="1" dirty="0"/>
              <a:t>Cliente</a:t>
            </a:r>
            <a:r>
              <a:rPr lang="es-ES" altLang="es-AR" sz="2400" dirty="0"/>
              <a:t> (</a:t>
            </a:r>
            <a:r>
              <a:rPr lang="es-ES" altLang="es-AR" sz="2400" u="sng" dirty="0" err="1"/>
              <a:t>id_cliente</a:t>
            </a:r>
            <a:r>
              <a:rPr lang="es-ES" altLang="es-AR" sz="2400" dirty="0"/>
              <a:t>, </a:t>
            </a:r>
            <a:r>
              <a:rPr lang="es-ES" altLang="es-AR" sz="2400" dirty="0" err="1"/>
              <a:t>nombre_cliente</a:t>
            </a:r>
            <a:r>
              <a:rPr lang="es-ES" altLang="es-AR" sz="2400" dirty="0"/>
              <a:t>, </a:t>
            </a:r>
            <a:r>
              <a:rPr lang="es-ES" altLang="es-AR" sz="2400" dirty="0" err="1"/>
              <a:t>calle_cliente</a:t>
            </a:r>
            <a:r>
              <a:rPr lang="es-ES" altLang="es-AR" sz="2400" dirty="0"/>
              <a:t>, </a:t>
            </a:r>
            <a:r>
              <a:rPr lang="es-ES" altLang="es-AR" sz="2400" dirty="0" err="1"/>
              <a:t>ciudad_cliente</a:t>
            </a:r>
            <a:r>
              <a:rPr lang="es-ES" altLang="es-AR" sz="2400" dirty="0"/>
              <a:t>) PK: </a:t>
            </a:r>
            <a:r>
              <a:rPr lang="es-ES" altLang="es-AR" sz="2400" dirty="0" err="1"/>
              <a:t>id_cliente</a:t>
            </a:r>
            <a:endParaRPr lang="es-ES" altLang="es-AR" sz="2400" dirty="0"/>
          </a:p>
          <a:p>
            <a:pPr marL="0" indent="0">
              <a:buFontTx/>
              <a:buNone/>
            </a:pPr>
            <a:endParaRPr lang="en-GB" altLang="es-AR" sz="2400" dirty="0"/>
          </a:p>
          <a:p>
            <a:pPr marL="0" indent="0">
              <a:buFontTx/>
              <a:buNone/>
            </a:pPr>
            <a:r>
              <a:rPr lang="en-GB" altLang="es-AR" sz="2400" dirty="0"/>
              <a:t>(PK: primary key-&gt;clave </a:t>
            </a:r>
            <a:r>
              <a:rPr lang="en-GB" altLang="es-AR" sz="2400" dirty="0" err="1"/>
              <a:t>primaria</a:t>
            </a:r>
            <a:r>
              <a:rPr lang="en-GB" altLang="es-AR" sz="2400" dirty="0"/>
              <a:t>)</a:t>
            </a:r>
            <a:endParaRPr lang="es-CL" altLang="es-AR" sz="2400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6417348-182B-1A4A-78B8-CA85DE467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AR" altLang="es-AR" sz="2400"/>
          </a:p>
        </p:txBody>
      </p:sp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67802E83-E24C-7D61-F3F0-3BFDDA0AE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498193"/>
              </p:ext>
            </p:extLst>
          </p:nvPr>
        </p:nvGraphicFramePr>
        <p:xfrm>
          <a:off x="1763713" y="1754878"/>
          <a:ext cx="47529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2495774" imgH="677732" progId="SmartDraw.2">
                  <p:embed/>
                </p:oleObj>
              </mc:Choice>
              <mc:Fallback>
                <p:oleObj r:id="rId3" imgW="2495774" imgH="677732" progId="SmartDraw.2">
                  <p:embed/>
                  <p:pic>
                    <p:nvPicPr>
                      <p:cNvPr id="37892" name="Object 4">
                        <a:extLst>
                          <a:ext uri="{FF2B5EF4-FFF2-40B4-BE49-F238E27FC236}">
                            <a16:creationId xmlns:a16="http://schemas.microsoft.com/office/drawing/2014/main" id="{67802E83-E24C-7D61-F3F0-3BFDDA0AE9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754878"/>
                        <a:ext cx="47529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D5A94B23-2B5E-84A9-2BF5-28B23AFB9B9E}"/>
              </a:ext>
            </a:extLst>
          </p:cNvPr>
          <p:cNvSpPr txBox="1"/>
          <p:nvPr/>
        </p:nvSpPr>
        <p:spPr>
          <a:xfrm>
            <a:off x="457200" y="728870"/>
            <a:ext cx="8310282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3E0FE502-3DAA-0F05-FA17-8A274E78DD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1810"/>
            <a:ext cx="8229600" cy="4611753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s-ES" altLang="es-AR" sz="24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Atributos multivaluados</a:t>
            </a:r>
            <a:r>
              <a:rPr lang="es-ES" altLang="es-AR" sz="24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400" dirty="0">
                <a:latin typeface="+mn-lt"/>
                <a:cs typeface="Arial" panose="020B0604020202020204" pitchFamily="34" charset="0"/>
              </a:rPr>
              <a:t>dan lugar a una nueva relación cuya clave primaria es la concatenación de la clave primaria de la entidad en la que está el atributo multivaluado mas el nombre del atributo multivaluado.</a:t>
            </a:r>
          </a:p>
          <a:p>
            <a:pPr marL="0" indent="0"/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/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/>
            <a:endParaRPr lang="es-ES" altLang="es-AR" sz="2400" b="1" dirty="0">
              <a:latin typeface="+mn-lt"/>
              <a:cs typeface="Arial" panose="020B0604020202020204" pitchFamily="34" charset="0"/>
            </a:endParaRPr>
          </a:p>
          <a:p>
            <a:pPr marL="0" indent="0"/>
            <a:endParaRPr lang="es-ES" altLang="es-AR" sz="2400" b="1" dirty="0">
              <a:latin typeface="+mn-lt"/>
              <a:cs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s-ES" altLang="es-AR" sz="2000" b="1" dirty="0">
                <a:latin typeface="+mn-lt"/>
                <a:cs typeface="Arial" panose="020B0604020202020204" pitchFamily="34" charset="0"/>
              </a:rPr>
              <a:t>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nombre_cliente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direccion_cliente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) PK: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id_cliente</a:t>
            </a:r>
            <a:endParaRPr lang="es-ES" altLang="es-AR" sz="2000" b="1" dirty="0">
              <a:latin typeface="+mn-lt"/>
              <a:cs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s-ES" altLang="es-AR" sz="2000" b="1" dirty="0" err="1">
                <a:latin typeface="+mn-lt"/>
                <a:cs typeface="Arial" panose="020B0604020202020204" pitchFamily="34" charset="0"/>
              </a:rPr>
              <a:t>Teléfonos_cliente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telefono_cliente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) PK: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telefono_cliente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; FK: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referencia a Cliente.</a:t>
            </a:r>
          </a:p>
          <a:p>
            <a:pPr marL="0" indent="0">
              <a:buFontTx/>
              <a:buNone/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FK: </a:t>
            </a:r>
            <a:r>
              <a:rPr lang="es-ES" altLang="es-AR" sz="2400" dirty="0" err="1">
                <a:latin typeface="+mn-lt"/>
                <a:cs typeface="Arial" panose="020B0604020202020204" pitchFamily="34" charset="0"/>
              </a:rPr>
              <a:t>foreign</a:t>
            </a:r>
            <a:r>
              <a:rPr lang="es-ES" altLang="es-AR" sz="2400" dirty="0">
                <a:latin typeface="+mn-lt"/>
                <a:cs typeface="Arial" panose="020B0604020202020204" pitchFamily="34" charset="0"/>
              </a:rPr>
              <a:t> </a:t>
            </a:r>
            <a:r>
              <a:rPr lang="es-ES" altLang="es-AR" sz="2400" dirty="0" err="1">
                <a:latin typeface="+mn-lt"/>
                <a:cs typeface="Arial" panose="020B0604020202020204" pitchFamily="34" charset="0"/>
              </a:rPr>
              <a:t>key</a:t>
            </a:r>
            <a:r>
              <a:rPr lang="es-ES" altLang="es-AR" sz="2400" dirty="0">
                <a:latin typeface="+mn-lt"/>
                <a:cs typeface="Arial" panose="020B0604020202020204" pitchFamily="34" charset="0"/>
              </a:rPr>
              <a:t>-&gt;clave </a:t>
            </a:r>
            <a:r>
              <a:rPr lang="es-ES" altLang="es-AR" sz="2400" dirty="0" err="1">
                <a:latin typeface="+mn-lt"/>
                <a:cs typeface="Arial" panose="020B0604020202020204" pitchFamily="34" charset="0"/>
              </a:rPr>
              <a:t>foranea</a:t>
            </a:r>
            <a:r>
              <a:rPr lang="es-ES" altLang="es-AR" sz="2400" dirty="0">
                <a:latin typeface="+mn-lt"/>
                <a:cs typeface="Arial" panose="020B0604020202020204" pitchFamily="34" charset="0"/>
              </a:rPr>
              <a:t>)</a:t>
            </a:r>
            <a:endParaRPr lang="es-CL" altLang="es-AR" sz="2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5A66C9-AEA6-4F6C-FD2D-1A3FD4FE8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AR" altLang="es-AR" sz="2400"/>
          </a:p>
        </p:txBody>
      </p:sp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AB1E3309-AF41-43E1-756F-89DFD0479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143576"/>
              </p:ext>
            </p:extLst>
          </p:nvPr>
        </p:nvGraphicFramePr>
        <p:xfrm>
          <a:off x="2245900" y="3052452"/>
          <a:ext cx="5072062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2990626" imgH="774551" progId="SmartDraw.2">
                  <p:embed/>
                </p:oleObj>
              </mc:Choice>
              <mc:Fallback>
                <p:oleObj r:id="rId3" imgW="2990626" imgH="774551" progId="SmartDraw.2">
                  <p:embed/>
                  <p:pic>
                    <p:nvPicPr>
                      <p:cNvPr id="38916" name="Object 4">
                        <a:extLst>
                          <a:ext uri="{FF2B5EF4-FFF2-40B4-BE49-F238E27FC236}">
                            <a16:creationId xmlns:a16="http://schemas.microsoft.com/office/drawing/2014/main" id="{AB1E3309-AF41-43E1-756F-89DFD0479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900" y="3052452"/>
                        <a:ext cx="5072062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361C6AE2-4258-A2EE-E542-D6F8427CAA04}"/>
              </a:ext>
            </a:extLst>
          </p:cNvPr>
          <p:cNvSpPr txBox="1"/>
          <p:nvPr/>
        </p:nvSpPr>
        <p:spPr>
          <a:xfrm>
            <a:off x="457200" y="728870"/>
            <a:ext cx="7974757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>
            <a:extLst>
              <a:ext uri="{FF2B5EF4-FFF2-40B4-BE49-F238E27FC236}">
                <a16:creationId xmlns:a16="http://schemas.microsoft.com/office/drawing/2014/main" id="{F10767B4-E83E-355A-CD20-ED0231B38E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1548" y="1908314"/>
            <a:ext cx="8534399" cy="4473436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90000"/>
              </a:lnSpc>
            </a:pPr>
            <a:r>
              <a:rPr lang="es-ES" altLang="es-AR" sz="24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Atributos compuestos</a:t>
            </a:r>
            <a:r>
              <a:rPr lang="es-ES" altLang="es-AR" sz="24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s-ES" altLang="es-AR" sz="2400" dirty="0">
                <a:latin typeface="+mn-lt"/>
                <a:cs typeface="Arial" panose="020B0604020202020204" pitchFamily="34" charset="0"/>
              </a:rPr>
              <a:t>se pueden transformar según las siguientes alternativas:</a:t>
            </a:r>
          </a:p>
          <a:p>
            <a:pPr marL="0" indent="0" algn="just">
              <a:lnSpc>
                <a:spcPct val="90000"/>
              </a:lnSpc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Eliminar el atributo compuesto considerando todos sus componentes como atributos individuales.</a:t>
            </a:r>
          </a:p>
          <a:p>
            <a:pPr marL="0" indent="0" algn="just">
              <a:lnSpc>
                <a:spcPct val="90000"/>
              </a:lnSpc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FontTx/>
              <a:buNone/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FontTx/>
              <a:buNone/>
            </a:pPr>
            <a:r>
              <a:rPr lang="es-ES" altLang="es-AR" sz="2000" b="1" dirty="0">
                <a:latin typeface="+mn-lt"/>
                <a:cs typeface="Arial" panose="020B0604020202020204" pitchFamily="34" charset="0"/>
              </a:rPr>
              <a:t>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nombre_cliente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calle, numero, ciudad,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telefono_cliente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) PK: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id_cliente</a:t>
            </a:r>
            <a:endParaRPr lang="es-ES" altLang="es-AR" sz="20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Eliminar los componentes individuales y considerar el atributo compuesto entero como un sólo atributo. </a:t>
            </a:r>
            <a:endParaRPr lang="es-ES" altLang="es-AR" sz="2400" b="1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FontTx/>
              <a:buNone/>
            </a:pPr>
            <a:r>
              <a:rPr lang="es-ES" altLang="es-AR" sz="2000" b="1" dirty="0">
                <a:latin typeface="+mn-lt"/>
                <a:cs typeface="Arial" panose="020B0604020202020204" pitchFamily="34" charset="0"/>
              </a:rPr>
              <a:t>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nombre_cliente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direccion_cliente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telefono_cliente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) PK: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id_cliente</a:t>
            </a:r>
            <a:endParaRPr lang="es-CL" altLang="es-AR" sz="2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50E1FD5-A624-641D-4733-D2F2C642B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AR" altLang="es-AR" sz="2400"/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E27CC415-A05A-E615-00BD-1A4502B11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022967"/>
              </p:ext>
            </p:extLst>
          </p:nvPr>
        </p:nvGraphicFramePr>
        <p:xfrm>
          <a:off x="1296987" y="3014663"/>
          <a:ext cx="65500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4087906" imgH="871369" progId="SmartDraw.2">
                  <p:embed/>
                </p:oleObj>
              </mc:Choice>
              <mc:Fallback>
                <p:oleObj r:id="rId3" imgW="4087906" imgH="871369" progId="SmartDraw.2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E27CC415-A05A-E615-00BD-1A4502B11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7" y="3014663"/>
                        <a:ext cx="65500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E26DDC60-A0AE-CBA1-32FF-3CEAFE2D98D0}"/>
              </a:ext>
            </a:extLst>
          </p:cNvPr>
          <p:cNvSpPr txBox="1"/>
          <p:nvPr/>
        </p:nvSpPr>
        <p:spPr>
          <a:xfrm>
            <a:off x="291548" y="728870"/>
            <a:ext cx="8534399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5FBA73D3-B132-8990-5FCC-EFF384AF51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682977"/>
            <a:ext cx="8458200" cy="5175023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s-ES" altLang="es-AR" sz="18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Atributos de Interrelaciones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s-ES" altLang="es-AR" sz="1800" dirty="0">
                <a:latin typeface="+mn-lt"/>
                <a:cs typeface="Arial" panose="020B0604020202020204" pitchFamily="34" charset="0"/>
              </a:rPr>
              <a:t>Si la interrelación se transforma en una relación, todos sus atributos pasan a ser columnas de la relación.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s-ES" altLang="es-AR" sz="18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Dependencia por identidad.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s-ES" altLang="es-AR" sz="1800" b="1" dirty="0">
                <a:latin typeface="+mn-lt"/>
                <a:cs typeface="Arial" panose="020B0604020202020204" pitchFamily="34" charset="0"/>
              </a:rPr>
              <a:t>La entidad débil requiere de la clave de la entidad fuerte para su identificación.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La clave queda formada por la concatenación de la clave foránea y la clave de la entidad débil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s-ES" altLang="es-AR" sz="2400" dirty="0"/>
          </a:p>
          <a:p>
            <a:pPr marL="0" indent="0">
              <a:lnSpc>
                <a:spcPct val="90000"/>
              </a:lnSpc>
              <a:buFontTx/>
              <a:buNone/>
            </a:pPr>
            <a:endParaRPr lang="es-ES" altLang="es-AR" sz="2400" dirty="0"/>
          </a:p>
          <a:p>
            <a:pPr marL="0" indent="0">
              <a:lnSpc>
                <a:spcPct val="90000"/>
              </a:lnSpc>
              <a:buFontTx/>
              <a:buNone/>
            </a:pPr>
            <a:endParaRPr lang="es-ES" altLang="es-AR" sz="2400" dirty="0"/>
          </a:p>
        </p:txBody>
      </p:sp>
      <p:graphicFrame>
        <p:nvGraphicFramePr>
          <p:cNvPr id="40963" name="Object 4">
            <a:extLst>
              <a:ext uri="{FF2B5EF4-FFF2-40B4-BE49-F238E27FC236}">
                <a16:creationId xmlns:a16="http://schemas.microsoft.com/office/drawing/2014/main" id="{CF6AA2BE-F72A-4CEC-D859-A7693D5CA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264480"/>
              </p:ext>
            </p:extLst>
          </p:nvPr>
        </p:nvGraphicFramePr>
        <p:xfrm>
          <a:off x="558177" y="4111625"/>
          <a:ext cx="74517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7282927" imgH="1011219" progId="SmartDraw.2">
                  <p:embed/>
                </p:oleObj>
              </mc:Choice>
              <mc:Fallback>
                <p:oleObj r:id="rId3" imgW="7282927" imgH="1011219" progId="SmartDraw.2">
                  <p:embed/>
                  <p:pic>
                    <p:nvPicPr>
                      <p:cNvPr id="40963" name="Object 4">
                        <a:extLst>
                          <a:ext uri="{FF2B5EF4-FFF2-40B4-BE49-F238E27FC236}">
                            <a16:creationId xmlns:a16="http://schemas.microsoft.com/office/drawing/2014/main" id="{CF6AA2BE-F72A-4CEC-D859-A7693D5CA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77" y="4111625"/>
                        <a:ext cx="74517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Rectángulo 1">
            <a:extLst>
              <a:ext uri="{FF2B5EF4-FFF2-40B4-BE49-F238E27FC236}">
                <a16:creationId xmlns:a16="http://schemas.microsoft.com/office/drawing/2014/main" id="{F3AB118C-827C-C18D-FEC7-394EE154F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84" y="5253038"/>
            <a:ext cx="7859713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altLang="es-AR" sz="2000" b="1" dirty="0">
                <a:latin typeface="+mn-lt"/>
                <a:cs typeface="Arial" panose="020B0604020202020204" pitchFamily="34" charset="0"/>
              </a:rPr>
              <a:t>Libro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codigo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nombre,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nr_hojas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editorial) PK: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codigo</a:t>
            </a:r>
            <a:endParaRPr lang="es-ES" altLang="es-AR" sz="2000" b="1" dirty="0">
              <a:latin typeface="+mn-lt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altLang="es-AR" sz="2000" b="1" dirty="0">
                <a:latin typeface="+mn-lt"/>
                <a:cs typeface="Arial" panose="020B0604020202020204" pitchFamily="34" charset="0"/>
              </a:rPr>
              <a:t>Ejemplar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2000" u="sng" dirty="0" err="1">
                <a:latin typeface="+mn-lt"/>
                <a:cs typeface="Arial" panose="020B0604020202020204" pitchFamily="34" charset="0"/>
              </a:rPr>
              <a:t>codigo</a:t>
            </a:r>
            <a:r>
              <a:rPr lang="es-ES" altLang="es-AR" sz="2000" u="sng" dirty="0">
                <a:latin typeface="+mn-lt"/>
                <a:cs typeface="Arial" panose="020B0604020202020204" pitchFamily="34" charset="0"/>
              </a:rPr>
              <a:t>, numero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estado, posición) PK: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codigo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, numero FK: </a:t>
            </a:r>
            <a:r>
              <a:rPr lang="es-ES" altLang="es-AR" sz="2000" dirty="0" err="1">
                <a:latin typeface="+mn-lt"/>
                <a:cs typeface="Arial" panose="020B0604020202020204" pitchFamily="34" charset="0"/>
              </a:rPr>
              <a:t>codigo</a:t>
            </a: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referencia a Libro.</a:t>
            </a:r>
            <a:r>
              <a:rPr lang="es-CL" altLang="es-AR" sz="2000" dirty="0">
                <a:latin typeface="+mn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F655D9-7780-0F45-7B16-070D0686FFC5}"/>
              </a:ext>
            </a:extLst>
          </p:cNvPr>
          <p:cNvSpPr txBox="1"/>
          <p:nvPr/>
        </p:nvSpPr>
        <p:spPr>
          <a:xfrm>
            <a:off x="228600" y="728870"/>
            <a:ext cx="8673353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8A3A251F-AAD6-56F9-5DD9-211021DFE4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1809"/>
            <a:ext cx="8229600" cy="2014330"/>
          </a:xfrm>
        </p:spPr>
        <p:txBody>
          <a:bodyPr>
            <a:normAutofit/>
          </a:bodyPr>
          <a:lstStyle/>
          <a:p>
            <a:pPr marL="0" indent="0" algn="just">
              <a:buFontTx/>
              <a:buAutoNum type="arabicPeriod" startAt="2"/>
            </a:pPr>
            <a:r>
              <a:rPr lang="es-ES" altLang="es-AR" sz="1800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Todo tipo de interrelación N:M se transforma en relación.</a:t>
            </a:r>
          </a:p>
          <a:p>
            <a:pPr marL="0" indent="0" algn="just">
              <a:buFontTx/>
              <a:buNone/>
            </a:pPr>
            <a:endParaRPr lang="es-ES" altLang="es-AR" sz="18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buFontTx/>
              <a:buNone/>
            </a:pPr>
            <a:r>
              <a:rPr lang="es-ES" altLang="es-AR" sz="1800" dirty="0">
                <a:latin typeface="+mn-lt"/>
                <a:cs typeface="Arial" panose="020B0604020202020204" pitchFamily="34" charset="0"/>
              </a:rPr>
              <a:t>Las interrelaciones N:M dan lugar a una nueva relación cuya clave serán las claves primarias de las entidades que enlaza la interrelación. </a:t>
            </a:r>
          </a:p>
          <a:p>
            <a:pPr marL="0" indent="0" algn="just">
              <a:buFontTx/>
              <a:buNone/>
            </a:pPr>
            <a:r>
              <a:rPr lang="es-ES" altLang="es-AR" sz="1800" dirty="0">
                <a:latin typeface="+mn-lt"/>
                <a:cs typeface="Arial" panose="020B0604020202020204" pitchFamily="34" charset="0"/>
              </a:rPr>
              <a:t>Los atributos que forman la clave primaria de esta nueva relación son claves foráneas respecto a las tablas en donde son claves primarias. </a:t>
            </a:r>
            <a:endParaRPr lang="es-CL" altLang="es-AR" sz="18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41987" name="Object 4">
            <a:extLst>
              <a:ext uri="{FF2B5EF4-FFF2-40B4-BE49-F238E27FC236}">
                <a16:creationId xmlns:a16="http://schemas.microsoft.com/office/drawing/2014/main" id="{41D9B575-DD50-E991-1142-517EF555A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532209"/>
              </p:ext>
            </p:extLst>
          </p:nvPr>
        </p:nvGraphicFramePr>
        <p:xfrm>
          <a:off x="450056" y="4093817"/>
          <a:ext cx="82438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7218381" imgH="688489" progId="SmartDraw.2">
                  <p:embed/>
                </p:oleObj>
              </mc:Choice>
              <mc:Fallback>
                <p:oleObj r:id="rId3" imgW="7218381" imgH="688489" progId="SmartDraw.2">
                  <p:embed/>
                  <p:pic>
                    <p:nvPicPr>
                      <p:cNvPr id="41987" name="Object 4">
                        <a:extLst>
                          <a:ext uri="{FF2B5EF4-FFF2-40B4-BE49-F238E27FC236}">
                            <a16:creationId xmlns:a16="http://schemas.microsoft.com/office/drawing/2014/main" id="{41D9B575-DD50-E991-1142-517EF555AD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" y="4093817"/>
                        <a:ext cx="824388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Rectángulo 1">
            <a:extLst>
              <a:ext uri="{FF2B5EF4-FFF2-40B4-BE49-F238E27FC236}">
                <a16:creationId xmlns:a16="http://schemas.microsoft.com/office/drawing/2014/main" id="{7D64053F-8EE0-C27A-4302-9C2BEF72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66221"/>
            <a:ext cx="8424862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altLang="es-AR" sz="1800" b="1" dirty="0">
                <a:latin typeface="+mn-lt"/>
                <a:cs typeface="Arial" panose="020B0604020202020204" pitchFamily="34" charset="0"/>
              </a:rPr>
              <a:t>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1800" u="sng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nombre_cliente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calle_cliente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ciudad_cliente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) PK: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id_cliente</a:t>
            </a:r>
            <a:endParaRPr lang="es-ES" altLang="es-AR" sz="1800" b="1" dirty="0">
              <a:latin typeface="+mn-lt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altLang="es-AR" sz="1800" b="1" dirty="0">
                <a:latin typeface="+mn-lt"/>
                <a:cs typeface="Arial" panose="020B0604020202020204" pitchFamily="34" charset="0"/>
              </a:rPr>
              <a:t>Cuenta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1800" u="sng" dirty="0" err="1">
                <a:latin typeface="+mn-lt"/>
                <a:cs typeface="Arial" panose="020B0604020202020204" pitchFamily="34" charset="0"/>
              </a:rPr>
              <a:t>numero_cuenta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, saldo) PK: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numero_cuenta</a:t>
            </a:r>
            <a:endParaRPr lang="es-ES" altLang="es-AR" sz="1800" b="1" dirty="0">
              <a:latin typeface="+mn-lt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altLang="es-AR" sz="1800" b="1" dirty="0">
                <a:latin typeface="+mn-lt"/>
                <a:cs typeface="Arial" panose="020B0604020202020204" pitchFamily="34" charset="0"/>
              </a:rPr>
              <a:t>Tiene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(</a:t>
            </a:r>
            <a:r>
              <a:rPr lang="es-ES" altLang="es-AR" sz="1800" u="sng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1800" u="sng" dirty="0" err="1">
                <a:latin typeface="+mn-lt"/>
                <a:cs typeface="Arial" panose="020B0604020202020204" pitchFamily="34" charset="0"/>
              </a:rPr>
              <a:t>numero_cuenta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) PK.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,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numero_cuenta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FK: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id_cliente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referencia a Cliente, </a:t>
            </a:r>
            <a:r>
              <a:rPr lang="es-ES" altLang="es-AR" sz="1800" dirty="0" err="1">
                <a:latin typeface="+mn-lt"/>
                <a:cs typeface="Arial" panose="020B0604020202020204" pitchFamily="34" charset="0"/>
              </a:rPr>
              <a:t>numero_cuenta</a:t>
            </a:r>
            <a:r>
              <a:rPr lang="es-ES" altLang="es-AR" sz="1800" dirty="0">
                <a:latin typeface="+mn-lt"/>
                <a:cs typeface="Arial" panose="020B0604020202020204" pitchFamily="34" charset="0"/>
              </a:rPr>
              <a:t> referencia a Cuenta.</a:t>
            </a:r>
            <a:endParaRPr lang="es-CL" altLang="es-AR" sz="18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6148F1-74BA-8B4A-6143-AB6C4922BB5C}"/>
              </a:ext>
            </a:extLst>
          </p:cNvPr>
          <p:cNvSpPr txBox="1"/>
          <p:nvPr/>
        </p:nvSpPr>
        <p:spPr>
          <a:xfrm>
            <a:off x="242048" y="728870"/>
            <a:ext cx="8651128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01E3F533-6D96-C791-D0DA-999CFB916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2027583"/>
            <a:ext cx="8093074" cy="429370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FontTx/>
              <a:buAutoNum type="arabicPeriod" startAt="3"/>
            </a:pPr>
            <a:r>
              <a:rPr lang="es-ES" altLang="es-AR" sz="2200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Todo tipo de interrelación 1:N se traduce en el fenómeno de propagación de la clave.</a:t>
            </a:r>
            <a:endParaRPr lang="es-ES" altLang="es-AR" sz="220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</a:pPr>
            <a:endParaRPr lang="es-ES" altLang="es-AR" sz="22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es-ES" altLang="es-AR" sz="2200" dirty="0">
                <a:latin typeface="+mn-lt"/>
                <a:cs typeface="Arial" panose="020B0604020202020204" pitchFamily="34" charset="0"/>
              </a:rPr>
              <a:t>Se propaga la clave primaria de la entidad que se encuentra en el lado 1 a la entidad que se encuentra en el lado N</a:t>
            </a:r>
            <a:r>
              <a:rPr lang="es-ES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" altLang="es-A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" altLang="es-A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es-ES" altLang="es-AR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altLang="es-AR" sz="2200" u="sng" dirty="0" err="1">
                <a:latin typeface="Arial" panose="020B0604020202020204" pitchFamily="34" charset="0"/>
                <a:cs typeface="Arial" panose="020B0604020202020204" pitchFamily="34" charset="0"/>
              </a:rPr>
              <a:t>numero_region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nombre_region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habitantes_region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) PK: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numero_region</a:t>
            </a:r>
            <a:endParaRPr lang="es-ES" altLang="es-AR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es-ES" altLang="es-AR" sz="2200" b="1" dirty="0">
                <a:latin typeface="Arial" panose="020B0604020202020204" pitchFamily="34" charset="0"/>
                <a:cs typeface="Arial" panose="020B0604020202020204" pitchFamily="34" charset="0"/>
              </a:rPr>
              <a:t>Ciudad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altLang="es-AR" sz="2200" u="sng" dirty="0" err="1">
                <a:latin typeface="Arial" panose="020B0604020202020204" pitchFamily="34" charset="0"/>
                <a:cs typeface="Arial" panose="020B0604020202020204" pitchFamily="34" charset="0"/>
              </a:rPr>
              <a:t>nombre_ciudad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habitantes_ciudad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numero_region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) PK: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nombre_ciudad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, FK: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numero_region</a:t>
            </a:r>
            <a:r>
              <a:rPr lang="es-ES" altLang="es-AR" sz="2200" dirty="0">
                <a:latin typeface="Arial" panose="020B0604020202020204" pitchFamily="34" charset="0"/>
                <a:cs typeface="Arial" panose="020B0604020202020204" pitchFamily="34" charset="0"/>
              </a:rPr>
              <a:t> referencia a </a:t>
            </a:r>
            <a:r>
              <a:rPr lang="es-ES" altLang="es-AR" sz="2200" dirty="0" err="1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es-ES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L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Rectangle 5">
            <a:extLst>
              <a:ext uri="{FF2B5EF4-FFF2-40B4-BE49-F238E27FC236}">
                <a16:creationId xmlns:a16="http://schemas.microsoft.com/office/drawing/2014/main" id="{16B7B732-C362-B429-0B7E-093342C00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AR" altLang="es-AR" sz="2400"/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381C2D3F-8D39-0303-44E3-30DE7B483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213258"/>
              </p:ext>
            </p:extLst>
          </p:nvPr>
        </p:nvGraphicFramePr>
        <p:xfrm>
          <a:off x="593725" y="4052647"/>
          <a:ext cx="79565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3" imgW="8735209" imgH="817581" progId="SmartDraw.2">
                  <p:embed/>
                </p:oleObj>
              </mc:Choice>
              <mc:Fallback>
                <p:oleObj r:id="rId3" imgW="8735209" imgH="817581" progId="SmartDraw.2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381C2D3F-8D39-0303-44E3-30DE7B4837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052647"/>
                        <a:ext cx="79565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BBA8DA06-DA5D-A019-91F7-1E79ADFF5204}"/>
              </a:ext>
            </a:extLst>
          </p:cNvPr>
          <p:cNvSpPr txBox="1"/>
          <p:nvPr/>
        </p:nvSpPr>
        <p:spPr>
          <a:xfrm>
            <a:off x="295835" y="728870"/>
            <a:ext cx="8485093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altLang="es-AR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Transformación MER-Relacional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ase ISPRMM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BD.potx" id="{FF81F31E-91FB-4AAE-B9B4-41066F83A4AF}" vid="{14ED157B-45B2-4CB0-923A-B2B40686894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</TotalTime>
  <Words>731</Words>
  <Application>Microsoft Office PowerPoint</Application>
  <PresentationFormat>Presentación en pantalla (4:3)</PresentationFormat>
  <Paragraphs>72</Paragraphs>
  <Slides>9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Arial Nova</vt:lpstr>
      <vt:lpstr>Arial Unicode MS</vt:lpstr>
      <vt:lpstr>Calibri</vt:lpstr>
      <vt:lpstr>Times New Roman</vt:lpstr>
      <vt:lpstr>Tema de Office</vt:lpstr>
      <vt:lpstr>SmartDraw.2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Bruno Manuel Sosa</dc:creator>
  <cp:lastModifiedBy>LENOVO NB</cp:lastModifiedBy>
  <cp:revision>24</cp:revision>
  <dcterms:created xsi:type="dcterms:W3CDTF">2022-08-13T13:37:02Z</dcterms:created>
  <dcterms:modified xsi:type="dcterms:W3CDTF">2025-04-10T17:13:27Z</dcterms:modified>
</cp:coreProperties>
</file>