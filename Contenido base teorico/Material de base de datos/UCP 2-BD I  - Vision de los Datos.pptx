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12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image" Target="NULL"/><Relationship Id="rId1" Type="http://schemas.openxmlformats.org/officeDocument/2006/relationships/image" Target="../media/image8.png"/><Relationship Id="rId6" Type="http://schemas.openxmlformats.org/officeDocument/2006/relationships/image" Target="NULL"/><Relationship Id="rId5" Type="http://schemas.openxmlformats.org/officeDocument/2006/relationships/image" Target="../media/image10.png"/><Relationship Id="rId4" Type="http://schemas.openxmlformats.org/officeDocument/2006/relationships/image" Target="NUL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0A6CAC-EC2F-4B6E-BDF8-15FA8CEEE6D1}" type="doc">
      <dgm:prSet loTypeId="urn:microsoft.com/office/officeart/2005/8/layout/hierarchy6" loCatId="hierarchy" qsTypeId="urn:microsoft.com/office/officeart/2005/8/quickstyle/simple1" qsCatId="simple" csTypeId="urn:microsoft.com/office/officeart/2005/8/colors/colorful4" csCatId="colorful" phldr="1"/>
      <dgm:spPr/>
      <dgm:t>
        <a:bodyPr/>
        <a:lstStyle/>
        <a:p>
          <a:endParaRPr lang="es-AR"/>
        </a:p>
      </dgm:t>
    </dgm:pt>
    <dgm:pt modelId="{0B865E30-FB93-4565-9A92-9B091ED1EFFD}">
      <dgm:prSet phldrT="[Texto]" custT="1"/>
      <dgm:spPr/>
      <dgm:t>
        <a:bodyPr/>
        <a:lstStyle/>
        <a:p>
          <a:r>
            <a:rPr lang="es-AR" sz="1400" dirty="0" smtClean="0"/>
            <a:t>Visión </a:t>
          </a:r>
          <a:r>
            <a:rPr lang="es-AR" sz="1400" dirty="0"/>
            <a:t>Externa</a:t>
          </a:r>
        </a:p>
      </dgm:t>
    </dgm:pt>
    <dgm:pt modelId="{5FC26862-E945-4DE1-9C5F-D36B95634085}" type="parTrans" cxnId="{62EC2D62-7C01-408B-A514-6814FB88CE44}">
      <dgm:prSet/>
      <dgm:spPr/>
      <dgm:t>
        <a:bodyPr/>
        <a:lstStyle/>
        <a:p>
          <a:endParaRPr lang="es-AR"/>
        </a:p>
      </dgm:t>
    </dgm:pt>
    <dgm:pt modelId="{1DA6E2EB-4486-4F8F-858E-AC026C8B249F}" type="sibTrans" cxnId="{62EC2D62-7C01-408B-A514-6814FB88CE44}">
      <dgm:prSet/>
      <dgm:spPr/>
      <dgm:t>
        <a:bodyPr/>
        <a:lstStyle/>
        <a:p>
          <a:endParaRPr lang="es-AR"/>
        </a:p>
      </dgm:t>
    </dgm:pt>
    <dgm:pt modelId="{FDD533F6-5788-465E-8D0E-DB721F4B4B18}">
      <dgm:prSet phldrT="[Texto]" custT="1"/>
      <dgm:spPr/>
      <dgm:t>
        <a:bodyPr/>
        <a:lstStyle/>
        <a:p>
          <a:r>
            <a:rPr lang="es-AR" sz="1400" dirty="0" smtClean="0"/>
            <a:t>Visión Lógica</a:t>
          </a:r>
          <a:endParaRPr lang="es-AR" sz="1400" dirty="0"/>
        </a:p>
      </dgm:t>
    </dgm:pt>
    <dgm:pt modelId="{12DFAB46-8E50-4592-BE9C-43F69E94D2D6}" type="parTrans" cxnId="{8556D907-2BA7-4ECD-A70D-5079B3C630B6}">
      <dgm:prSet/>
      <dgm:spPr/>
      <dgm:t>
        <a:bodyPr/>
        <a:lstStyle/>
        <a:p>
          <a:endParaRPr lang="es-AR"/>
        </a:p>
      </dgm:t>
    </dgm:pt>
    <dgm:pt modelId="{1A7298AB-91CC-4F09-A451-9EA548273894}" type="sibTrans" cxnId="{8556D907-2BA7-4ECD-A70D-5079B3C630B6}">
      <dgm:prSet/>
      <dgm:spPr/>
      <dgm:t>
        <a:bodyPr/>
        <a:lstStyle/>
        <a:p>
          <a:endParaRPr lang="es-AR"/>
        </a:p>
      </dgm:t>
    </dgm:pt>
    <dgm:pt modelId="{CD6E5F56-04E2-4BA8-B7E0-13787873069F}">
      <dgm:prSet phldrT="[Texto]" custT="1"/>
      <dgm:spPr/>
      <dgm:t>
        <a:bodyPr/>
        <a:lstStyle/>
        <a:p>
          <a:r>
            <a:rPr lang="es-AR" sz="1400" dirty="0" smtClean="0"/>
            <a:t>Visión Física</a:t>
          </a:r>
          <a:endParaRPr lang="es-AR" sz="1400" dirty="0"/>
        </a:p>
      </dgm:t>
    </dgm:pt>
    <dgm:pt modelId="{A834A193-D697-474D-87D9-4C75B996BAA1}" type="parTrans" cxnId="{715543B5-EC72-429F-8E47-AC4EA0FCE33D}">
      <dgm:prSet/>
      <dgm:spPr/>
      <dgm:t>
        <a:bodyPr/>
        <a:lstStyle/>
        <a:p>
          <a:endParaRPr lang="es-AR"/>
        </a:p>
      </dgm:t>
    </dgm:pt>
    <dgm:pt modelId="{2AF4A61E-07A6-48CB-8DE4-7BD7FD9BA7B8}" type="sibTrans" cxnId="{715543B5-EC72-429F-8E47-AC4EA0FCE33D}">
      <dgm:prSet/>
      <dgm:spPr/>
      <dgm:t>
        <a:bodyPr/>
        <a:lstStyle/>
        <a:p>
          <a:endParaRPr lang="es-AR"/>
        </a:p>
      </dgm:t>
    </dgm:pt>
    <dgm:pt modelId="{93B7E068-56F0-4CF5-A62D-BEA9FEBCDCDE}" type="pres">
      <dgm:prSet presAssocID="{180A6CAC-EC2F-4B6E-BDF8-15FA8CEEE6D1}" presName="mainComposite" presStyleCnt="0">
        <dgm:presLayoutVars>
          <dgm:chPref val="1"/>
          <dgm:dir/>
          <dgm:animOne val="branch"/>
          <dgm:animLvl val="lvl"/>
          <dgm:resizeHandles val="exact"/>
        </dgm:presLayoutVars>
      </dgm:prSet>
      <dgm:spPr/>
      <dgm:t>
        <a:bodyPr/>
        <a:lstStyle/>
        <a:p>
          <a:endParaRPr lang="es-AR"/>
        </a:p>
      </dgm:t>
    </dgm:pt>
    <dgm:pt modelId="{D7E514F5-C061-4D41-9E1A-8E61BEA019BB}" type="pres">
      <dgm:prSet presAssocID="{180A6CAC-EC2F-4B6E-BDF8-15FA8CEEE6D1}" presName="hierFlow" presStyleCnt="0"/>
      <dgm:spPr/>
    </dgm:pt>
    <dgm:pt modelId="{AAC37D82-E651-45C2-82EB-74D897CC5F22}" type="pres">
      <dgm:prSet presAssocID="{180A6CAC-EC2F-4B6E-BDF8-15FA8CEEE6D1}" presName="hierChild1" presStyleCnt="0">
        <dgm:presLayoutVars>
          <dgm:chPref val="1"/>
          <dgm:animOne val="branch"/>
          <dgm:animLvl val="lvl"/>
        </dgm:presLayoutVars>
      </dgm:prSet>
      <dgm:spPr/>
    </dgm:pt>
    <dgm:pt modelId="{901808E2-6246-4C1B-8711-CB39BF2BCC43}" type="pres">
      <dgm:prSet presAssocID="{0B865E30-FB93-4565-9A92-9B091ED1EFFD}" presName="Name14" presStyleCnt="0"/>
      <dgm:spPr/>
    </dgm:pt>
    <dgm:pt modelId="{992A461D-23D1-4EAC-A493-9AE32B7D78B3}" type="pres">
      <dgm:prSet presAssocID="{0B865E30-FB93-4565-9A92-9B091ED1EFFD}" presName="level1Shape" presStyleLbl="node0" presStyleIdx="0" presStyleCnt="1" custScaleX="186350">
        <dgm:presLayoutVars>
          <dgm:chPref val="3"/>
        </dgm:presLayoutVars>
      </dgm:prSet>
      <dgm:spPr/>
      <dgm:t>
        <a:bodyPr/>
        <a:lstStyle/>
        <a:p>
          <a:endParaRPr lang="es-AR"/>
        </a:p>
      </dgm:t>
    </dgm:pt>
    <dgm:pt modelId="{2BA0F8C0-5917-4E09-A28F-E29F36BDA07F}" type="pres">
      <dgm:prSet presAssocID="{0B865E30-FB93-4565-9A92-9B091ED1EFFD}" presName="hierChild2" presStyleCnt="0"/>
      <dgm:spPr/>
    </dgm:pt>
    <dgm:pt modelId="{6BB19A57-8BED-4A09-92E3-596A20AE4498}" type="pres">
      <dgm:prSet presAssocID="{12DFAB46-8E50-4592-BE9C-43F69E94D2D6}" presName="Name19" presStyleLbl="parChTrans1D2" presStyleIdx="0" presStyleCnt="1"/>
      <dgm:spPr/>
      <dgm:t>
        <a:bodyPr/>
        <a:lstStyle/>
        <a:p>
          <a:endParaRPr lang="es-AR"/>
        </a:p>
      </dgm:t>
    </dgm:pt>
    <dgm:pt modelId="{547F134B-722E-4878-889F-4A328F8F37FE}" type="pres">
      <dgm:prSet presAssocID="{FDD533F6-5788-465E-8D0E-DB721F4B4B18}" presName="Name21" presStyleCnt="0"/>
      <dgm:spPr/>
    </dgm:pt>
    <dgm:pt modelId="{29F05DA7-8943-4BFD-A11F-9084B2F28744}" type="pres">
      <dgm:prSet presAssocID="{FDD533F6-5788-465E-8D0E-DB721F4B4B18}" presName="level2Shape" presStyleLbl="node2" presStyleIdx="0" presStyleCnt="1" custScaleX="186350"/>
      <dgm:spPr/>
      <dgm:t>
        <a:bodyPr/>
        <a:lstStyle/>
        <a:p>
          <a:endParaRPr lang="es-AR"/>
        </a:p>
      </dgm:t>
    </dgm:pt>
    <dgm:pt modelId="{CF31768A-C95E-4B1C-953A-8F3AC97B2A94}" type="pres">
      <dgm:prSet presAssocID="{FDD533F6-5788-465E-8D0E-DB721F4B4B18}" presName="hierChild3" presStyleCnt="0"/>
      <dgm:spPr/>
    </dgm:pt>
    <dgm:pt modelId="{6D93B916-82FA-423E-93F3-250423CF2F16}" type="pres">
      <dgm:prSet presAssocID="{A834A193-D697-474D-87D9-4C75B996BAA1}" presName="Name19" presStyleLbl="parChTrans1D3" presStyleIdx="0" presStyleCnt="1"/>
      <dgm:spPr/>
      <dgm:t>
        <a:bodyPr/>
        <a:lstStyle/>
        <a:p>
          <a:endParaRPr lang="es-AR"/>
        </a:p>
      </dgm:t>
    </dgm:pt>
    <dgm:pt modelId="{E348B732-9675-46EB-93C6-822CC4DB3156}" type="pres">
      <dgm:prSet presAssocID="{CD6E5F56-04E2-4BA8-B7E0-13787873069F}" presName="Name21" presStyleCnt="0"/>
      <dgm:spPr/>
    </dgm:pt>
    <dgm:pt modelId="{EBDA22FB-3F6D-4636-AD95-EE090A7995B1}" type="pres">
      <dgm:prSet presAssocID="{CD6E5F56-04E2-4BA8-B7E0-13787873069F}" presName="level2Shape" presStyleLbl="node3" presStyleIdx="0" presStyleCnt="1" custScaleX="186350"/>
      <dgm:spPr/>
      <dgm:t>
        <a:bodyPr/>
        <a:lstStyle/>
        <a:p>
          <a:endParaRPr lang="es-AR"/>
        </a:p>
      </dgm:t>
    </dgm:pt>
    <dgm:pt modelId="{CE3D3DBB-0B97-4D23-9697-9D63691FACB8}" type="pres">
      <dgm:prSet presAssocID="{CD6E5F56-04E2-4BA8-B7E0-13787873069F}" presName="hierChild3" presStyleCnt="0"/>
      <dgm:spPr/>
    </dgm:pt>
    <dgm:pt modelId="{33C5F3D3-2292-47C1-BC93-6F67FAEA4AA2}" type="pres">
      <dgm:prSet presAssocID="{180A6CAC-EC2F-4B6E-BDF8-15FA8CEEE6D1}" presName="bgShapesFlow" presStyleCnt="0"/>
      <dgm:spPr/>
    </dgm:pt>
  </dgm:ptLst>
  <dgm:cxnLst>
    <dgm:cxn modelId="{157C37AF-DBAA-462A-9CBA-0850839BC98B}" type="presOf" srcId="{180A6CAC-EC2F-4B6E-BDF8-15FA8CEEE6D1}" destId="{93B7E068-56F0-4CF5-A62D-BEA9FEBCDCDE}" srcOrd="0" destOrd="0" presId="urn:microsoft.com/office/officeart/2005/8/layout/hierarchy6"/>
    <dgm:cxn modelId="{E109207A-23DA-4549-9CBE-5D06A6091002}" type="presOf" srcId="{0B865E30-FB93-4565-9A92-9B091ED1EFFD}" destId="{992A461D-23D1-4EAC-A493-9AE32B7D78B3}" srcOrd="0" destOrd="0" presId="urn:microsoft.com/office/officeart/2005/8/layout/hierarchy6"/>
    <dgm:cxn modelId="{8556D907-2BA7-4ECD-A70D-5079B3C630B6}" srcId="{0B865E30-FB93-4565-9A92-9B091ED1EFFD}" destId="{FDD533F6-5788-465E-8D0E-DB721F4B4B18}" srcOrd="0" destOrd="0" parTransId="{12DFAB46-8E50-4592-BE9C-43F69E94D2D6}" sibTransId="{1A7298AB-91CC-4F09-A451-9EA548273894}"/>
    <dgm:cxn modelId="{DB21303B-88CC-48FC-A455-EDD538E364EA}" type="presOf" srcId="{CD6E5F56-04E2-4BA8-B7E0-13787873069F}" destId="{EBDA22FB-3F6D-4636-AD95-EE090A7995B1}" srcOrd="0" destOrd="0" presId="urn:microsoft.com/office/officeart/2005/8/layout/hierarchy6"/>
    <dgm:cxn modelId="{126E8479-2CCD-41DC-8192-62D20FCF8D49}" type="presOf" srcId="{A834A193-D697-474D-87D9-4C75B996BAA1}" destId="{6D93B916-82FA-423E-93F3-250423CF2F16}" srcOrd="0" destOrd="0" presId="urn:microsoft.com/office/officeart/2005/8/layout/hierarchy6"/>
    <dgm:cxn modelId="{4AFD3512-0B7D-4F8F-8DD1-64E6BC45024A}" type="presOf" srcId="{FDD533F6-5788-465E-8D0E-DB721F4B4B18}" destId="{29F05DA7-8943-4BFD-A11F-9084B2F28744}" srcOrd="0" destOrd="0" presId="urn:microsoft.com/office/officeart/2005/8/layout/hierarchy6"/>
    <dgm:cxn modelId="{62EC2D62-7C01-408B-A514-6814FB88CE44}" srcId="{180A6CAC-EC2F-4B6E-BDF8-15FA8CEEE6D1}" destId="{0B865E30-FB93-4565-9A92-9B091ED1EFFD}" srcOrd="0" destOrd="0" parTransId="{5FC26862-E945-4DE1-9C5F-D36B95634085}" sibTransId="{1DA6E2EB-4486-4F8F-858E-AC026C8B249F}"/>
    <dgm:cxn modelId="{748A8A31-3694-4207-A60A-9B721E666340}" type="presOf" srcId="{12DFAB46-8E50-4592-BE9C-43F69E94D2D6}" destId="{6BB19A57-8BED-4A09-92E3-596A20AE4498}" srcOrd="0" destOrd="0" presId="urn:microsoft.com/office/officeart/2005/8/layout/hierarchy6"/>
    <dgm:cxn modelId="{715543B5-EC72-429F-8E47-AC4EA0FCE33D}" srcId="{FDD533F6-5788-465E-8D0E-DB721F4B4B18}" destId="{CD6E5F56-04E2-4BA8-B7E0-13787873069F}" srcOrd="0" destOrd="0" parTransId="{A834A193-D697-474D-87D9-4C75B996BAA1}" sibTransId="{2AF4A61E-07A6-48CB-8DE4-7BD7FD9BA7B8}"/>
    <dgm:cxn modelId="{AB47047C-A912-4518-B279-BB11D3D2AF90}" type="presParOf" srcId="{93B7E068-56F0-4CF5-A62D-BEA9FEBCDCDE}" destId="{D7E514F5-C061-4D41-9E1A-8E61BEA019BB}" srcOrd="0" destOrd="0" presId="urn:microsoft.com/office/officeart/2005/8/layout/hierarchy6"/>
    <dgm:cxn modelId="{56C1DB7C-28CA-4F0B-B091-CF400E7CC337}" type="presParOf" srcId="{D7E514F5-C061-4D41-9E1A-8E61BEA019BB}" destId="{AAC37D82-E651-45C2-82EB-74D897CC5F22}" srcOrd="0" destOrd="0" presId="urn:microsoft.com/office/officeart/2005/8/layout/hierarchy6"/>
    <dgm:cxn modelId="{047F8DC1-B555-4FEA-AA53-4B2C56E31C1B}" type="presParOf" srcId="{AAC37D82-E651-45C2-82EB-74D897CC5F22}" destId="{901808E2-6246-4C1B-8711-CB39BF2BCC43}" srcOrd="0" destOrd="0" presId="urn:microsoft.com/office/officeart/2005/8/layout/hierarchy6"/>
    <dgm:cxn modelId="{C164D057-4067-428A-83F1-03D3C4EBEB9D}" type="presParOf" srcId="{901808E2-6246-4C1B-8711-CB39BF2BCC43}" destId="{992A461D-23D1-4EAC-A493-9AE32B7D78B3}" srcOrd="0" destOrd="0" presId="urn:microsoft.com/office/officeart/2005/8/layout/hierarchy6"/>
    <dgm:cxn modelId="{730B80A1-3A4B-4E72-BD10-1F2413927BC2}" type="presParOf" srcId="{901808E2-6246-4C1B-8711-CB39BF2BCC43}" destId="{2BA0F8C0-5917-4E09-A28F-E29F36BDA07F}" srcOrd="1" destOrd="0" presId="urn:microsoft.com/office/officeart/2005/8/layout/hierarchy6"/>
    <dgm:cxn modelId="{76E5A6E3-1FD2-48E5-92D0-5A0D7E76AED6}" type="presParOf" srcId="{2BA0F8C0-5917-4E09-A28F-E29F36BDA07F}" destId="{6BB19A57-8BED-4A09-92E3-596A20AE4498}" srcOrd="0" destOrd="0" presId="urn:microsoft.com/office/officeart/2005/8/layout/hierarchy6"/>
    <dgm:cxn modelId="{7F3954BC-149E-4C84-A7B4-93F060D30131}" type="presParOf" srcId="{2BA0F8C0-5917-4E09-A28F-E29F36BDA07F}" destId="{547F134B-722E-4878-889F-4A328F8F37FE}" srcOrd="1" destOrd="0" presId="urn:microsoft.com/office/officeart/2005/8/layout/hierarchy6"/>
    <dgm:cxn modelId="{539A40CF-61AF-490C-AFE5-EBF671793EC3}" type="presParOf" srcId="{547F134B-722E-4878-889F-4A328F8F37FE}" destId="{29F05DA7-8943-4BFD-A11F-9084B2F28744}" srcOrd="0" destOrd="0" presId="urn:microsoft.com/office/officeart/2005/8/layout/hierarchy6"/>
    <dgm:cxn modelId="{172132D1-133C-4586-A40A-C889A27A5C61}" type="presParOf" srcId="{547F134B-722E-4878-889F-4A328F8F37FE}" destId="{CF31768A-C95E-4B1C-953A-8F3AC97B2A94}" srcOrd="1" destOrd="0" presId="urn:microsoft.com/office/officeart/2005/8/layout/hierarchy6"/>
    <dgm:cxn modelId="{8C7AB07C-0DE2-4249-A2AD-FAE1EF20660E}" type="presParOf" srcId="{CF31768A-C95E-4B1C-953A-8F3AC97B2A94}" destId="{6D93B916-82FA-423E-93F3-250423CF2F16}" srcOrd="0" destOrd="0" presId="urn:microsoft.com/office/officeart/2005/8/layout/hierarchy6"/>
    <dgm:cxn modelId="{72B20788-8CD2-461D-A988-227520C51262}" type="presParOf" srcId="{CF31768A-C95E-4B1C-953A-8F3AC97B2A94}" destId="{E348B732-9675-46EB-93C6-822CC4DB3156}" srcOrd="1" destOrd="0" presId="urn:microsoft.com/office/officeart/2005/8/layout/hierarchy6"/>
    <dgm:cxn modelId="{CE75B59F-08C3-453E-8341-2729D179A57C}" type="presParOf" srcId="{E348B732-9675-46EB-93C6-822CC4DB3156}" destId="{EBDA22FB-3F6D-4636-AD95-EE090A7995B1}" srcOrd="0" destOrd="0" presId="urn:microsoft.com/office/officeart/2005/8/layout/hierarchy6"/>
    <dgm:cxn modelId="{E17C8711-F8A3-47A8-B659-6C16CEDA07B6}" type="presParOf" srcId="{E348B732-9675-46EB-93C6-822CC4DB3156}" destId="{CE3D3DBB-0B97-4D23-9697-9D63691FACB8}" srcOrd="1" destOrd="0" presId="urn:microsoft.com/office/officeart/2005/8/layout/hierarchy6"/>
    <dgm:cxn modelId="{0603D4BD-72B2-4FAC-B054-56E5709022B2}" type="presParOf" srcId="{93B7E068-56F0-4CF5-A62D-BEA9FEBCDCDE}" destId="{33C5F3D3-2292-47C1-BC93-6F67FAEA4AA2}"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C50286-EFA0-4017-9F12-AD355466312A}" type="doc">
      <dgm:prSet loTypeId="urn:microsoft.com/office/officeart/2018/2/layout/IconVerticalSolidList" loCatId="icon" qsTypeId="urn:microsoft.com/office/officeart/2005/8/quickstyle/simple5" qsCatId="simple" csTypeId="urn:microsoft.com/office/officeart/2005/8/colors/accent0_2" csCatId="mainScheme" phldr="1"/>
      <dgm:spPr/>
      <dgm:t>
        <a:bodyPr/>
        <a:lstStyle/>
        <a:p>
          <a:endParaRPr lang="es-AR"/>
        </a:p>
      </dgm:t>
    </dgm:pt>
    <dgm:pt modelId="{99FF87E2-C662-40A7-9E28-A3FAB210A0A9}">
      <dgm:prSet phldrT="[Texto]"/>
      <dgm:spPr/>
      <dgm:t>
        <a:bodyPr/>
        <a:lstStyle/>
        <a:p>
          <a:pPr>
            <a:lnSpc>
              <a:spcPct val="100000"/>
            </a:lnSpc>
          </a:pPr>
          <a:r>
            <a:rPr lang="es-AR"/>
            <a:t>Requisitos</a:t>
          </a:r>
        </a:p>
      </dgm:t>
    </dgm:pt>
    <dgm:pt modelId="{DD8A795C-DFFB-47DF-A13C-634BB89498E9}" type="parTrans" cxnId="{D0F08F23-8538-4877-9F70-09A6E83E5A42}">
      <dgm:prSet/>
      <dgm:spPr/>
      <dgm:t>
        <a:bodyPr/>
        <a:lstStyle/>
        <a:p>
          <a:endParaRPr lang="es-AR"/>
        </a:p>
      </dgm:t>
    </dgm:pt>
    <dgm:pt modelId="{DEB33EE1-23B1-4AD2-B0E9-3C1A53822195}" type="sibTrans" cxnId="{D0F08F23-8538-4877-9F70-09A6E83E5A42}">
      <dgm:prSet/>
      <dgm:spPr/>
      <dgm:t>
        <a:bodyPr/>
        <a:lstStyle/>
        <a:p>
          <a:endParaRPr lang="es-AR"/>
        </a:p>
      </dgm:t>
    </dgm:pt>
    <dgm:pt modelId="{ED1FAC21-B748-4D33-9387-90AB391014B8}">
      <dgm:prSet phldrT="[Texto]"/>
      <dgm:spPr/>
      <dgm:t>
        <a:bodyPr/>
        <a:lstStyle/>
        <a:p>
          <a:pPr>
            <a:lnSpc>
              <a:spcPct val="100000"/>
            </a:lnSpc>
          </a:pPr>
          <a:r>
            <a:rPr lang="es-AR"/>
            <a:t>Necesidades de Datos e Informacion</a:t>
          </a:r>
        </a:p>
      </dgm:t>
    </dgm:pt>
    <dgm:pt modelId="{3AD8E4FA-FDBA-419F-B514-E9B5ADE8C42B}" type="parTrans" cxnId="{D5D9FCC3-61E1-42DB-9142-8B03BE1205E7}">
      <dgm:prSet/>
      <dgm:spPr/>
      <dgm:t>
        <a:bodyPr/>
        <a:lstStyle/>
        <a:p>
          <a:endParaRPr lang="es-AR"/>
        </a:p>
      </dgm:t>
    </dgm:pt>
    <dgm:pt modelId="{B8602025-30FB-40A3-A1BA-89B396901995}" type="sibTrans" cxnId="{D5D9FCC3-61E1-42DB-9142-8B03BE1205E7}">
      <dgm:prSet/>
      <dgm:spPr/>
      <dgm:t>
        <a:bodyPr/>
        <a:lstStyle/>
        <a:p>
          <a:endParaRPr lang="es-AR"/>
        </a:p>
      </dgm:t>
    </dgm:pt>
    <dgm:pt modelId="{BE1F0122-48E0-4A92-879B-4DED83BA8DF9}">
      <dgm:prSet phldrT="[Texto]"/>
      <dgm:spPr/>
      <dgm:t>
        <a:bodyPr/>
        <a:lstStyle/>
        <a:p>
          <a:pPr>
            <a:lnSpc>
              <a:spcPct val="100000"/>
            </a:lnSpc>
          </a:pPr>
          <a:r>
            <a:rPr lang="es-AR"/>
            <a:t>Modelo Conceptual</a:t>
          </a:r>
        </a:p>
      </dgm:t>
    </dgm:pt>
    <dgm:pt modelId="{E6C7B5DA-0543-4FF5-A987-D61F6901E656}" type="parTrans" cxnId="{C63A4116-7FCD-4010-8E9C-FB661992D5E1}">
      <dgm:prSet/>
      <dgm:spPr/>
      <dgm:t>
        <a:bodyPr/>
        <a:lstStyle/>
        <a:p>
          <a:endParaRPr lang="es-AR"/>
        </a:p>
      </dgm:t>
    </dgm:pt>
    <dgm:pt modelId="{71D44D90-E6DB-4057-8F9F-55B47328E9A1}" type="sibTrans" cxnId="{C63A4116-7FCD-4010-8E9C-FB661992D5E1}">
      <dgm:prSet/>
      <dgm:spPr/>
      <dgm:t>
        <a:bodyPr/>
        <a:lstStyle/>
        <a:p>
          <a:endParaRPr lang="es-AR"/>
        </a:p>
      </dgm:t>
    </dgm:pt>
    <dgm:pt modelId="{95159A53-F5A0-439B-BEAC-6F656878AB7C}">
      <dgm:prSet phldrT="[Texto]"/>
      <dgm:spPr/>
      <dgm:t>
        <a:bodyPr/>
        <a:lstStyle/>
        <a:p>
          <a:pPr>
            <a:lnSpc>
              <a:spcPct val="100000"/>
            </a:lnSpc>
          </a:pPr>
          <a:r>
            <a:rPr lang="es-AR"/>
            <a:t>Independiente del SGBD</a:t>
          </a:r>
        </a:p>
      </dgm:t>
    </dgm:pt>
    <dgm:pt modelId="{A7313581-55C0-4B01-B28D-F1D02BCA57F4}" type="parTrans" cxnId="{1D052E5B-A4AF-434F-93CB-1E44D52A77C9}">
      <dgm:prSet/>
      <dgm:spPr/>
      <dgm:t>
        <a:bodyPr/>
        <a:lstStyle/>
        <a:p>
          <a:endParaRPr lang="es-AR"/>
        </a:p>
      </dgm:t>
    </dgm:pt>
    <dgm:pt modelId="{0B670CC1-49AC-4BC2-B5FA-87B544364854}" type="sibTrans" cxnId="{1D052E5B-A4AF-434F-93CB-1E44D52A77C9}">
      <dgm:prSet/>
      <dgm:spPr/>
      <dgm:t>
        <a:bodyPr/>
        <a:lstStyle/>
        <a:p>
          <a:endParaRPr lang="es-AR"/>
        </a:p>
      </dgm:t>
    </dgm:pt>
    <dgm:pt modelId="{C890C74C-BE5C-4CE5-AA63-DDEE70D8D5EB}">
      <dgm:prSet phldrT="[Texto]"/>
      <dgm:spPr/>
      <dgm:t>
        <a:bodyPr/>
        <a:lstStyle/>
        <a:p>
          <a:pPr>
            <a:lnSpc>
              <a:spcPct val="100000"/>
            </a:lnSpc>
          </a:pPr>
          <a:r>
            <a:rPr lang="es-AR"/>
            <a:t>Alto nivel de abstracción</a:t>
          </a:r>
        </a:p>
      </dgm:t>
    </dgm:pt>
    <dgm:pt modelId="{35CD3E23-1C38-421F-AC5F-0C8DADC16AAD}" type="parTrans" cxnId="{C1EC0658-73C5-4E2B-AFEE-1D268988D42E}">
      <dgm:prSet/>
      <dgm:spPr/>
      <dgm:t>
        <a:bodyPr/>
        <a:lstStyle/>
        <a:p>
          <a:endParaRPr lang="es-AR"/>
        </a:p>
      </dgm:t>
    </dgm:pt>
    <dgm:pt modelId="{3F14CC88-E4DD-4D26-9234-7825444B0BD5}" type="sibTrans" cxnId="{C1EC0658-73C5-4E2B-AFEE-1D268988D42E}">
      <dgm:prSet/>
      <dgm:spPr/>
      <dgm:t>
        <a:bodyPr/>
        <a:lstStyle/>
        <a:p>
          <a:endParaRPr lang="es-AR"/>
        </a:p>
      </dgm:t>
    </dgm:pt>
    <dgm:pt modelId="{808E968B-5450-4FAA-A2C2-7DFFD8071580}">
      <dgm:prSet phldrT="[Texto]"/>
      <dgm:spPr/>
      <dgm:t>
        <a:bodyPr/>
        <a:lstStyle/>
        <a:p>
          <a:pPr>
            <a:lnSpc>
              <a:spcPct val="100000"/>
            </a:lnSpc>
          </a:pPr>
          <a:r>
            <a:rPr lang="es-AR"/>
            <a:t>Modelo Lógico</a:t>
          </a:r>
        </a:p>
      </dgm:t>
    </dgm:pt>
    <dgm:pt modelId="{DB391885-C537-4B8D-A2EA-40F2E18633FB}" type="parTrans" cxnId="{B9881E31-8AFB-4BB2-8242-259C5419E432}">
      <dgm:prSet/>
      <dgm:spPr/>
      <dgm:t>
        <a:bodyPr/>
        <a:lstStyle/>
        <a:p>
          <a:endParaRPr lang="es-AR"/>
        </a:p>
      </dgm:t>
    </dgm:pt>
    <dgm:pt modelId="{8ABFC16C-E9F2-4F02-86A7-77AADF6EC806}" type="sibTrans" cxnId="{B9881E31-8AFB-4BB2-8242-259C5419E432}">
      <dgm:prSet/>
      <dgm:spPr/>
      <dgm:t>
        <a:bodyPr/>
        <a:lstStyle/>
        <a:p>
          <a:endParaRPr lang="es-AR"/>
        </a:p>
      </dgm:t>
    </dgm:pt>
    <dgm:pt modelId="{58C34936-8759-40AF-BA6A-CC7521EB15F6}">
      <dgm:prSet phldrT="[Texto]"/>
      <dgm:spPr/>
      <dgm:t>
        <a:bodyPr/>
        <a:lstStyle/>
        <a:p>
          <a:pPr>
            <a:lnSpc>
              <a:spcPct val="100000"/>
            </a:lnSpc>
          </a:pPr>
          <a:r>
            <a:rPr lang="es-AR"/>
            <a:t>Dependiente del tipo de SGBD</a:t>
          </a:r>
        </a:p>
      </dgm:t>
    </dgm:pt>
    <dgm:pt modelId="{F45254CB-29D5-42B1-A617-7CA3904E60B2}" type="parTrans" cxnId="{9E12D20D-F787-4110-9E57-486764466DF9}">
      <dgm:prSet/>
      <dgm:spPr/>
      <dgm:t>
        <a:bodyPr/>
        <a:lstStyle/>
        <a:p>
          <a:endParaRPr lang="es-AR"/>
        </a:p>
      </dgm:t>
    </dgm:pt>
    <dgm:pt modelId="{B9FDE769-B1D4-4C8E-8FE9-F151734B9198}" type="sibTrans" cxnId="{9E12D20D-F787-4110-9E57-486764466DF9}">
      <dgm:prSet/>
      <dgm:spPr/>
      <dgm:t>
        <a:bodyPr/>
        <a:lstStyle/>
        <a:p>
          <a:endParaRPr lang="es-AR"/>
        </a:p>
      </dgm:t>
    </dgm:pt>
    <dgm:pt modelId="{4B0FA00F-AEC4-47CF-A582-E0A6CD8A2E7C}">
      <dgm:prSet phldrT="[Texto]"/>
      <dgm:spPr/>
      <dgm:t>
        <a:bodyPr/>
        <a:lstStyle/>
        <a:p>
          <a:pPr>
            <a:lnSpc>
              <a:spcPct val="100000"/>
            </a:lnSpc>
          </a:pPr>
          <a:r>
            <a:rPr lang="es-AR"/>
            <a:t>Modelo Físico</a:t>
          </a:r>
        </a:p>
      </dgm:t>
    </dgm:pt>
    <dgm:pt modelId="{91E0B0EC-6091-46AE-9A52-A4851596E9FC}" type="parTrans" cxnId="{20A1FADA-72ED-41C4-A619-861F68490766}">
      <dgm:prSet/>
      <dgm:spPr/>
      <dgm:t>
        <a:bodyPr/>
        <a:lstStyle/>
        <a:p>
          <a:endParaRPr lang="es-AR"/>
        </a:p>
      </dgm:t>
    </dgm:pt>
    <dgm:pt modelId="{CFA79C54-C083-447E-BB0E-9B10E44F7493}" type="sibTrans" cxnId="{20A1FADA-72ED-41C4-A619-861F68490766}">
      <dgm:prSet/>
      <dgm:spPr/>
      <dgm:t>
        <a:bodyPr/>
        <a:lstStyle/>
        <a:p>
          <a:endParaRPr lang="es-AR"/>
        </a:p>
      </dgm:t>
    </dgm:pt>
    <dgm:pt modelId="{B666195D-1657-42E2-AC81-E19CDB764662}">
      <dgm:prSet phldrT="[Texto]"/>
      <dgm:spPr/>
      <dgm:t>
        <a:bodyPr/>
        <a:lstStyle/>
        <a:p>
          <a:pPr>
            <a:lnSpc>
              <a:spcPct val="100000"/>
            </a:lnSpc>
          </a:pPr>
          <a:r>
            <a:rPr lang="es-AR"/>
            <a:t>Dependiente del SGBD. </a:t>
          </a:r>
        </a:p>
      </dgm:t>
    </dgm:pt>
    <dgm:pt modelId="{D1228252-5CA7-4858-8945-897A2F8C9DC2}" type="parTrans" cxnId="{93052911-59EF-427F-B8B3-A908A8962AF0}">
      <dgm:prSet/>
      <dgm:spPr/>
      <dgm:t>
        <a:bodyPr/>
        <a:lstStyle/>
        <a:p>
          <a:endParaRPr lang="es-AR"/>
        </a:p>
      </dgm:t>
    </dgm:pt>
    <dgm:pt modelId="{76D54EF1-5903-4769-BEC2-329389D02B41}" type="sibTrans" cxnId="{93052911-59EF-427F-B8B3-A908A8962AF0}">
      <dgm:prSet/>
      <dgm:spPr/>
      <dgm:t>
        <a:bodyPr/>
        <a:lstStyle/>
        <a:p>
          <a:endParaRPr lang="es-AR"/>
        </a:p>
      </dgm:t>
    </dgm:pt>
    <dgm:pt modelId="{E2174C2F-4C9D-4249-AAB1-64FD13C036DD}" type="pres">
      <dgm:prSet presAssocID="{E5C50286-EFA0-4017-9F12-AD355466312A}" presName="root" presStyleCnt="0">
        <dgm:presLayoutVars>
          <dgm:dir/>
          <dgm:resizeHandles val="exact"/>
        </dgm:presLayoutVars>
      </dgm:prSet>
      <dgm:spPr/>
      <dgm:t>
        <a:bodyPr/>
        <a:lstStyle/>
        <a:p>
          <a:endParaRPr lang="es-AR"/>
        </a:p>
      </dgm:t>
    </dgm:pt>
    <dgm:pt modelId="{4A98EA35-5AF0-4E4A-AEE4-D5B9C2F87726}" type="pres">
      <dgm:prSet presAssocID="{99FF87E2-C662-40A7-9E28-A3FAB210A0A9}" presName="compNode" presStyleCnt="0"/>
      <dgm:spPr/>
    </dgm:pt>
    <dgm:pt modelId="{054B8619-EC8A-4B0A-8898-18E9608F8C2E}" type="pres">
      <dgm:prSet presAssocID="{99FF87E2-C662-40A7-9E28-A3FAB210A0A9}" presName="bgRect" presStyleLbl="bgShp" presStyleIdx="0" presStyleCnt="4"/>
      <dgm:spPr/>
    </dgm:pt>
    <dgm:pt modelId="{7B51C29E-654B-4167-A46C-5C39C856FD0C}" type="pres">
      <dgm:prSet presAssocID="{99FF87E2-C662-40A7-9E28-A3FAB210A0A9}"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dgm:spPr>
      <dgm:t>
        <a:bodyPr/>
        <a:lstStyle/>
        <a:p>
          <a:endParaRPr lang="es-AR"/>
        </a:p>
      </dgm:t>
      <dgm:extLst>
        <a:ext uri="{E40237B7-FDA0-4F09-8148-C483321AD2D9}">
          <dgm14:cNvPr xmlns:dgm14="http://schemas.microsoft.com/office/drawing/2010/diagram" id="0" name="" descr="Marca de verificación"/>
        </a:ext>
      </dgm:extLst>
    </dgm:pt>
    <dgm:pt modelId="{6E0B0A8F-1FB2-4E3E-B180-DD53E1299851}" type="pres">
      <dgm:prSet presAssocID="{99FF87E2-C662-40A7-9E28-A3FAB210A0A9}" presName="spaceRect" presStyleCnt="0"/>
      <dgm:spPr/>
    </dgm:pt>
    <dgm:pt modelId="{5CA5C72A-7EDC-4ABE-96B2-6B4F329AC840}" type="pres">
      <dgm:prSet presAssocID="{99FF87E2-C662-40A7-9E28-A3FAB210A0A9}" presName="parTx" presStyleLbl="revTx" presStyleIdx="0" presStyleCnt="8">
        <dgm:presLayoutVars>
          <dgm:chMax val="0"/>
          <dgm:chPref val="0"/>
        </dgm:presLayoutVars>
      </dgm:prSet>
      <dgm:spPr/>
      <dgm:t>
        <a:bodyPr/>
        <a:lstStyle/>
        <a:p>
          <a:endParaRPr lang="es-AR"/>
        </a:p>
      </dgm:t>
    </dgm:pt>
    <dgm:pt modelId="{F47FF8E4-39A3-4C3A-BCDF-6B3CA8FD9A1B}" type="pres">
      <dgm:prSet presAssocID="{99FF87E2-C662-40A7-9E28-A3FAB210A0A9}" presName="desTx" presStyleLbl="revTx" presStyleIdx="1" presStyleCnt="8">
        <dgm:presLayoutVars/>
      </dgm:prSet>
      <dgm:spPr/>
      <dgm:t>
        <a:bodyPr/>
        <a:lstStyle/>
        <a:p>
          <a:endParaRPr lang="es-AR"/>
        </a:p>
      </dgm:t>
    </dgm:pt>
    <dgm:pt modelId="{430FD02E-9087-4D46-83B0-84C79814E5C3}" type="pres">
      <dgm:prSet presAssocID="{DEB33EE1-23B1-4AD2-B0E9-3C1A53822195}" presName="sibTrans" presStyleCnt="0"/>
      <dgm:spPr/>
    </dgm:pt>
    <dgm:pt modelId="{C71C8BC3-2788-4B86-8C5E-BFDD0F046177}" type="pres">
      <dgm:prSet presAssocID="{BE1F0122-48E0-4A92-879B-4DED83BA8DF9}" presName="compNode" presStyleCnt="0"/>
      <dgm:spPr/>
    </dgm:pt>
    <dgm:pt modelId="{1920803E-2CA1-4309-B855-2125070C085C}" type="pres">
      <dgm:prSet presAssocID="{BE1F0122-48E0-4A92-879B-4DED83BA8DF9}" presName="bgRect" presStyleLbl="bgShp" presStyleIdx="1" presStyleCnt="4"/>
      <dgm:spPr/>
    </dgm:pt>
    <dgm:pt modelId="{499979BD-ED95-420E-951B-A672B6F373C1}" type="pres">
      <dgm:prSet presAssocID="{BE1F0122-48E0-4A92-879B-4DED83BA8DF9}" presName="iconRect" presStyleLbl="node1" presStyleIdx="1" presStyleCnt="4"/>
      <dgm:spPr>
        <a:blipFill>
          <a:blip xmlns:r="http://schemas.openxmlformats.org/officeDocument/2006/relationships" r:embed="rId3">
            <a:extLst>
              <a:ext uri="{96DAC541-7B7A-43D3-8B79-37D633B846F1}">
                <asvg:svgBlip xmlns="" xmlns:asvg="http://schemas.microsoft.com/office/drawing/2016/SVG/main" r:embed="rId4"/>
              </a:ext>
            </a:extLst>
          </a:blip>
          <a:srcRect/>
          <a:stretch>
            <a:fillRect/>
          </a:stretch>
        </a:blipFill>
      </dgm:spPr>
      <dgm:extLst>
        <a:ext uri="{E40237B7-FDA0-4F09-8148-C483321AD2D9}">
          <dgm14:cNvPr xmlns:dgm14="http://schemas.microsoft.com/office/drawing/2010/diagram" id="0" name="" descr="Diagrama de Venn"/>
        </a:ext>
      </dgm:extLst>
    </dgm:pt>
    <dgm:pt modelId="{2BBE78D7-B1A5-472C-BB85-A468AFE8917D}" type="pres">
      <dgm:prSet presAssocID="{BE1F0122-48E0-4A92-879B-4DED83BA8DF9}" presName="spaceRect" presStyleCnt="0"/>
      <dgm:spPr/>
    </dgm:pt>
    <dgm:pt modelId="{5842A4ED-D8A2-436C-B473-01887BCC2891}" type="pres">
      <dgm:prSet presAssocID="{BE1F0122-48E0-4A92-879B-4DED83BA8DF9}" presName="parTx" presStyleLbl="revTx" presStyleIdx="2" presStyleCnt="8">
        <dgm:presLayoutVars>
          <dgm:chMax val="0"/>
          <dgm:chPref val="0"/>
        </dgm:presLayoutVars>
      </dgm:prSet>
      <dgm:spPr/>
      <dgm:t>
        <a:bodyPr/>
        <a:lstStyle/>
        <a:p>
          <a:endParaRPr lang="es-AR"/>
        </a:p>
      </dgm:t>
    </dgm:pt>
    <dgm:pt modelId="{84731128-9C10-4FCD-8FCF-1529D619DF66}" type="pres">
      <dgm:prSet presAssocID="{BE1F0122-48E0-4A92-879B-4DED83BA8DF9}" presName="desTx" presStyleLbl="revTx" presStyleIdx="3" presStyleCnt="8">
        <dgm:presLayoutVars/>
      </dgm:prSet>
      <dgm:spPr/>
      <dgm:t>
        <a:bodyPr/>
        <a:lstStyle/>
        <a:p>
          <a:endParaRPr lang="es-AR"/>
        </a:p>
      </dgm:t>
    </dgm:pt>
    <dgm:pt modelId="{7956173B-F7B2-4274-9378-A32F2B18DE10}" type="pres">
      <dgm:prSet presAssocID="{71D44D90-E6DB-4057-8F9F-55B47328E9A1}" presName="sibTrans" presStyleCnt="0"/>
      <dgm:spPr/>
    </dgm:pt>
    <dgm:pt modelId="{710150FE-51AF-453C-90EF-4AC9572BACD1}" type="pres">
      <dgm:prSet presAssocID="{808E968B-5450-4FAA-A2C2-7DFFD8071580}" presName="compNode" presStyleCnt="0"/>
      <dgm:spPr/>
    </dgm:pt>
    <dgm:pt modelId="{0A5BEDE2-A009-4551-B5DE-EAA0E0B5A417}" type="pres">
      <dgm:prSet presAssocID="{808E968B-5450-4FAA-A2C2-7DFFD8071580}" presName="bgRect" presStyleLbl="bgShp" presStyleIdx="2" presStyleCnt="4"/>
      <dgm:spPr/>
    </dgm:pt>
    <dgm:pt modelId="{362ADD81-D664-4704-A060-6F2DF662E2A6}" type="pres">
      <dgm:prSet presAssocID="{808E968B-5450-4FAA-A2C2-7DFFD8071580}"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dgm:spPr>
      <dgm:t>
        <a:bodyPr/>
        <a:lstStyle/>
        <a:p>
          <a:endParaRPr lang="es-AR"/>
        </a:p>
      </dgm:t>
      <dgm:extLst>
        <a:ext uri="{E40237B7-FDA0-4F09-8148-C483321AD2D9}">
          <dgm14:cNvPr xmlns:dgm14="http://schemas.microsoft.com/office/drawing/2010/diagram" id="0" name="" descr="Network Diagram"/>
        </a:ext>
      </dgm:extLst>
    </dgm:pt>
    <dgm:pt modelId="{ADFE5228-5200-4091-99C5-C6A4EF922BF2}" type="pres">
      <dgm:prSet presAssocID="{808E968B-5450-4FAA-A2C2-7DFFD8071580}" presName="spaceRect" presStyleCnt="0"/>
      <dgm:spPr/>
    </dgm:pt>
    <dgm:pt modelId="{2808383A-27C4-42DC-92FA-B56CBC1C92BD}" type="pres">
      <dgm:prSet presAssocID="{808E968B-5450-4FAA-A2C2-7DFFD8071580}" presName="parTx" presStyleLbl="revTx" presStyleIdx="4" presStyleCnt="8">
        <dgm:presLayoutVars>
          <dgm:chMax val="0"/>
          <dgm:chPref val="0"/>
        </dgm:presLayoutVars>
      </dgm:prSet>
      <dgm:spPr/>
      <dgm:t>
        <a:bodyPr/>
        <a:lstStyle/>
        <a:p>
          <a:endParaRPr lang="es-AR"/>
        </a:p>
      </dgm:t>
    </dgm:pt>
    <dgm:pt modelId="{0E9DC3C3-F120-4123-8BBD-DF8767D957DC}" type="pres">
      <dgm:prSet presAssocID="{808E968B-5450-4FAA-A2C2-7DFFD8071580}" presName="desTx" presStyleLbl="revTx" presStyleIdx="5" presStyleCnt="8">
        <dgm:presLayoutVars/>
      </dgm:prSet>
      <dgm:spPr/>
      <dgm:t>
        <a:bodyPr/>
        <a:lstStyle/>
        <a:p>
          <a:endParaRPr lang="es-AR"/>
        </a:p>
      </dgm:t>
    </dgm:pt>
    <dgm:pt modelId="{62F88457-37B5-4823-B754-14D2023A8BF5}" type="pres">
      <dgm:prSet presAssocID="{8ABFC16C-E9F2-4F02-86A7-77AADF6EC806}" presName="sibTrans" presStyleCnt="0"/>
      <dgm:spPr/>
    </dgm:pt>
    <dgm:pt modelId="{2F271F52-B7DA-4B80-B7F8-A9D6F2C2FD77}" type="pres">
      <dgm:prSet presAssocID="{4B0FA00F-AEC4-47CF-A582-E0A6CD8A2E7C}" presName="compNode" presStyleCnt="0"/>
      <dgm:spPr/>
    </dgm:pt>
    <dgm:pt modelId="{D506B3C7-8813-462A-8056-A4AC7715783C}" type="pres">
      <dgm:prSet presAssocID="{4B0FA00F-AEC4-47CF-A582-E0A6CD8A2E7C}" presName="bgRect" presStyleLbl="bgShp" presStyleIdx="3" presStyleCnt="4"/>
      <dgm:spPr/>
    </dgm:pt>
    <dgm:pt modelId="{40A9BFFD-AE5D-486E-9649-362EC77C57B6}" type="pres">
      <dgm:prSet presAssocID="{4B0FA00F-AEC4-47CF-A582-E0A6CD8A2E7C}"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rcRect/>
          <a:stretch>
            <a:fillRect/>
          </a:stretch>
        </a:blipFill>
      </dgm:spPr>
      <dgm:t>
        <a:bodyPr/>
        <a:lstStyle/>
        <a:p>
          <a:endParaRPr lang="es-AR"/>
        </a:p>
      </dgm:t>
      <dgm:extLst>
        <a:ext uri="{E40237B7-FDA0-4F09-8148-C483321AD2D9}">
          <dgm14:cNvPr xmlns:dgm14="http://schemas.microsoft.com/office/drawing/2010/diagram" id="0" name="" descr="Base de datos"/>
        </a:ext>
      </dgm:extLst>
    </dgm:pt>
    <dgm:pt modelId="{E5F73735-C06D-4932-93F3-53E4C14211C6}" type="pres">
      <dgm:prSet presAssocID="{4B0FA00F-AEC4-47CF-A582-E0A6CD8A2E7C}" presName="spaceRect" presStyleCnt="0"/>
      <dgm:spPr/>
    </dgm:pt>
    <dgm:pt modelId="{D76ECF98-83CE-4CAC-902E-CBCE6FE3584C}" type="pres">
      <dgm:prSet presAssocID="{4B0FA00F-AEC4-47CF-A582-E0A6CD8A2E7C}" presName="parTx" presStyleLbl="revTx" presStyleIdx="6" presStyleCnt="8">
        <dgm:presLayoutVars>
          <dgm:chMax val="0"/>
          <dgm:chPref val="0"/>
        </dgm:presLayoutVars>
      </dgm:prSet>
      <dgm:spPr/>
      <dgm:t>
        <a:bodyPr/>
        <a:lstStyle/>
        <a:p>
          <a:endParaRPr lang="es-AR"/>
        </a:p>
      </dgm:t>
    </dgm:pt>
    <dgm:pt modelId="{DD12184A-C4DC-4DC9-A1E0-1A0E57B406DF}" type="pres">
      <dgm:prSet presAssocID="{4B0FA00F-AEC4-47CF-A582-E0A6CD8A2E7C}" presName="desTx" presStyleLbl="revTx" presStyleIdx="7" presStyleCnt="8">
        <dgm:presLayoutVars/>
      </dgm:prSet>
      <dgm:spPr/>
      <dgm:t>
        <a:bodyPr/>
        <a:lstStyle/>
        <a:p>
          <a:endParaRPr lang="es-AR"/>
        </a:p>
      </dgm:t>
    </dgm:pt>
  </dgm:ptLst>
  <dgm:cxnLst>
    <dgm:cxn modelId="{1D052E5B-A4AF-434F-93CB-1E44D52A77C9}" srcId="{BE1F0122-48E0-4A92-879B-4DED83BA8DF9}" destId="{95159A53-F5A0-439B-BEAC-6F656878AB7C}" srcOrd="0" destOrd="0" parTransId="{A7313581-55C0-4B01-B28D-F1D02BCA57F4}" sibTransId="{0B670CC1-49AC-4BC2-B5FA-87B544364854}"/>
    <dgm:cxn modelId="{09C24416-11F6-474C-9377-DB75D578E12B}" type="presOf" srcId="{BE1F0122-48E0-4A92-879B-4DED83BA8DF9}" destId="{5842A4ED-D8A2-436C-B473-01887BCC2891}" srcOrd="0" destOrd="0" presId="urn:microsoft.com/office/officeart/2018/2/layout/IconVerticalSolidList"/>
    <dgm:cxn modelId="{D0F08F23-8538-4877-9F70-09A6E83E5A42}" srcId="{E5C50286-EFA0-4017-9F12-AD355466312A}" destId="{99FF87E2-C662-40A7-9E28-A3FAB210A0A9}" srcOrd="0" destOrd="0" parTransId="{DD8A795C-DFFB-47DF-A13C-634BB89498E9}" sibTransId="{DEB33EE1-23B1-4AD2-B0E9-3C1A53822195}"/>
    <dgm:cxn modelId="{9E12D20D-F787-4110-9E57-486764466DF9}" srcId="{808E968B-5450-4FAA-A2C2-7DFFD8071580}" destId="{58C34936-8759-40AF-BA6A-CC7521EB15F6}" srcOrd="0" destOrd="0" parTransId="{F45254CB-29D5-42B1-A617-7CA3904E60B2}" sibTransId="{B9FDE769-B1D4-4C8E-8FE9-F151734B9198}"/>
    <dgm:cxn modelId="{E61E0CCD-D94A-4165-BB7A-3630712AAA2E}" type="presOf" srcId="{C890C74C-BE5C-4CE5-AA63-DDEE70D8D5EB}" destId="{84731128-9C10-4FCD-8FCF-1529D619DF66}" srcOrd="0" destOrd="1" presId="urn:microsoft.com/office/officeart/2018/2/layout/IconVerticalSolidList"/>
    <dgm:cxn modelId="{4D71625B-7BFB-4572-977C-DF8B012B9E1D}" type="presOf" srcId="{58C34936-8759-40AF-BA6A-CC7521EB15F6}" destId="{0E9DC3C3-F120-4123-8BBD-DF8767D957DC}" srcOrd="0" destOrd="0" presId="urn:microsoft.com/office/officeart/2018/2/layout/IconVerticalSolidList"/>
    <dgm:cxn modelId="{5253DEF0-E39D-4043-9B76-9F06B2050368}" type="presOf" srcId="{4B0FA00F-AEC4-47CF-A582-E0A6CD8A2E7C}" destId="{D76ECF98-83CE-4CAC-902E-CBCE6FE3584C}" srcOrd="0" destOrd="0" presId="urn:microsoft.com/office/officeart/2018/2/layout/IconVerticalSolidList"/>
    <dgm:cxn modelId="{93052911-59EF-427F-B8B3-A908A8962AF0}" srcId="{4B0FA00F-AEC4-47CF-A582-E0A6CD8A2E7C}" destId="{B666195D-1657-42E2-AC81-E19CDB764662}" srcOrd="0" destOrd="0" parTransId="{D1228252-5CA7-4858-8945-897A2F8C9DC2}" sibTransId="{76D54EF1-5903-4769-BEC2-329389D02B41}"/>
    <dgm:cxn modelId="{20A1FADA-72ED-41C4-A619-861F68490766}" srcId="{E5C50286-EFA0-4017-9F12-AD355466312A}" destId="{4B0FA00F-AEC4-47CF-A582-E0A6CD8A2E7C}" srcOrd="3" destOrd="0" parTransId="{91E0B0EC-6091-46AE-9A52-A4851596E9FC}" sibTransId="{CFA79C54-C083-447E-BB0E-9B10E44F7493}"/>
    <dgm:cxn modelId="{B64394EB-F736-4D73-A0DF-223506221427}" type="presOf" srcId="{95159A53-F5A0-439B-BEAC-6F656878AB7C}" destId="{84731128-9C10-4FCD-8FCF-1529D619DF66}" srcOrd="0" destOrd="0" presId="urn:microsoft.com/office/officeart/2018/2/layout/IconVerticalSolidList"/>
    <dgm:cxn modelId="{C1EC0658-73C5-4E2B-AFEE-1D268988D42E}" srcId="{BE1F0122-48E0-4A92-879B-4DED83BA8DF9}" destId="{C890C74C-BE5C-4CE5-AA63-DDEE70D8D5EB}" srcOrd="1" destOrd="0" parTransId="{35CD3E23-1C38-421F-AC5F-0C8DADC16AAD}" sibTransId="{3F14CC88-E4DD-4D26-9234-7825444B0BD5}"/>
    <dgm:cxn modelId="{D5D9FCC3-61E1-42DB-9142-8B03BE1205E7}" srcId="{99FF87E2-C662-40A7-9E28-A3FAB210A0A9}" destId="{ED1FAC21-B748-4D33-9387-90AB391014B8}" srcOrd="0" destOrd="0" parTransId="{3AD8E4FA-FDBA-419F-B514-E9B5ADE8C42B}" sibTransId="{B8602025-30FB-40A3-A1BA-89B396901995}"/>
    <dgm:cxn modelId="{5A453596-1247-4CA5-B310-6F9D332057FE}" type="presOf" srcId="{E5C50286-EFA0-4017-9F12-AD355466312A}" destId="{E2174C2F-4C9D-4249-AAB1-64FD13C036DD}" srcOrd="0" destOrd="0" presId="urn:microsoft.com/office/officeart/2018/2/layout/IconVerticalSolidList"/>
    <dgm:cxn modelId="{B9881E31-8AFB-4BB2-8242-259C5419E432}" srcId="{E5C50286-EFA0-4017-9F12-AD355466312A}" destId="{808E968B-5450-4FAA-A2C2-7DFFD8071580}" srcOrd="2" destOrd="0" parTransId="{DB391885-C537-4B8D-A2EA-40F2E18633FB}" sibTransId="{8ABFC16C-E9F2-4F02-86A7-77AADF6EC806}"/>
    <dgm:cxn modelId="{F745DADD-370A-48E0-BD0A-1404169D11CA}" type="presOf" srcId="{808E968B-5450-4FAA-A2C2-7DFFD8071580}" destId="{2808383A-27C4-42DC-92FA-B56CBC1C92BD}" srcOrd="0" destOrd="0" presId="urn:microsoft.com/office/officeart/2018/2/layout/IconVerticalSolidList"/>
    <dgm:cxn modelId="{80A41DC6-D018-45CC-8524-C3A1DE14B7CF}" type="presOf" srcId="{B666195D-1657-42E2-AC81-E19CDB764662}" destId="{DD12184A-C4DC-4DC9-A1E0-1A0E57B406DF}" srcOrd="0" destOrd="0" presId="urn:microsoft.com/office/officeart/2018/2/layout/IconVerticalSolidList"/>
    <dgm:cxn modelId="{C63A4116-7FCD-4010-8E9C-FB661992D5E1}" srcId="{E5C50286-EFA0-4017-9F12-AD355466312A}" destId="{BE1F0122-48E0-4A92-879B-4DED83BA8DF9}" srcOrd="1" destOrd="0" parTransId="{E6C7B5DA-0543-4FF5-A987-D61F6901E656}" sibTransId="{71D44D90-E6DB-4057-8F9F-55B47328E9A1}"/>
    <dgm:cxn modelId="{07A2A5F4-3906-41B3-AAF2-C07A354914D7}" type="presOf" srcId="{99FF87E2-C662-40A7-9E28-A3FAB210A0A9}" destId="{5CA5C72A-7EDC-4ABE-96B2-6B4F329AC840}" srcOrd="0" destOrd="0" presId="urn:microsoft.com/office/officeart/2018/2/layout/IconVerticalSolidList"/>
    <dgm:cxn modelId="{064C70D7-1059-4C5A-8A73-9CC8CE38E6E6}" type="presOf" srcId="{ED1FAC21-B748-4D33-9387-90AB391014B8}" destId="{F47FF8E4-39A3-4C3A-BCDF-6B3CA8FD9A1B}" srcOrd="0" destOrd="0" presId="urn:microsoft.com/office/officeart/2018/2/layout/IconVerticalSolidList"/>
    <dgm:cxn modelId="{46D134BD-4183-40B8-90ED-E4048F9FE0BD}" type="presParOf" srcId="{E2174C2F-4C9D-4249-AAB1-64FD13C036DD}" destId="{4A98EA35-5AF0-4E4A-AEE4-D5B9C2F87726}" srcOrd="0" destOrd="0" presId="urn:microsoft.com/office/officeart/2018/2/layout/IconVerticalSolidList"/>
    <dgm:cxn modelId="{552AD1F8-A9AE-43CA-BF7D-1BD6FE0E0B78}" type="presParOf" srcId="{4A98EA35-5AF0-4E4A-AEE4-D5B9C2F87726}" destId="{054B8619-EC8A-4B0A-8898-18E9608F8C2E}" srcOrd="0" destOrd="0" presId="urn:microsoft.com/office/officeart/2018/2/layout/IconVerticalSolidList"/>
    <dgm:cxn modelId="{CBEF731B-7537-4563-ACBF-B2285FFF05DA}" type="presParOf" srcId="{4A98EA35-5AF0-4E4A-AEE4-D5B9C2F87726}" destId="{7B51C29E-654B-4167-A46C-5C39C856FD0C}" srcOrd="1" destOrd="0" presId="urn:microsoft.com/office/officeart/2018/2/layout/IconVerticalSolidList"/>
    <dgm:cxn modelId="{4EA060A0-87D7-4352-B026-D7923005DE5A}" type="presParOf" srcId="{4A98EA35-5AF0-4E4A-AEE4-D5B9C2F87726}" destId="{6E0B0A8F-1FB2-4E3E-B180-DD53E1299851}" srcOrd="2" destOrd="0" presId="urn:microsoft.com/office/officeart/2018/2/layout/IconVerticalSolidList"/>
    <dgm:cxn modelId="{FD1A1CFD-C1B6-4DC9-8ABD-028F6C1357BB}" type="presParOf" srcId="{4A98EA35-5AF0-4E4A-AEE4-D5B9C2F87726}" destId="{5CA5C72A-7EDC-4ABE-96B2-6B4F329AC840}" srcOrd="3" destOrd="0" presId="urn:microsoft.com/office/officeart/2018/2/layout/IconVerticalSolidList"/>
    <dgm:cxn modelId="{C9E895B0-A5A5-480A-A0CF-8FBE649DE355}" type="presParOf" srcId="{4A98EA35-5AF0-4E4A-AEE4-D5B9C2F87726}" destId="{F47FF8E4-39A3-4C3A-BCDF-6B3CA8FD9A1B}" srcOrd="4" destOrd="0" presId="urn:microsoft.com/office/officeart/2018/2/layout/IconVerticalSolidList"/>
    <dgm:cxn modelId="{CC7CD7CE-BCD4-40A9-874A-BB04C7925BA0}" type="presParOf" srcId="{E2174C2F-4C9D-4249-AAB1-64FD13C036DD}" destId="{430FD02E-9087-4D46-83B0-84C79814E5C3}" srcOrd="1" destOrd="0" presId="urn:microsoft.com/office/officeart/2018/2/layout/IconVerticalSolidList"/>
    <dgm:cxn modelId="{203C28CD-D22C-47E9-92F7-FBED8047AD6D}" type="presParOf" srcId="{E2174C2F-4C9D-4249-AAB1-64FD13C036DD}" destId="{C71C8BC3-2788-4B86-8C5E-BFDD0F046177}" srcOrd="2" destOrd="0" presId="urn:microsoft.com/office/officeart/2018/2/layout/IconVerticalSolidList"/>
    <dgm:cxn modelId="{C555D69A-99AF-41AE-AA0A-AA21FB190AAA}" type="presParOf" srcId="{C71C8BC3-2788-4B86-8C5E-BFDD0F046177}" destId="{1920803E-2CA1-4309-B855-2125070C085C}" srcOrd="0" destOrd="0" presId="urn:microsoft.com/office/officeart/2018/2/layout/IconVerticalSolidList"/>
    <dgm:cxn modelId="{961C62B0-22D0-4D69-AAE8-1BB3C6CF4FF5}" type="presParOf" srcId="{C71C8BC3-2788-4B86-8C5E-BFDD0F046177}" destId="{499979BD-ED95-420E-951B-A672B6F373C1}" srcOrd="1" destOrd="0" presId="urn:microsoft.com/office/officeart/2018/2/layout/IconVerticalSolidList"/>
    <dgm:cxn modelId="{8F476884-B97C-4341-A1B3-AB6887B84ED6}" type="presParOf" srcId="{C71C8BC3-2788-4B86-8C5E-BFDD0F046177}" destId="{2BBE78D7-B1A5-472C-BB85-A468AFE8917D}" srcOrd="2" destOrd="0" presId="urn:microsoft.com/office/officeart/2018/2/layout/IconVerticalSolidList"/>
    <dgm:cxn modelId="{E39C94BC-0E4A-49C1-B0FE-728F083F2373}" type="presParOf" srcId="{C71C8BC3-2788-4B86-8C5E-BFDD0F046177}" destId="{5842A4ED-D8A2-436C-B473-01887BCC2891}" srcOrd="3" destOrd="0" presId="urn:microsoft.com/office/officeart/2018/2/layout/IconVerticalSolidList"/>
    <dgm:cxn modelId="{F23D3940-CAF9-4D5E-873A-E85E0A63453A}" type="presParOf" srcId="{C71C8BC3-2788-4B86-8C5E-BFDD0F046177}" destId="{84731128-9C10-4FCD-8FCF-1529D619DF66}" srcOrd="4" destOrd="0" presId="urn:microsoft.com/office/officeart/2018/2/layout/IconVerticalSolidList"/>
    <dgm:cxn modelId="{2C2A4D03-D9C0-4AD8-AD12-A1FE0107D765}" type="presParOf" srcId="{E2174C2F-4C9D-4249-AAB1-64FD13C036DD}" destId="{7956173B-F7B2-4274-9378-A32F2B18DE10}" srcOrd="3" destOrd="0" presId="urn:microsoft.com/office/officeart/2018/2/layout/IconVerticalSolidList"/>
    <dgm:cxn modelId="{EFDD0BD1-2887-430C-9F43-4ED5E528BB6E}" type="presParOf" srcId="{E2174C2F-4C9D-4249-AAB1-64FD13C036DD}" destId="{710150FE-51AF-453C-90EF-4AC9572BACD1}" srcOrd="4" destOrd="0" presId="urn:microsoft.com/office/officeart/2018/2/layout/IconVerticalSolidList"/>
    <dgm:cxn modelId="{CC6411F3-2BAD-4EB8-83E5-FAD39046D92A}" type="presParOf" srcId="{710150FE-51AF-453C-90EF-4AC9572BACD1}" destId="{0A5BEDE2-A009-4551-B5DE-EAA0E0B5A417}" srcOrd="0" destOrd="0" presId="urn:microsoft.com/office/officeart/2018/2/layout/IconVerticalSolidList"/>
    <dgm:cxn modelId="{81561873-F921-486C-A81E-E18C7F17B2DD}" type="presParOf" srcId="{710150FE-51AF-453C-90EF-4AC9572BACD1}" destId="{362ADD81-D664-4704-A060-6F2DF662E2A6}" srcOrd="1" destOrd="0" presId="urn:microsoft.com/office/officeart/2018/2/layout/IconVerticalSolidList"/>
    <dgm:cxn modelId="{66187CE6-A2A7-4047-BEB9-64E34A2DB44B}" type="presParOf" srcId="{710150FE-51AF-453C-90EF-4AC9572BACD1}" destId="{ADFE5228-5200-4091-99C5-C6A4EF922BF2}" srcOrd="2" destOrd="0" presId="urn:microsoft.com/office/officeart/2018/2/layout/IconVerticalSolidList"/>
    <dgm:cxn modelId="{4E59E064-9F5E-4BEA-9399-9A1C2861C7A8}" type="presParOf" srcId="{710150FE-51AF-453C-90EF-4AC9572BACD1}" destId="{2808383A-27C4-42DC-92FA-B56CBC1C92BD}" srcOrd="3" destOrd="0" presId="urn:microsoft.com/office/officeart/2018/2/layout/IconVerticalSolidList"/>
    <dgm:cxn modelId="{96D79283-4E4A-40C1-97EC-7617075EE6B4}" type="presParOf" srcId="{710150FE-51AF-453C-90EF-4AC9572BACD1}" destId="{0E9DC3C3-F120-4123-8BBD-DF8767D957DC}" srcOrd="4" destOrd="0" presId="urn:microsoft.com/office/officeart/2018/2/layout/IconVerticalSolidList"/>
    <dgm:cxn modelId="{D5C9F522-5D0D-4D0A-80EE-BC489B468902}" type="presParOf" srcId="{E2174C2F-4C9D-4249-AAB1-64FD13C036DD}" destId="{62F88457-37B5-4823-B754-14D2023A8BF5}" srcOrd="5" destOrd="0" presId="urn:microsoft.com/office/officeart/2018/2/layout/IconVerticalSolidList"/>
    <dgm:cxn modelId="{D5884FE9-C5A3-4E9E-9ED1-F0482F088E18}" type="presParOf" srcId="{E2174C2F-4C9D-4249-AAB1-64FD13C036DD}" destId="{2F271F52-B7DA-4B80-B7F8-A9D6F2C2FD77}" srcOrd="6" destOrd="0" presId="urn:microsoft.com/office/officeart/2018/2/layout/IconVerticalSolidList"/>
    <dgm:cxn modelId="{20FFCAEB-8C23-41A8-A9C6-52414EAA9E2A}" type="presParOf" srcId="{2F271F52-B7DA-4B80-B7F8-A9D6F2C2FD77}" destId="{D506B3C7-8813-462A-8056-A4AC7715783C}" srcOrd="0" destOrd="0" presId="urn:microsoft.com/office/officeart/2018/2/layout/IconVerticalSolidList"/>
    <dgm:cxn modelId="{DC02F257-711F-432A-83E8-D9530125B44D}" type="presParOf" srcId="{2F271F52-B7DA-4B80-B7F8-A9D6F2C2FD77}" destId="{40A9BFFD-AE5D-486E-9649-362EC77C57B6}" srcOrd="1" destOrd="0" presId="urn:microsoft.com/office/officeart/2018/2/layout/IconVerticalSolidList"/>
    <dgm:cxn modelId="{387D674D-9811-4B2E-B36A-DB11A2438422}" type="presParOf" srcId="{2F271F52-B7DA-4B80-B7F8-A9D6F2C2FD77}" destId="{E5F73735-C06D-4932-93F3-53E4C14211C6}" srcOrd="2" destOrd="0" presId="urn:microsoft.com/office/officeart/2018/2/layout/IconVerticalSolidList"/>
    <dgm:cxn modelId="{D65819A0-EA84-4EC3-8CDE-53C6A9C7A1C1}" type="presParOf" srcId="{2F271F52-B7DA-4B80-B7F8-A9D6F2C2FD77}" destId="{D76ECF98-83CE-4CAC-902E-CBCE6FE3584C}" srcOrd="3" destOrd="0" presId="urn:microsoft.com/office/officeart/2018/2/layout/IconVerticalSolidList"/>
    <dgm:cxn modelId="{A6037F46-A390-4204-A358-B19FC4226BBA}" type="presParOf" srcId="{2F271F52-B7DA-4B80-B7F8-A9D6F2C2FD77}" destId="{DD12184A-C4DC-4DC9-A1E0-1A0E57B406D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A461D-23D1-4EAC-A493-9AE32B7D78B3}">
      <dsp:nvSpPr>
        <dsp:cNvPr id="0" name=""/>
        <dsp:cNvSpPr/>
      </dsp:nvSpPr>
      <dsp:spPr>
        <a:xfrm>
          <a:off x="2429646" y="549"/>
          <a:ext cx="2112439" cy="75572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AR" sz="1400" kern="1200" dirty="0" smtClean="0"/>
            <a:t>Visión </a:t>
          </a:r>
          <a:r>
            <a:rPr lang="es-AR" sz="1400" kern="1200" dirty="0"/>
            <a:t>Externa</a:t>
          </a:r>
        </a:p>
      </dsp:txBody>
      <dsp:txXfrm>
        <a:off x="2451780" y="22683"/>
        <a:ext cx="2068171" cy="711456"/>
      </dsp:txXfrm>
    </dsp:sp>
    <dsp:sp modelId="{6BB19A57-8BED-4A09-92E3-596A20AE4498}">
      <dsp:nvSpPr>
        <dsp:cNvPr id="0" name=""/>
        <dsp:cNvSpPr/>
      </dsp:nvSpPr>
      <dsp:spPr>
        <a:xfrm>
          <a:off x="3440146" y="756274"/>
          <a:ext cx="91440" cy="302289"/>
        </a:xfrm>
        <a:custGeom>
          <a:avLst/>
          <a:gdLst/>
          <a:ahLst/>
          <a:cxnLst/>
          <a:rect l="0" t="0" r="0" b="0"/>
          <a:pathLst>
            <a:path>
              <a:moveTo>
                <a:pt x="45720" y="0"/>
              </a:moveTo>
              <a:lnTo>
                <a:pt x="45720" y="3022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F05DA7-8943-4BFD-A11F-9084B2F28744}">
      <dsp:nvSpPr>
        <dsp:cNvPr id="0" name=""/>
        <dsp:cNvSpPr/>
      </dsp:nvSpPr>
      <dsp:spPr>
        <a:xfrm>
          <a:off x="2429646" y="1058564"/>
          <a:ext cx="2112439" cy="75572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AR" sz="1400" kern="1200" dirty="0" smtClean="0"/>
            <a:t>Visión Lógica</a:t>
          </a:r>
          <a:endParaRPr lang="es-AR" sz="1400" kern="1200" dirty="0"/>
        </a:p>
      </dsp:txBody>
      <dsp:txXfrm>
        <a:off x="2451780" y="1080698"/>
        <a:ext cx="2068171" cy="711456"/>
      </dsp:txXfrm>
    </dsp:sp>
    <dsp:sp modelId="{6D93B916-82FA-423E-93F3-250423CF2F16}">
      <dsp:nvSpPr>
        <dsp:cNvPr id="0" name=""/>
        <dsp:cNvSpPr/>
      </dsp:nvSpPr>
      <dsp:spPr>
        <a:xfrm>
          <a:off x="3440146" y="1814289"/>
          <a:ext cx="91440" cy="302289"/>
        </a:xfrm>
        <a:custGeom>
          <a:avLst/>
          <a:gdLst/>
          <a:ahLst/>
          <a:cxnLst/>
          <a:rect l="0" t="0" r="0" b="0"/>
          <a:pathLst>
            <a:path>
              <a:moveTo>
                <a:pt x="45720" y="0"/>
              </a:moveTo>
              <a:lnTo>
                <a:pt x="45720" y="3022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DA22FB-3F6D-4636-AD95-EE090A7995B1}">
      <dsp:nvSpPr>
        <dsp:cNvPr id="0" name=""/>
        <dsp:cNvSpPr/>
      </dsp:nvSpPr>
      <dsp:spPr>
        <a:xfrm>
          <a:off x="2429646" y="2116579"/>
          <a:ext cx="2112439" cy="75572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AR" sz="1400" kern="1200" dirty="0" smtClean="0"/>
            <a:t>Visión Física</a:t>
          </a:r>
          <a:endParaRPr lang="es-AR" sz="1400" kern="1200" dirty="0"/>
        </a:p>
      </dsp:txBody>
      <dsp:txXfrm>
        <a:off x="2451780" y="2138713"/>
        <a:ext cx="2068171" cy="7114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D9EBF-B22A-4360-92AF-40D06F14E6AD}" type="datetimeFigureOut">
              <a:rPr lang="es-AR" smtClean="0"/>
              <a:t>19/3/2024</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A4C9A1-5D6D-4A88-A819-0374357954F3}" type="slidenum">
              <a:rPr lang="es-AR" smtClean="0"/>
              <a:t>‹Nº›</a:t>
            </a:fld>
            <a:endParaRPr lang="es-AR"/>
          </a:p>
        </p:txBody>
      </p:sp>
    </p:spTree>
    <p:extLst>
      <p:ext uri="{BB962C8B-B14F-4D97-AF65-F5344CB8AC3E}">
        <p14:creationId xmlns:p14="http://schemas.microsoft.com/office/powerpoint/2010/main" val="4031715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08AEDB96-3D33-4F4D-AECF-EC54F0BFCBE4}" type="slidenum">
              <a:rPr lang="es-AR" smtClean="0"/>
              <a:t>1</a:t>
            </a:fld>
            <a:endParaRPr lang="es-AR"/>
          </a:p>
        </p:txBody>
      </p:sp>
    </p:spTree>
    <p:extLst>
      <p:ext uri="{BB962C8B-B14F-4D97-AF65-F5344CB8AC3E}">
        <p14:creationId xmlns:p14="http://schemas.microsoft.com/office/powerpoint/2010/main" val="1548668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08AEDB96-3D33-4F4D-AECF-EC54F0BFCBE4}" type="slidenum">
              <a:rPr lang="es-AR" smtClean="0"/>
              <a:t>16</a:t>
            </a:fld>
            <a:endParaRPr lang="es-AR"/>
          </a:p>
        </p:txBody>
      </p:sp>
    </p:spTree>
    <p:extLst>
      <p:ext uri="{BB962C8B-B14F-4D97-AF65-F5344CB8AC3E}">
        <p14:creationId xmlns:p14="http://schemas.microsoft.com/office/powerpoint/2010/main" val="3551823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5977F6-6CC3-4FEE-AB1B-73896BA99220}" type="datetimeFigureOut">
              <a:rPr lang="es-AR" smtClean="0"/>
              <a:t>19/3/2024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78859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85977F6-6CC3-4FEE-AB1B-73896BA99220}" type="datetimeFigureOut">
              <a:rPr lang="es-AR" smtClean="0"/>
              <a:t>19/3/2024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3551763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785977F6-6CC3-4FEE-AB1B-73896BA99220}" type="datetimeFigureOut">
              <a:rPr lang="es-AR" smtClean="0"/>
              <a:t>19/3/2024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3223673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785977F6-6CC3-4FEE-AB1B-73896BA99220}" type="datetimeFigureOut">
              <a:rPr lang="es-AR" smtClean="0"/>
              <a:t>19/3/2024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1037787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785977F6-6CC3-4FEE-AB1B-73896BA99220}" type="datetimeFigureOut">
              <a:rPr lang="es-AR" smtClean="0"/>
              <a:t>19/3/2024</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2600090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785977F6-6CC3-4FEE-AB1B-73896BA99220}" type="datetimeFigureOut">
              <a:rPr lang="es-AR" smtClean="0"/>
              <a:t>19/3/2024</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4191255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5977F6-6CC3-4FEE-AB1B-73896BA99220}" type="datetimeFigureOut">
              <a:rPr lang="es-AR" smtClean="0"/>
              <a:t>19/3/2024</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796037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785977F6-6CC3-4FEE-AB1B-73896BA99220}" type="datetimeFigureOut">
              <a:rPr lang="es-AR" smtClean="0"/>
              <a:t>19/3/2024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887207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785977F6-6CC3-4FEE-AB1B-73896BA99220}" type="datetimeFigureOut">
              <a:rPr lang="es-AR" smtClean="0"/>
              <a:t>19/3/2024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3862813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85977F6-6CC3-4FEE-AB1B-73896BA99220}" type="datetimeFigureOut">
              <a:rPr lang="es-AR" smtClean="0"/>
              <a:t>19/3/2024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266751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85977F6-6CC3-4FEE-AB1B-73896BA99220}" type="datetimeFigureOut">
              <a:rPr lang="es-AR" smtClean="0"/>
              <a:t>19/3/2024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E3475AA-D30F-45D0-9EBD-30F69C05D1AD}" type="slidenum">
              <a:rPr lang="es-AR" smtClean="0"/>
              <a:t>‹Nº›</a:t>
            </a:fld>
            <a:endParaRPr lang="es-AR"/>
          </a:p>
        </p:txBody>
      </p:sp>
    </p:spTree>
    <p:extLst>
      <p:ext uri="{BB962C8B-B14F-4D97-AF65-F5344CB8AC3E}">
        <p14:creationId xmlns:p14="http://schemas.microsoft.com/office/powerpoint/2010/main" val="1092281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ítulo, texto y 2 objetos">
    <p:spTree>
      <p:nvGrpSpPr>
        <p:cNvPr id="1" name=""/>
        <p:cNvGrpSpPr/>
        <p:nvPr/>
      </p:nvGrpSpPr>
      <p:grpSpPr>
        <a:xfrm>
          <a:off x="0" y="0"/>
          <a:ext cx="0" cy="0"/>
          <a:chOff x="0" y="0"/>
          <a:chExt cx="0" cy="0"/>
        </a:xfrm>
      </p:grpSpPr>
      <p:sp>
        <p:nvSpPr>
          <p:cNvPr id="2" name="1 Título"/>
          <p:cNvSpPr>
            <a:spLocks noGrp="1"/>
          </p:cNvSpPr>
          <p:nvPr>
            <p:ph type="title"/>
          </p:nvPr>
        </p:nvSpPr>
        <p:spPr>
          <a:xfrm>
            <a:off x="685800" y="609600"/>
            <a:ext cx="7772400" cy="1143000"/>
          </a:xfrm>
        </p:spPr>
        <p:txBody>
          <a:bodyPr/>
          <a:lstStyle/>
          <a:p>
            <a:r>
              <a:rPr lang="es-ES"/>
              <a:t>Haga clic para modificar el estilo de título del patrón</a:t>
            </a:r>
            <a:endParaRPr lang="es-ES_tradnl"/>
          </a:p>
        </p:txBody>
      </p:sp>
      <p:sp>
        <p:nvSpPr>
          <p:cNvPr id="3" name="2 Marcador de texto"/>
          <p:cNvSpPr>
            <a:spLocks noGrp="1"/>
          </p:cNvSpPr>
          <p:nvPr>
            <p:ph type="body" sz="half" idx="1"/>
          </p:nvPr>
        </p:nvSpPr>
        <p:spPr>
          <a:xfrm>
            <a:off x="685800" y="1981200"/>
            <a:ext cx="381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quarter" idx="2"/>
          </p:nvPr>
        </p:nvSpPr>
        <p:spPr>
          <a:xfrm>
            <a:off x="4648200" y="1981200"/>
            <a:ext cx="3810000" cy="19812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contenido"/>
          <p:cNvSpPr>
            <a:spLocks noGrp="1"/>
          </p:cNvSpPr>
          <p:nvPr>
            <p:ph sz="quarter" idx="3"/>
          </p:nvPr>
        </p:nvSpPr>
        <p:spPr>
          <a:xfrm>
            <a:off x="4648200" y="4114800"/>
            <a:ext cx="3810000" cy="19812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Rectangle 4">
            <a:extLst>
              <a:ext uri="{FF2B5EF4-FFF2-40B4-BE49-F238E27FC236}">
                <a16:creationId xmlns="" xmlns:a16="http://schemas.microsoft.com/office/drawing/2014/main" id="{D0984AFE-603D-456F-9B85-9172ECF24E6F}"/>
              </a:ext>
            </a:extLst>
          </p:cNvPr>
          <p:cNvSpPr>
            <a:spLocks noGrp="1" noChangeArrowheads="1"/>
          </p:cNvSpPr>
          <p:nvPr>
            <p:ph type="dt" sz="half" idx="10"/>
          </p:nvPr>
        </p:nvSpPr>
        <p:spPr>
          <a:ln/>
        </p:spPr>
        <p:txBody>
          <a:bodyPr/>
          <a:lstStyle>
            <a:lvl1pPr>
              <a:defRPr/>
            </a:lvl1pPr>
          </a:lstStyle>
          <a:p>
            <a:pPr>
              <a:defRPr/>
            </a:pPr>
            <a:fld id="{F29ABE04-722E-4189-8EF5-44E786026A54}" type="datetime1">
              <a:rPr lang="en-US" smtClean="0"/>
              <a:t>3/19/2024</a:t>
            </a:fld>
            <a:endParaRPr lang="en-US"/>
          </a:p>
        </p:txBody>
      </p:sp>
      <p:sp>
        <p:nvSpPr>
          <p:cNvPr id="7" name="Rectangle 5">
            <a:extLst>
              <a:ext uri="{FF2B5EF4-FFF2-40B4-BE49-F238E27FC236}">
                <a16:creationId xmlns="" xmlns:a16="http://schemas.microsoft.com/office/drawing/2014/main" id="{B6F89AA2-B04D-4737-9306-F30AFC0383E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 xmlns:a16="http://schemas.microsoft.com/office/drawing/2014/main" id="{D6135242-50B5-4308-8072-137AABFEDDE9}"/>
              </a:ext>
            </a:extLst>
          </p:cNvPr>
          <p:cNvSpPr>
            <a:spLocks noGrp="1" noChangeArrowheads="1"/>
          </p:cNvSpPr>
          <p:nvPr>
            <p:ph type="sldNum" sz="quarter" idx="12"/>
          </p:nvPr>
        </p:nvSpPr>
        <p:spPr>
          <a:ln/>
        </p:spPr>
        <p:txBody>
          <a:bodyPr/>
          <a:lstStyle>
            <a:lvl1pPr>
              <a:defRPr/>
            </a:lvl1pPr>
          </a:lstStyle>
          <a:p>
            <a:fld id="{A6463D40-49F8-4902-986C-30958E19F5E4}" type="slidenum">
              <a:rPr lang="en-US" altLang="es-AR"/>
              <a:pPr/>
              <a:t>‹Nº›</a:t>
            </a:fld>
            <a:endParaRPr lang="en-US" altLang="es-AR"/>
          </a:p>
        </p:txBody>
      </p:sp>
    </p:spTree>
    <p:extLst>
      <p:ext uri="{BB962C8B-B14F-4D97-AF65-F5344CB8AC3E}">
        <p14:creationId xmlns:p14="http://schemas.microsoft.com/office/powerpoint/2010/main" val="4019251167"/>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85800" y="609600"/>
            <a:ext cx="7772400" cy="54864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3" name="Rectangle 4">
            <a:extLst>
              <a:ext uri="{FF2B5EF4-FFF2-40B4-BE49-F238E27FC236}">
                <a16:creationId xmlns="" xmlns:a16="http://schemas.microsoft.com/office/drawing/2014/main" id="{05BBFC35-66F5-47F2-BF65-C0462EB68C85}"/>
              </a:ext>
            </a:extLst>
          </p:cNvPr>
          <p:cNvSpPr>
            <a:spLocks noGrp="1" noChangeArrowheads="1"/>
          </p:cNvSpPr>
          <p:nvPr>
            <p:ph type="dt" sz="half" idx="10"/>
          </p:nvPr>
        </p:nvSpPr>
        <p:spPr>
          <a:ln/>
        </p:spPr>
        <p:txBody>
          <a:bodyPr/>
          <a:lstStyle>
            <a:lvl1pPr>
              <a:defRPr/>
            </a:lvl1pPr>
          </a:lstStyle>
          <a:p>
            <a:pPr>
              <a:defRPr/>
            </a:pPr>
            <a:fld id="{D1B36589-7400-4B50-8ABD-C4C36647F286}" type="datetime1">
              <a:rPr lang="en-US" smtClean="0"/>
              <a:t>3/19/2024</a:t>
            </a:fld>
            <a:endParaRPr lang="en-US"/>
          </a:p>
        </p:txBody>
      </p:sp>
      <p:sp>
        <p:nvSpPr>
          <p:cNvPr id="4" name="Rectangle 5">
            <a:extLst>
              <a:ext uri="{FF2B5EF4-FFF2-40B4-BE49-F238E27FC236}">
                <a16:creationId xmlns="" xmlns:a16="http://schemas.microsoft.com/office/drawing/2014/main" id="{7813F79E-06CD-4558-9A10-C64661ABEA1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 xmlns:a16="http://schemas.microsoft.com/office/drawing/2014/main" id="{4022C39D-19F4-44D0-98C9-4AE5A75DEB5A}"/>
              </a:ext>
            </a:extLst>
          </p:cNvPr>
          <p:cNvSpPr>
            <a:spLocks noGrp="1" noChangeArrowheads="1"/>
          </p:cNvSpPr>
          <p:nvPr>
            <p:ph type="sldNum" sz="quarter" idx="12"/>
          </p:nvPr>
        </p:nvSpPr>
        <p:spPr>
          <a:ln/>
        </p:spPr>
        <p:txBody>
          <a:bodyPr/>
          <a:lstStyle>
            <a:lvl1pPr>
              <a:defRPr/>
            </a:lvl1pPr>
          </a:lstStyle>
          <a:p>
            <a:fld id="{A9BC0863-1E74-44EE-8350-197761BA73E4}" type="slidenum">
              <a:rPr lang="en-US" altLang="es-AR"/>
              <a:pPr/>
              <a:t>‹Nº›</a:t>
            </a:fld>
            <a:endParaRPr lang="en-US" altLang="es-AR"/>
          </a:p>
        </p:txBody>
      </p:sp>
    </p:spTree>
    <p:extLst>
      <p:ext uri="{BB962C8B-B14F-4D97-AF65-F5344CB8AC3E}">
        <p14:creationId xmlns:p14="http://schemas.microsoft.com/office/powerpoint/2010/main" val="755868209"/>
      </p:ext>
    </p:extLst>
  </p:cSld>
  <p:clrMapOvr>
    <a:masterClrMapping/>
  </p:clrMapOvr>
  <p:transition>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5977F6-6CC3-4FEE-AB1B-73896BA99220}" type="datetimeFigureOut">
              <a:rPr lang="es-AR" smtClean="0"/>
              <a:t>19/3/2024</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3475AA-D30F-45D0-9EBD-30F69C05D1AD}" type="slidenum">
              <a:rPr lang="es-AR" smtClean="0"/>
              <a:t>‹Nº›</a:t>
            </a:fld>
            <a:endParaRPr lang="es-AR"/>
          </a:p>
        </p:txBody>
      </p:sp>
    </p:spTree>
    <p:extLst>
      <p:ext uri="{BB962C8B-B14F-4D97-AF65-F5344CB8AC3E}">
        <p14:creationId xmlns:p14="http://schemas.microsoft.com/office/powerpoint/2010/main" val="13545628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NULL"/><Relationship Id="rId4" Type="http://schemas.openxmlformats.org/officeDocument/2006/relationships/diagramQuickStyle" Target="../diagrams/quickStyle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NUL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7"/>
          <p:cNvSpPr txBox="1"/>
          <p:nvPr/>
        </p:nvSpPr>
        <p:spPr>
          <a:xfrm>
            <a:off x="771525" y="3113513"/>
            <a:ext cx="7943849" cy="1077218"/>
          </a:xfrm>
          <a:prstGeom prst="rect">
            <a:avLst/>
          </a:prstGeom>
          <a:noFill/>
        </p:spPr>
        <p:txBody>
          <a:bodyPr wrap="square" rtlCol="0">
            <a:spAutoFit/>
          </a:bodyPr>
          <a:ls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AR" sz="3200" dirty="0" smtClean="0"/>
              <a:t>Base de Datos I</a:t>
            </a:r>
          </a:p>
          <a:p>
            <a:pPr algn="ctr"/>
            <a:r>
              <a:rPr lang="es-AR" sz="3200" dirty="0" smtClean="0"/>
              <a:t>Visión de los Datos</a:t>
            </a:r>
            <a:endParaRPr lang="es-AR" sz="3200" dirty="0"/>
          </a:p>
        </p:txBody>
      </p:sp>
      <p:sp>
        <p:nvSpPr>
          <p:cNvPr id="5" name="CuadroTexto 10"/>
          <p:cNvSpPr txBox="1"/>
          <p:nvPr/>
        </p:nvSpPr>
        <p:spPr>
          <a:xfrm>
            <a:off x="428625" y="5616059"/>
            <a:ext cx="2215030" cy="369332"/>
          </a:xfrm>
          <a:prstGeom prst="rect">
            <a:avLst/>
          </a:prstGeom>
          <a:noFill/>
        </p:spPr>
        <p:txBody>
          <a:bodyPr wrap="none" rtlCol="0">
            <a:spAutoFit/>
          </a:bodyPr>
          <a:ls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AR" dirty="0" smtClean="0"/>
              <a:t>Lic. Patricia Neumann</a:t>
            </a:r>
            <a:endParaRPr lang="es-AR" dirty="0"/>
          </a:p>
        </p:txBody>
      </p:sp>
      <p:sp>
        <p:nvSpPr>
          <p:cNvPr id="6" name="CuadroTexto 1"/>
          <p:cNvSpPr txBox="1"/>
          <p:nvPr/>
        </p:nvSpPr>
        <p:spPr>
          <a:xfrm>
            <a:off x="1928813" y="4384813"/>
            <a:ext cx="5600700" cy="954107"/>
          </a:xfrm>
          <a:prstGeom prst="rect">
            <a:avLst/>
          </a:prstGeom>
          <a:noFill/>
        </p:spPr>
        <p:txBody>
          <a:bodyPr wrap="square" rtlCol="0">
            <a:spAutoFit/>
          </a:bodyPr>
          <a:ls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AR" sz="2800" dirty="0" smtClean="0"/>
              <a:t>Lic. en Sistemas de Información</a:t>
            </a:r>
          </a:p>
          <a:p>
            <a:pPr algn="ctr"/>
            <a:endParaRPr lang="es-AR" sz="2800" dirty="0"/>
          </a:p>
        </p:txBody>
      </p:sp>
      <p:pic>
        <p:nvPicPr>
          <p:cNvPr id="7" name="Marcador de contenido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4419" y="767098"/>
            <a:ext cx="3028950" cy="2249374"/>
          </a:xfrm>
          <a:prstGeom prst="rect">
            <a:avLst/>
          </a:prstGeom>
        </p:spPr>
      </p:pic>
    </p:spTree>
    <p:extLst>
      <p:ext uri="{BB962C8B-B14F-4D97-AF65-F5344CB8AC3E}">
        <p14:creationId xmlns:p14="http://schemas.microsoft.com/office/powerpoint/2010/main" val="6980753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5" name="Rectangle 3">
            <a:extLst>
              <a:ext uri="{FF2B5EF4-FFF2-40B4-BE49-F238E27FC236}">
                <a16:creationId xmlns="" xmlns:a16="http://schemas.microsoft.com/office/drawing/2014/main" id="{EC332802-0B64-4605-8F7F-A815F2C1FD7E}"/>
              </a:ext>
            </a:extLst>
          </p:cNvPr>
          <p:cNvSpPr>
            <a:spLocks noGrp="1" noChangeArrowheads="1"/>
          </p:cNvSpPr>
          <p:nvPr>
            <p:ph idx="1"/>
          </p:nvPr>
        </p:nvSpPr>
        <p:spPr>
          <a:xfrm>
            <a:off x="498143" y="1809751"/>
            <a:ext cx="8168185" cy="2864607"/>
          </a:xfrm>
        </p:spPr>
        <p:txBody>
          <a:bodyPr anchor="ctr">
            <a:normAutofit/>
          </a:bodyPr>
          <a:lstStyle/>
          <a:p>
            <a:r>
              <a:rPr lang="es-ES_tradnl" altLang="es-ES" sz="2000" dirty="0"/>
              <a:t>Percepción de una BD según el tipo de usuario (final, especialista o administrador)</a:t>
            </a:r>
          </a:p>
          <a:p>
            <a:r>
              <a:rPr lang="es-ES_tradnl" altLang="es-ES" sz="2000" dirty="0"/>
              <a:t>Arquitectura ANSI/SPARC*</a:t>
            </a:r>
          </a:p>
          <a:p>
            <a:r>
              <a:rPr lang="es-ES_tradnl" altLang="es-ES" sz="2000" dirty="0"/>
              <a:t>Base para la </a:t>
            </a:r>
            <a:r>
              <a:rPr lang="es-ES_tradnl" altLang="es-ES" sz="2000" i="1" dirty="0"/>
              <a:t>independencia de datos</a:t>
            </a:r>
          </a:p>
        </p:txBody>
      </p:sp>
      <p:sp>
        <p:nvSpPr>
          <p:cNvPr id="5126" name="Text Box 4">
            <a:extLst>
              <a:ext uri="{FF2B5EF4-FFF2-40B4-BE49-F238E27FC236}">
                <a16:creationId xmlns="" xmlns:a16="http://schemas.microsoft.com/office/drawing/2014/main" id="{DF5DA54C-5971-44CF-B67A-E963A406A039}"/>
              </a:ext>
            </a:extLst>
          </p:cNvPr>
          <p:cNvSpPr txBox="1">
            <a:spLocks noChangeArrowheads="1"/>
          </p:cNvSpPr>
          <p:nvPr/>
        </p:nvSpPr>
        <p:spPr bwMode="auto">
          <a:xfrm>
            <a:off x="395287" y="5383213"/>
            <a:ext cx="79284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dirty="0">
                <a:solidFill>
                  <a:srgbClr val="FF3300"/>
                </a:solidFill>
              </a:rPr>
              <a:t>*</a:t>
            </a:r>
            <a:r>
              <a:rPr lang="es-CO" altLang="es-ES" sz="1800" dirty="0"/>
              <a:t> </a:t>
            </a:r>
            <a:r>
              <a:rPr lang="es-CO" altLang="es-ES" sz="1800" i="1" dirty="0"/>
              <a:t>American </a:t>
            </a:r>
            <a:r>
              <a:rPr lang="es-CO" altLang="es-ES" sz="1800" i="1" dirty="0" err="1"/>
              <a:t>National</a:t>
            </a:r>
            <a:r>
              <a:rPr lang="es-CO" altLang="es-ES" sz="1800" i="1" dirty="0"/>
              <a:t> </a:t>
            </a:r>
            <a:r>
              <a:rPr lang="es-CO" altLang="es-ES" sz="1800" i="1" dirty="0" err="1"/>
              <a:t>Standards</a:t>
            </a:r>
            <a:r>
              <a:rPr lang="es-CO" altLang="es-ES" sz="1800" i="1" dirty="0"/>
              <a:t> </a:t>
            </a:r>
            <a:r>
              <a:rPr lang="es-CO" altLang="es-ES" sz="1800" i="1" dirty="0" err="1"/>
              <a:t>Institute</a:t>
            </a:r>
            <a:r>
              <a:rPr lang="es-CO" altLang="es-ES" sz="1800" i="1" dirty="0"/>
              <a:t>/</a:t>
            </a:r>
            <a:r>
              <a:rPr lang="es-CO" altLang="es-ES" sz="1800" i="1" dirty="0" err="1"/>
              <a:t>Systems</a:t>
            </a:r>
            <a:r>
              <a:rPr lang="es-CO" altLang="es-ES" sz="1800" i="1" dirty="0"/>
              <a:t> </a:t>
            </a:r>
            <a:r>
              <a:rPr lang="es-CO" altLang="es-ES" sz="1800" i="1" dirty="0" err="1"/>
              <a:t>Planification</a:t>
            </a:r>
            <a:r>
              <a:rPr lang="es-CO" altLang="es-ES" sz="1800" i="1" dirty="0"/>
              <a:t> </a:t>
            </a:r>
            <a:r>
              <a:rPr lang="es-CO" altLang="es-ES" sz="1800" i="1" dirty="0" smtClean="0"/>
              <a:t>and </a:t>
            </a:r>
            <a:r>
              <a:rPr lang="es-CO" altLang="es-ES" sz="1800" i="1" dirty="0" err="1"/>
              <a:t>Requirements</a:t>
            </a:r>
            <a:r>
              <a:rPr lang="es-CO" altLang="es-ES" sz="1800" i="1" dirty="0"/>
              <a:t> </a:t>
            </a:r>
            <a:r>
              <a:rPr lang="es-CO" altLang="es-ES" sz="1800" i="1" dirty="0" err="1"/>
              <a:t>Committee</a:t>
            </a:r>
            <a:endParaRPr lang="es-ES_tradnl" altLang="es-ES" sz="1800" i="1" dirty="0"/>
          </a:p>
        </p:txBody>
      </p:sp>
      <p:sp>
        <p:nvSpPr>
          <p:cNvPr id="3" name="Título 2">
            <a:extLst>
              <a:ext uri="{FF2B5EF4-FFF2-40B4-BE49-F238E27FC236}">
                <a16:creationId xmlns="" xmlns:a16="http://schemas.microsoft.com/office/drawing/2014/main" id="{5236A83B-A76D-A495-FF33-E96123B29F37}"/>
              </a:ext>
            </a:extLst>
          </p:cNvPr>
          <p:cNvSpPr>
            <a:spLocks noGrp="1"/>
          </p:cNvSpPr>
          <p:nvPr>
            <p:ph type="title"/>
          </p:nvPr>
        </p:nvSpPr>
        <p:spPr>
          <a:xfrm>
            <a:off x="268940" y="792543"/>
            <a:ext cx="8525435" cy="1017208"/>
          </a:xfrm>
          <a:solidFill>
            <a:srgbClr val="0070C0"/>
          </a:solidFill>
        </p:spPr>
        <p:txBody>
          <a:bodyPr>
            <a:normAutofit/>
          </a:bodyPr>
          <a:lstStyle/>
          <a:p>
            <a:r>
              <a:rPr lang="es-AR" sz="3200" dirty="0">
                <a:latin typeface="Calibri" panose="020F0502020204030204" pitchFamily="34" charset="0"/>
                <a:cs typeface="Calibri" panose="020F0502020204030204" pitchFamily="34" charset="0"/>
              </a:rPr>
              <a:t>Niveles de Abstracción de una Base de Datos</a:t>
            </a:r>
          </a:p>
        </p:txBody>
      </p:sp>
    </p:spTree>
    <p:extLst>
      <p:ext uri="{BB962C8B-B14F-4D97-AF65-F5344CB8AC3E}">
        <p14:creationId xmlns:p14="http://schemas.microsoft.com/office/powerpoint/2010/main" val="16450359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BE51CE8-DCE6-FBC2-6B55-B6479199338A}"/>
              </a:ext>
            </a:extLst>
          </p:cNvPr>
          <p:cNvSpPr>
            <a:spLocks noGrp="1"/>
          </p:cNvSpPr>
          <p:nvPr>
            <p:ph type="title"/>
          </p:nvPr>
        </p:nvSpPr>
        <p:spPr>
          <a:xfrm>
            <a:off x="336175" y="774511"/>
            <a:ext cx="8592671" cy="785348"/>
          </a:xfrm>
          <a:solidFill>
            <a:srgbClr val="0070C0"/>
          </a:solidFill>
        </p:spPr>
        <p:txBody>
          <a:bodyPr>
            <a:normAutofit/>
          </a:bodyPr>
          <a:lstStyle/>
          <a:p>
            <a:r>
              <a:rPr lang="es-AR" sz="3200" dirty="0">
                <a:latin typeface="Calibri" panose="020F0502020204030204" pitchFamily="34" charset="0"/>
                <a:cs typeface="Calibri" panose="020F0502020204030204" pitchFamily="34" charset="0"/>
              </a:rPr>
              <a:t>Arquitectura ANSI/SPARC</a:t>
            </a:r>
          </a:p>
        </p:txBody>
      </p:sp>
      <p:graphicFrame>
        <p:nvGraphicFramePr>
          <p:cNvPr id="4" name="Diagrama 3">
            <a:extLst>
              <a:ext uri="{FF2B5EF4-FFF2-40B4-BE49-F238E27FC236}">
                <a16:creationId xmlns="" xmlns:a16="http://schemas.microsoft.com/office/drawing/2014/main" id="{7492B5B0-4DAC-FAF8-7EEA-D456401CB376}"/>
              </a:ext>
            </a:extLst>
          </p:cNvPr>
          <p:cNvGraphicFramePr/>
          <p:nvPr>
            <p:extLst/>
          </p:nvPr>
        </p:nvGraphicFramePr>
        <p:xfrm>
          <a:off x="628650" y="2547113"/>
          <a:ext cx="6971732" cy="28728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áfico 5" descr="Base de datos con relleno sólido">
            <a:extLst>
              <a:ext uri="{FF2B5EF4-FFF2-40B4-BE49-F238E27FC236}">
                <a16:creationId xmlns="" xmlns:a16="http://schemas.microsoft.com/office/drawing/2014/main" id="{DC44C829-0CEB-6CBE-2832-48DD34180242}"/>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3513159" y="5669439"/>
            <a:ext cx="1282890" cy="914400"/>
          </a:xfrm>
          <a:prstGeom prst="rect">
            <a:avLst/>
          </a:prstGeom>
        </p:spPr>
      </p:pic>
      <p:pic>
        <p:nvPicPr>
          <p:cNvPr id="8" name="Gráfico 7" descr="Usuario con relleno sólido">
            <a:extLst>
              <a:ext uri="{FF2B5EF4-FFF2-40B4-BE49-F238E27FC236}">
                <a16:creationId xmlns="" xmlns:a16="http://schemas.microsoft.com/office/drawing/2014/main" id="{FBD30262-4D5F-F69B-33CB-41B2CA690FB7}"/>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2447219" y="1567888"/>
            <a:ext cx="702859" cy="702859"/>
          </a:xfrm>
          <a:prstGeom prst="rect">
            <a:avLst/>
          </a:prstGeom>
        </p:spPr>
      </p:pic>
      <p:pic>
        <p:nvPicPr>
          <p:cNvPr id="9" name="Gráfico 8" descr="Usuario con relleno sólido">
            <a:extLst>
              <a:ext uri="{FF2B5EF4-FFF2-40B4-BE49-F238E27FC236}">
                <a16:creationId xmlns="" xmlns:a16="http://schemas.microsoft.com/office/drawing/2014/main" id="{86C5B508-B3A7-6383-4423-DEC33395BAE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3763086" y="1567888"/>
            <a:ext cx="702859" cy="702859"/>
          </a:xfrm>
          <a:prstGeom prst="rect">
            <a:avLst/>
          </a:prstGeom>
        </p:spPr>
      </p:pic>
      <p:pic>
        <p:nvPicPr>
          <p:cNvPr id="10" name="Gráfico 9" descr="Usuario con relleno sólido">
            <a:extLst>
              <a:ext uri="{FF2B5EF4-FFF2-40B4-BE49-F238E27FC236}">
                <a16:creationId xmlns="" xmlns:a16="http://schemas.microsoft.com/office/drawing/2014/main" id="{527D4CFF-334D-1FFB-E5DB-2DF624071792}"/>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5209752" y="1567888"/>
            <a:ext cx="702859" cy="702859"/>
          </a:xfrm>
          <a:prstGeom prst="rect">
            <a:avLst/>
          </a:prstGeom>
        </p:spPr>
      </p:pic>
      <p:cxnSp>
        <p:nvCxnSpPr>
          <p:cNvPr id="12" name="Conector recto de flecha 11">
            <a:extLst>
              <a:ext uri="{FF2B5EF4-FFF2-40B4-BE49-F238E27FC236}">
                <a16:creationId xmlns="" xmlns:a16="http://schemas.microsoft.com/office/drawing/2014/main" id="{2B592BCA-F1AA-B009-37C3-2BFA36B76021}"/>
              </a:ext>
            </a:extLst>
          </p:cNvPr>
          <p:cNvCxnSpPr>
            <a:endCxn id="6" idx="0"/>
          </p:cNvCxnSpPr>
          <p:nvPr/>
        </p:nvCxnSpPr>
        <p:spPr>
          <a:xfrm>
            <a:off x="4154604" y="5393073"/>
            <a:ext cx="0" cy="276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 xmlns:a16="http://schemas.microsoft.com/office/drawing/2014/main" id="{13FD9908-4575-A448-20E1-3A92C2FC32F6}"/>
              </a:ext>
            </a:extLst>
          </p:cNvPr>
          <p:cNvCxnSpPr>
            <a:cxnSpLocks/>
          </p:cNvCxnSpPr>
          <p:nvPr/>
        </p:nvCxnSpPr>
        <p:spPr>
          <a:xfrm>
            <a:off x="2798649" y="2243853"/>
            <a:ext cx="943963" cy="276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 xmlns:a16="http://schemas.microsoft.com/office/drawing/2014/main" id="{F8398C9D-D4FB-8FB8-2C9B-058F94007F27}"/>
              </a:ext>
            </a:extLst>
          </p:cNvPr>
          <p:cNvCxnSpPr>
            <a:cxnSpLocks/>
          </p:cNvCxnSpPr>
          <p:nvPr/>
        </p:nvCxnSpPr>
        <p:spPr>
          <a:xfrm>
            <a:off x="4114516" y="2243853"/>
            <a:ext cx="0" cy="276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 xmlns:a16="http://schemas.microsoft.com/office/drawing/2014/main" id="{35AEA629-B1BE-831B-63A1-E870223A49F3}"/>
              </a:ext>
            </a:extLst>
          </p:cNvPr>
          <p:cNvCxnSpPr>
            <a:cxnSpLocks/>
          </p:cNvCxnSpPr>
          <p:nvPr/>
        </p:nvCxnSpPr>
        <p:spPr>
          <a:xfrm flipH="1">
            <a:off x="4486419" y="2243853"/>
            <a:ext cx="1074763" cy="276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1063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Rectangle 2">
            <a:extLst>
              <a:ext uri="{FF2B5EF4-FFF2-40B4-BE49-F238E27FC236}">
                <a16:creationId xmlns="" xmlns:a16="http://schemas.microsoft.com/office/drawing/2014/main" id="{A6E54EA5-AC32-4947-BDFF-7B81EE3B6F98}"/>
              </a:ext>
            </a:extLst>
          </p:cNvPr>
          <p:cNvSpPr>
            <a:spLocks noGrp="1" noChangeArrowheads="1"/>
          </p:cNvSpPr>
          <p:nvPr>
            <p:ph type="title"/>
          </p:nvPr>
        </p:nvSpPr>
        <p:spPr>
          <a:xfrm>
            <a:off x="285750" y="769937"/>
            <a:ext cx="8557442" cy="801688"/>
          </a:xfrm>
          <a:solidFill>
            <a:srgbClr val="0070C0"/>
          </a:solidFill>
        </p:spPr>
        <p:txBody>
          <a:bodyPr>
            <a:normAutofit/>
          </a:bodyPr>
          <a:lstStyle/>
          <a:p>
            <a:r>
              <a:rPr lang="es-ES_tradnl" altLang="es-ES" sz="4000" dirty="0">
                <a:latin typeface="Calibri" panose="020F0502020204030204" pitchFamily="34" charset="0"/>
                <a:cs typeface="Calibri" panose="020F0502020204030204" pitchFamily="34" charset="0"/>
              </a:rPr>
              <a:t>Arquitectura ANSI/SPARC</a:t>
            </a:r>
          </a:p>
        </p:txBody>
      </p:sp>
      <p:sp>
        <p:nvSpPr>
          <p:cNvPr id="6149" name="Rectangle 5">
            <a:extLst>
              <a:ext uri="{FF2B5EF4-FFF2-40B4-BE49-F238E27FC236}">
                <a16:creationId xmlns="" xmlns:a16="http://schemas.microsoft.com/office/drawing/2014/main" id="{47BF24DC-0C0F-4333-BA71-DD662C5B5E2F}"/>
              </a:ext>
            </a:extLst>
          </p:cNvPr>
          <p:cNvSpPr>
            <a:spLocks noChangeArrowheads="1"/>
          </p:cNvSpPr>
          <p:nvPr/>
        </p:nvSpPr>
        <p:spPr bwMode="auto">
          <a:xfrm>
            <a:off x="3435350" y="1752600"/>
            <a:ext cx="1358900" cy="504825"/>
          </a:xfrm>
          <a:prstGeom prst="flowChartAlternateProcess">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dirty="0">
                <a:ln w="0"/>
                <a:effectLst>
                  <a:outerShdw blurRad="38100" dist="19050" dir="2700000" algn="tl" rotWithShape="0">
                    <a:schemeClr val="dk1">
                      <a:alpha val="40000"/>
                    </a:schemeClr>
                  </a:outerShdw>
                </a:effectLst>
                <a:latin typeface="+mn-lt"/>
              </a:rPr>
              <a:t>Inventario</a:t>
            </a:r>
          </a:p>
        </p:txBody>
      </p:sp>
      <p:sp>
        <p:nvSpPr>
          <p:cNvPr id="6150" name="Rectangle 6">
            <a:extLst>
              <a:ext uri="{FF2B5EF4-FFF2-40B4-BE49-F238E27FC236}">
                <a16:creationId xmlns="" xmlns:a16="http://schemas.microsoft.com/office/drawing/2014/main" id="{78411AF9-393D-4296-ADD8-5AB42703F903}"/>
              </a:ext>
            </a:extLst>
          </p:cNvPr>
          <p:cNvSpPr>
            <a:spLocks noChangeArrowheads="1"/>
          </p:cNvSpPr>
          <p:nvPr/>
        </p:nvSpPr>
        <p:spPr bwMode="auto">
          <a:xfrm>
            <a:off x="4940300" y="1752600"/>
            <a:ext cx="1143000" cy="504825"/>
          </a:xfrm>
          <a:prstGeom prst="flowChartAlternateProcess">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a:ln w="0"/>
                <a:effectLst>
                  <a:outerShdw blurRad="38100" dist="19050" dir="2700000" algn="tl" rotWithShape="0">
                    <a:schemeClr val="dk1">
                      <a:alpha val="40000"/>
                    </a:schemeClr>
                  </a:outerShdw>
                </a:effectLst>
                <a:latin typeface="+mn-lt"/>
              </a:rPr>
              <a:t>Ventas</a:t>
            </a:r>
          </a:p>
        </p:txBody>
      </p:sp>
      <p:sp>
        <p:nvSpPr>
          <p:cNvPr id="6151" name="Rectangle 7">
            <a:extLst>
              <a:ext uri="{FF2B5EF4-FFF2-40B4-BE49-F238E27FC236}">
                <a16:creationId xmlns="" xmlns:a16="http://schemas.microsoft.com/office/drawing/2014/main" id="{28B837F8-EDB4-4EAC-9D3C-2AA7764E2829}"/>
              </a:ext>
            </a:extLst>
          </p:cNvPr>
          <p:cNvSpPr>
            <a:spLocks noChangeArrowheads="1"/>
          </p:cNvSpPr>
          <p:nvPr/>
        </p:nvSpPr>
        <p:spPr bwMode="auto">
          <a:xfrm>
            <a:off x="6227763" y="1752600"/>
            <a:ext cx="1670050" cy="484188"/>
          </a:xfrm>
          <a:prstGeom prst="flowChartAlternateProcess">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a:ln w="0"/>
                <a:effectLst>
                  <a:outerShdw blurRad="38100" dist="19050" dir="2700000" algn="tl" rotWithShape="0">
                    <a:schemeClr val="dk1">
                      <a:alpha val="40000"/>
                    </a:schemeClr>
                  </a:outerShdw>
                </a:effectLst>
                <a:latin typeface="+mn-lt"/>
              </a:rPr>
              <a:t>Contabilidad</a:t>
            </a:r>
          </a:p>
        </p:txBody>
      </p:sp>
      <p:sp>
        <p:nvSpPr>
          <p:cNvPr id="6152" name="Rectangle 8">
            <a:extLst>
              <a:ext uri="{FF2B5EF4-FFF2-40B4-BE49-F238E27FC236}">
                <a16:creationId xmlns="" xmlns:a16="http://schemas.microsoft.com/office/drawing/2014/main" id="{BE171727-66EC-41BF-9FE3-24BA248278A3}"/>
              </a:ext>
            </a:extLst>
          </p:cNvPr>
          <p:cNvSpPr>
            <a:spLocks noChangeArrowheads="1"/>
          </p:cNvSpPr>
          <p:nvPr/>
        </p:nvSpPr>
        <p:spPr bwMode="auto">
          <a:xfrm>
            <a:off x="3649663" y="3240088"/>
            <a:ext cx="3744912" cy="574675"/>
          </a:xfrm>
          <a:prstGeom prst="flowChartAlternateProcess">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a:ln w="0"/>
                <a:effectLst>
                  <a:outerShdw blurRad="38100" dist="19050" dir="2700000" algn="tl" rotWithShape="0">
                    <a:schemeClr val="dk1">
                      <a:alpha val="40000"/>
                    </a:schemeClr>
                  </a:outerShdw>
                </a:effectLst>
                <a:latin typeface="+mn-lt"/>
              </a:rPr>
              <a:t>BD conceptual</a:t>
            </a:r>
          </a:p>
        </p:txBody>
      </p:sp>
      <p:sp>
        <p:nvSpPr>
          <p:cNvPr id="6153" name="Rectangle 9">
            <a:extLst>
              <a:ext uri="{FF2B5EF4-FFF2-40B4-BE49-F238E27FC236}">
                <a16:creationId xmlns="" xmlns:a16="http://schemas.microsoft.com/office/drawing/2014/main" id="{29EC9908-D08C-4B19-8C23-3C5EC0E6936E}"/>
              </a:ext>
            </a:extLst>
          </p:cNvPr>
          <p:cNvSpPr>
            <a:spLocks noChangeArrowheads="1"/>
          </p:cNvSpPr>
          <p:nvPr/>
        </p:nvSpPr>
        <p:spPr bwMode="auto">
          <a:xfrm>
            <a:off x="3838575" y="5356792"/>
            <a:ext cx="3352800" cy="668690"/>
          </a:xfrm>
          <a:prstGeom prst="flowChartAlternateProcess">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s-ES_tradnl" altLang="es-ES" sz="2000">
              <a:ln w="0"/>
              <a:effectLst>
                <a:outerShdw blurRad="38100" dist="19050" dir="2700000" algn="tl" rotWithShape="0">
                  <a:schemeClr val="dk1">
                    <a:alpha val="40000"/>
                  </a:schemeClr>
                </a:outerShdw>
              </a:effectLst>
              <a:latin typeface="+mn-lt"/>
            </a:endParaRPr>
          </a:p>
        </p:txBody>
      </p:sp>
      <p:sp>
        <p:nvSpPr>
          <p:cNvPr id="6154" name="Line 10">
            <a:extLst>
              <a:ext uri="{FF2B5EF4-FFF2-40B4-BE49-F238E27FC236}">
                <a16:creationId xmlns="" xmlns:a16="http://schemas.microsoft.com/office/drawing/2014/main" id="{E043A645-59A9-41D2-9CDD-56EC7EF8A060}"/>
              </a:ext>
            </a:extLst>
          </p:cNvPr>
          <p:cNvSpPr>
            <a:spLocks noChangeShapeType="1"/>
          </p:cNvSpPr>
          <p:nvPr/>
        </p:nvSpPr>
        <p:spPr bwMode="auto">
          <a:xfrm>
            <a:off x="4084638" y="2255838"/>
            <a:ext cx="1049337" cy="911225"/>
          </a:xfrm>
          <a:prstGeom prst="line">
            <a:avLst/>
          </a:prstGeom>
          <a:ln>
            <a:headEnd type="triangle" w="med" len="med"/>
            <a:tailEnd type="triangle" w="med" len="med"/>
          </a:ln>
        </p:spPr>
        <p:style>
          <a:lnRef idx="3">
            <a:schemeClr val="lt1"/>
          </a:lnRef>
          <a:fillRef idx="1">
            <a:schemeClr val="accent3"/>
          </a:fillRef>
          <a:effectRef idx="1">
            <a:schemeClr val="accent3"/>
          </a:effectRef>
          <a:fontRef idx="minor">
            <a:schemeClr val="lt1"/>
          </a:fontRef>
        </p:style>
        <p:txBody>
          <a:bodyPr wrap="none" anchor="ctr"/>
          <a:lstStyle/>
          <a:p>
            <a:endParaRPr lang="es-AR" sz="1600"/>
          </a:p>
        </p:txBody>
      </p:sp>
      <p:sp>
        <p:nvSpPr>
          <p:cNvPr id="6155" name="Line 11">
            <a:extLst>
              <a:ext uri="{FF2B5EF4-FFF2-40B4-BE49-F238E27FC236}">
                <a16:creationId xmlns="" xmlns:a16="http://schemas.microsoft.com/office/drawing/2014/main" id="{B349F173-F88E-4AD1-A842-001B18FE6C7F}"/>
              </a:ext>
            </a:extLst>
          </p:cNvPr>
          <p:cNvSpPr>
            <a:spLocks noChangeShapeType="1"/>
          </p:cNvSpPr>
          <p:nvPr/>
        </p:nvSpPr>
        <p:spPr bwMode="auto">
          <a:xfrm flipH="1">
            <a:off x="5514975" y="2255838"/>
            <a:ext cx="9525" cy="911225"/>
          </a:xfrm>
          <a:prstGeom prst="line">
            <a:avLst/>
          </a:prstGeom>
          <a:ln>
            <a:headEnd type="triangle" w="med" len="med"/>
            <a:tailEnd type="triangle" w="med" len="med"/>
          </a:ln>
        </p:spPr>
        <p:style>
          <a:lnRef idx="3">
            <a:schemeClr val="lt1"/>
          </a:lnRef>
          <a:fillRef idx="1">
            <a:schemeClr val="accent3"/>
          </a:fillRef>
          <a:effectRef idx="1">
            <a:schemeClr val="accent3"/>
          </a:effectRef>
          <a:fontRef idx="minor">
            <a:schemeClr val="lt1"/>
          </a:fontRef>
        </p:style>
        <p:txBody>
          <a:bodyPr wrap="none" anchor="ctr"/>
          <a:lstStyle/>
          <a:p>
            <a:endParaRPr lang="es-AR" sz="1600"/>
          </a:p>
        </p:txBody>
      </p:sp>
      <p:sp>
        <p:nvSpPr>
          <p:cNvPr id="6156" name="Line 12">
            <a:extLst>
              <a:ext uri="{FF2B5EF4-FFF2-40B4-BE49-F238E27FC236}">
                <a16:creationId xmlns="" xmlns:a16="http://schemas.microsoft.com/office/drawing/2014/main" id="{6E53116B-083E-4E8A-A1D3-4B9A868B8A21}"/>
              </a:ext>
            </a:extLst>
          </p:cNvPr>
          <p:cNvSpPr>
            <a:spLocks noChangeShapeType="1"/>
          </p:cNvSpPr>
          <p:nvPr/>
        </p:nvSpPr>
        <p:spPr bwMode="auto">
          <a:xfrm flipH="1">
            <a:off x="5953125" y="2255838"/>
            <a:ext cx="1127125" cy="911225"/>
          </a:xfrm>
          <a:prstGeom prst="line">
            <a:avLst/>
          </a:prstGeom>
          <a:ln>
            <a:headEnd type="triangle" w="med" len="med"/>
            <a:tailEnd type="triangle" w="med" len="med"/>
          </a:ln>
        </p:spPr>
        <p:style>
          <a:lnRef idx="3">
            <a:schemeClr val="lt1"/>
          </a:lnRef>
          <a:fillRef idx="1">
            <a:schemeClr val="accent3"/>
          </a:fillRef>
          <a:effectRef idx="1">
            <a:schemeClr val="accent3"/>
          </a:effectRef>
          <a:fontRef idx="minor">
            <a:schemeClr val="lt1"/>
          </a:fontRef>
        </p:style>
        <p:txBody>
          <a:bodyPr wrap="none" anchor="ctr"/>
          <a:lstStyle/>
          <a:p>
            <a:endParaRPr lang="es-AR" sz="1600"/>
          </a:p>
        </p:txBody>
      </p:sp>
      <p:sp>
        <p:nvSpPr>
          <p:cNvPr id="6157" name="Line 13">
            <a:extLst>
              <a:ext uri="{FF2B5EF4-FFF2-40B4-BE49-F238E27FC236}">
                <a16:creationId xmlns="" xmlns:a16="http://schemas.microsoft.com/office/drawing/2014/main" id="{3DABC7BF-1D5F-4C93-BF05-1EA922660970}"/>
              </a:ext>
            </a:extLst>
          </p:cNvPr>
          <p:cNvSpPr>
            <a:spLocks noChangeShapeType="1"/>
          </p:cNvSpPr>
          <p:nvPr/>
        </p:nvSpPr>
        <p:spPr bwMode="auto">
          <a:xfrm>
            <a:off x="5537200" y="4391025"/>
            <a:ext cx="0" cy="990600"/>
          </a:xfrm>
          <a:prstGeom prst="line">
            <a:avLst/>
          </a:prstGeom>
          <a:ln>
            <a:headEnd type="triangle" w="med" len="med"/>
            <a:tailEnd type="triangle" w="med" len="med"/>
          </a:ln>
        </p:spPr>
        <p:style>
          <a:lnRef idx="3">
            <a:schemeClr val="lt1"/>
          </a:lnRef>
          <a:fillRef idx="1">
            <a:schemeClr val="accent3"/>
          </a:fillRef>
          <a:effectRef idx="1">
            <a:schemeClr val="accent3"/>
          </a:effectRef>
          <a:fontRef idx="minor">
            <a:schemeClr val="lt1"/>
          </a:fontRef>
        </p:style>
        <p:txBody>
          <a:bodyPr wrap="none" anchor="ctr"/>
          <a:lstStyle/>
          <a:p>
            <a:endParaRPr lang="es-AR" sz="1600"/>
          </a:p>
        </p:txBody>
      </p:sp>
      <p:sp>
        <p:nvSpPr>
          <p:cNvPr id="6158" name="Text Box 14">
            <a:extLst>
              <a:ext uri="{FF2B5EF4-FFF2-40B4-BE49-F238E27FC236}">
                <a16:creationId xmlns="" xmlns:a16="http://schemas.microsoft.com/office/drawing/2014/main" id="{B5C747E0-A900-4A71-BBA3-43E78949BDD6}"/>
              </a:ext>
            </a:extLst>
          </p:cNvPr>
          <p:cNvSpPr txBox="1">
            <a:spLocks noChangeArrowheads="1"/>
          </p:cNvSpPr>
          <p:nvPr/>
        </p:nvSpPr>
        <p:spPr bwMode="auto">
          <a:xfrm>
            <a:off x="325030" y="1764218"/>
            <a:ext cx="2970685" cy="1015663"/>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dirty="0">
                <a:solidFill>
                  <a:schemeClr val="accent2"/>
                </a:solidFill>
                <a:latin typeface="+mn-lt"/>
              </a:rPr>
              <a:t>Nivel de visión o externo</a:t>
            </a:r>
          </a:p>
          <a:p>
            <a:pPr algn="ctr">
              <a:spcBef>
                <a:spcPct val="0"/>
              </a:spcBef>
              <a:buFontTx/>
              <a:buNone/>
            </a:pPr>
            <a:r>
              <a:rPr lang="es-ES_tradnl" altLang="es-ES" sz="2000" dirty="0">
                <a:solidFill>
                  <a:schemeClr val="accent2"/>
                </a:solidFill>
                <a:latin typeface="+mn-lt"/>
              </a:rPr>
              <a:t>(vistas parciales</a:t>
            </a:r>
          </a:p>
          <a:p>
            <a:pPr algn="ctr">
              <a:spcBef>
                <a:spcPct val="0"/>
              </a:spcBef>
              <a:buFontTx/>
              <a:buNone/>
            </a:pPr>
            <a:r>
              <a:rPr lang="es-ES_tradnl" altLang="es-ES" sz="2000" dirty="0">
                <a:solidFill>
                  <a:schemeClr val="accent2"/>
                </a:solidFill>
                <a:latin typeface="+mn-lt"/>
              </a:rPr>
              <a:t>de la BD)</a:t>
            </a:r>
          </a:p>
        </p:txBody>
      </p:sp>
      <p:sp>
        <p:nvSpPr>
          <p:cNvPr id="6159" name="Text Box 15">
            <a:extLst>
              <a:ext uri="{FF2B5EF4-FFF2-40B4-BE49-F238E27FC236}">
                <a16:creationId xmlns="" xmlns:a16="http://schemas.microsoft.com/office/drawing/2014/main" id="{077DC9A0-6A41-477B-A005-E284E12BF5A6}"/>
              </a:ext>
            </a:extLst>
          </p:cNvPr>
          <p:cNvSpPr txBox="1">
            <a:spLocks noChangeArrowheads="1"/>
          </p:cNvSpPr>
          <p:nvPr/>
        </p:nvSpPr>
        <p:spPr bwMode="auto">
          <a:xfrm>
            <a:off x="795069" y="3302337"/>
            <a:ext cx="2817631" cy="1015663"/>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dirty="0">
                <a:solidFill>
                  <a:schemeClr val="accent2"/>
                </a:solidFill>
                <a:latin typeface="+mn-lt"/>
              </a:rPr>
              <a:t>Nivel conceptual/lógico</a:t>
            </a:r>
          </a:p>
          <a:p>
            <a:pPr algn="ctr">
              <a:spcBef>
                <a:spcPct val="0"/>
              </a:spcBef>
              <a:buFontTx/>
              <a:buNone/>
            </a:pPr>
            <a:r>
              <a:rPr lang="es-ES_tradnl" altLang="es-ES" sz="2000" dirty="0">
                <a:solidFill>
                  <a:schemeClr val="accent2"/>
                </a:solidFill>
                <a:latin typeface="+mn-lt"/>
              </a:rPr>
              <a:t>(vista global</a:t>
            </a:r>
          </a:p>
          <a:p>
            <a:pPr algn="ctr">
              <a:spcBef>
                <a:spcPct val="0"/>
              </a:spcBef>
              <a:buFontTx/>
              <a:buNone/>
            </a:pPr>
            <a:r>
              <a:rPr lang="es-ES_tradnl" altLang="es-ES" sz="2000" dirty="0">
                <a:solidFill>
                  <a:schemeClr val="accent2"/>
                </a:solidFill>
                <a:latin typeface="+mn-lt"/>
              </a:rPr>
              <a:t>de la BD)</a:t>
            </a:r>
          </a:p>
        </p:txBody>
      </p:sp>
      <p:sp>
        <p:nvSpPr>
          <p:cNvPr id="6160" name="Text Box 16">
            <a:extLst>
              <a:ext uri="{FF2B5EF4-FFF2-40B4-BE49-F238E27FC236}">
                <a16:creationId xmlns="" xmlns:a16="http://schemas.microsoft.com/office/drawing/2014/main" id="{956CD7F0-E65D-4EC3-93EE-426A1702E92A}"/>
              </a:ext>
            </a:extLst>
          </p:cNvPr>
          <p:cNvSpPr txBox="1">
            <a:spLocks noChangeArrowheads="1"/>
          </p:cNvSpPr>
          <p:nvPr/>
        </p:nvSpPr>
        <p:spPr bwMode="auto">
          <a:xfrm>
            <a:off x="1140133" y="5177193"/>
            <a:ext cx="2127505" cy="1015663"/>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dirty="0">
                <a:solidFill>
                  <a:schemeClr val="accent2"/>
                </a:solidFill>
                <a:latin typeface="+mn-lt"/>
              </a:rPr>
              <a:t>Nivel físico</a:t>
            </a:r>
          </a:p>
          <a:p>
            <a:pPr algn="ctr">
              <a:spcBef>
                <a:spcPct val="0"/>
              </a:spcBef>
              <a:buFontTx/>
              <a:buNone/>
            </a:pPr>
            <a:r>
              <a:rPr lang="es-ES_tradnl" altLang="es-ES" sz="2000" dirty="0">
                <a:solidFill>
                  <a:schemeClr val="accent2"/>
                </a:solidFill>
                <a:latin typeface="+mn-lt"/>
              </a:rPr>
              <a:t>(almacenamiento</a:t>
            </a:r>
          </a:p>
          <a:p>
            <a:pPr algn="ctr">
              <a:spcBef>
                <a:spcPct val="0"/>
              </a:spcBef>
              <a:buFontTx/>
              <a:buNone/>
            </a:pPr>
            <a:r>
              <a:rPr lang="es-ES_tradnl" altLang="es-ES" sz="2000" dirty="0">
                <a:solidFill>
                  <a:schemeClr val="accent2"/>
                </a:solidFill>
                <a:latin typeface="+mn-lt"/>
              </a:rPr>
              <a:t>de la BD)</a:t>
            </a:r>
          </a:p>
        </p:txBody>
      </p:sp>
      <p:sp>
        <p:nvSpPr>
          <p:cNvPr id="6161" name="Text Box 23">
            <a:extLst>
              <a:ext uri="{FF2B5EF4-FFF2-40B4-BE49-F238E27FC236}">
                <a16:creationId xmlns="" xmlns:a16="http://schemas.microsoft.com/office/drawing/2014/main" id="{EC661CFE-2CF1-4AFB-ADFE-FE147521B93F}"/>
              </a:ext>
            </a:extLst>
          </p:cNvPr>
          <p:cNvSpPr txBox="1">
            <a:spLocks noChangeArrowheads="1"/>
          </p:cNvSpPr>
          <p:nvPr/>
        </p:nvSpPr>
        <p:spPr bwMode="auto">
          <a:xfrm>
            <a:off x="4989868" y="5527675"/>
            <a:ext cx="1180388" cy="40011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dirty="0">
                <a:ln w="0"/>
                <a:effectLst>
                  <a:outerShdw blurRad="38100" dist="19050" dir="2700000" algn="tl" rotWithShape="0">
                    <a:schemeClr val="dk1">
                      <a:alpha val="40000"/>
                    </a:schemeClr>
                  </a:outerShdw>
                </a:effectLst>
                <a:latin typeface="+mn-lt"/>
              </a:rPr>
              <a:t>BD</a:t>
            </a:r>
            <a:r>
              <a:rPr lang="es-ES_tradnl" altLang="es-ES" sz="2000" dirty="0">
                <a:latin typeface="+mn-lt"/>
              </a:rPr>
              <a:t> </a:t>
            </a:r>
            <a:r>
              <a:rPr lang="es-ES_tradnl" altLang="es-ES" sz="2000" dirty="0">
                <a:ln w="0"/>
                <a:effectLst>
                  <a:outerShdw blurRad="38100" dist="19050" dir="2700000" algn="tl" rotWithShape="0">
                    <a:schemeClr val="dk1">
                      <a:alpha val="40000"/>
                    </a:schemeClr>
                  </a:outerShdw>
                </a:effectLst>
                <a:latin typeface="+mn-lt"/>
              </a:rPr>
              <a:t>física</a:t>
            </a:r>
          </a:p>
        </p:txBody>
      </p:sp>
      <p:sp>
        <p:nvSpPr>
          <p:cNvPr id="6162" name="Text Box 26">
            <a:extLst>
              <a:ext uri="{FF2B5EF4-FFF2-40B4-BE49-F238E27FC236}">
                <a16:creationId xmlns="" xmlns:a16="http://schemas.microsoft.com/office/drawing/2014/main" id="{B0185E62-07DA-4DDF-8538-FCD46B4422F0}"/>
              </a:ext>
            </a:extLst>
          </p:cNvPr>
          <p:cNvSpPr txBox="1">
            <a:spLocks noChangeArrowheads="1"/>
          </p:cNvSpPr>
          <p:nvPr/>
        </p:nvSpPr>
        <p:spPr bwMode="auto">
          <a:xfrm>
            <a:off x="6516687" y="4469969"/>
            <a:ext cx="2376487" cy="338554"/>
          </a:xfrm>
          <a:prstGeom prst="rect">
            <a:avLst/>
          </a:prstGeom>
          <a:noFill/>
          <a:ln>
            <a:noFill/>
          </a:ln>
        </p:spPr>
        <p:style>
          <a:lnRef idx="0">
            <a:scrgbClr r="0" g="0" b="0"/>
          </a:lnRef>
          <a:fillRef idx="0">
            <a:scrgbClr r="0" g="0" b="0"/>
          </a:fillRef>
          <a:effectRef idx="0">
            <a:scrgbClr r="0" g="0" b="0"/>
          </a:effectRef>
          <a:fontRef idx="minor">
            <a:schemeClr val="accent2"/>
          </a:fontRef>
        </p:style>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600" dirty="0">
                <a:latin typeface="+mn-lt"/>
              </a:rPr>
              <a:t>Correspondencia 1/1</a:t>
            </a:r>
            <a:endParaRPr lang="es-ES_tradnl" altLang="es-ES" sz="1600" dirty="0">
              <a:latin typeface="+mn-lt"/>
            </a:endParaRPr>
          </a:p>
        </p:txBody>
      </p:sp>
      <p:sp>
        <p:nvSpPr>
          <p:cNvPr id="6163" name="Text Box 27">
            <a:extLst>
              <a:ext uri="{FF2B5EF4-FFF2-40B4-BE49-F238E27FC236}">
                <a16:creationId xmlns="" xmlns:a16="http://schemas.microsoft.com/office/drawing/2014/main" id="{23B62659-2799-4103-B214-A7EFC5042AF4}"/>
              </a:ext>
            </a:extLst>
          </p:cNvPr>
          <p:cNvSpPr txBox="1">
            <a:spLocks noChangeArrowheads="1"/>
          </p:cNvSpPr>
          <p:nvPr/>
        </p:nvSpPr>
        <p:spPr bwMode="auto">
          <a:xfrm>
            <a:off x="6466705" y="2532202"/>
            <a:ext cx="2376487" cy="584775"/>
          </a:xfrm>
          <a:prstGeom prst="rect">
            <a:avLst/>
          </a:prstGeom>
          <a:noFill/>
          <a:ln>
            <a:noFill/>
          </a:ln>
        </p:spPr>
        <p:style>
          <a:lnRef idx="0">
            <a:scrgbClr r="0" g="0" b="0"/>
          </a:lnRef>
          <a:fillRef idx="0">
            <a:scrgbClr r="0" g="0" b="0"/>
          </a:fillRef>
          <a:effectRef idx="0">
            <a:scrgbClr r="0" g="0" b="0"/>
          </a:effectRef>
          <a:fontRef idx="minor">
            <a:schemeClr val="accent2"/>
          </a:fontRef>
        </p:style>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600" dirty="0">
                <a:latin typeface="+mn-lt"/>
              </a:rPr>
              <a:t>Correspondencia 1/muchos</a:t>
            </a:r>
            <a:endParaRPr lang="es-ES_tradnl" altLang="es-ES" sz="1600" dirty="0">
              <a:latin typeface="+mn-lt"/>
            </a:endParaRPr>
          </a:p>
        </p:txBody>
      </p:sp>
      <p:sp>
        <p:nvSpPr>
          <p:cNvPr id="6164" name="Rectangle 28">
            <a:extLst>
              <a:ext uri="{FF2B5EF4-FFF2-40B4-BE49-F238E27FC236}">
                <a16:creationId xmlns="" xmlns:a16="http://schemas.microsoft.com/office/drawing/2014/main" id="{5FB02CC1-C140-4ED0-8300-A8D8723EA27A}"/>
              </a:ext>
            </a:extLst>
          </p:cNvPr>
          <p:cNvSpPr>
            <a:spLocks noChangeArrowheads="1"/>
          </p:cNvSpPr>
          <p:nvPr/>
        </p:nvSpPr>
        <p:spPr bwMode="auto">
          <a:xfrm>
            <a:off x="3651250" y="3814763"/>
            <a:ext cx="3744913" cy="503237"/>
          </a:xfrm>
          <a:prstGeom prst="flowChartAlternateProcess">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_tradnl" altLang="es-ES" sz="2000" dirty="0">
                <a:ln w="0"/>
                <a:effectLst>
                  <a:outerShdw blurRad="38100" dist="19050" dir="2700000" algn="tl" rotWithShape="0">
                    <a:schemeClr val="dk1">
                      <a:alpha val="40000"/>
                    </a:schemeClr>
                  </a:outerShdw>
                </a:effectLst>
                <a:latin typeface="+mn-lt"/>
              </a:rPr>
              <a:t>BD lógica </a:t>
            </a:r>
          </a:p>
        </p:txBody>
      </p:sp>
      <p:cxnSp>
        <p:nvCxnSpPr>
          <p:cNvPr id="3" name="Conector recto de flecha 2">
            <a:extLst>
              <a:ext uri="{FF2B5EF4-FFF2-40B4-BE49-F238E27FC236}">
                <a16:creationId xmlns="" xmlns:a16="http://schemas.microsoft.com/office/drawing/2014/main" id="{BB927F33-455C-6ACD-506A-98D11FC997F1}"/>
              </a:ext>
            </a:extLst>
          </p:cNvPr>
          <p:cNvCxnSpPr>
            <a:stCxn id="6154" idx="0"/>
          </p:cNvCxnSpPr>
          <p:nvPr/>
        </p:nvCxnSpPr>
        <p:spPr>
          <a:xfrm>
            <a:off x="4084638" y="2255838"/>
            <a:ext cx="1437481" cy="9842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 xmlns:a16="http://schemas.microsoft.com/office/drawing/2014/main" id="{48EA8A7E-667E-D188-D30D-87F58B3D386A}"/>
              </a:ext>
            </a:extLst>
          </p:cNvPr>
          <p:cNvCxnSpPr>
            <a:cxnSpLocks/>
            <a:stCxn id="6155" idx="0"/>
          </p:cNvCxnSpPr>
          <p:nvPr/>
        </p:nvCxnSpPr>
        <p:spPr>
          <a:xfrm flipH="1">
            <a:off x="5522119" y="2255838"/>
            <a:ext cx="2381" cy="9842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 xmlns:a16="http://schemas.microsoft.com/office/drawing/2014/main" id="{8C1817BA-32E5-2D14-E91B-7B31BB9AAD19}"/>
              </a:ext>
            </a:extLst>
          </p:cNvPr>
          <p:cNvCxnSpPr>
            <a:cxnSpLocks/>
          </p:cNvCxnSpPr>
          <p:nvPr/>
        </p:nvCxnSpPr>
        <p:spPr>
          <a:xfrm flipH="1">
            <a:off x="5522119" y="2236788"/>
            <a:ext cx="1540669" cy="10033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 xmlns:a16="http://schemas.microsoft.com/office/drawing/2014/main" id="{686C2CAB-16D5-F907-735A-20CCF66D5813}"/>
              </a:ext>
            </a:extLst>
          </p:cNvPr>
          <p:cNvCxnSpPr>
            <a:cxnSpLocks/>
            <a:endCxn id="6157" idx="1"/>
          </p:cNvCxnSpPr>
          <p:nvPr/>
        </p:nvCxnSpPr>
        <p:spPr>
          <a:xfrm>
            <a:off x="5523707" y="4318000"/>
            <a:ext cx="13494" cy="10636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1082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537882" y="2895599"/>
            <a:ext cx="3428064"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ctr"/>
            <a:r>
              <a:rPr lang="es-ES_tradnl" altLang="es-ES" sz="3200" dirty="0">
                <a:latin typeface="Calibri" panose="020F0502020204030204" pitchFamily="34" charset="0"/>
                <a:cs typeface="Calibri" panose="020F0502020204030204" pitchFamily="34" charset="0"/>
              </a:rPr>
              <a:t>Nivel de visión/externo</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855347"/>
            <a:ext cx="3303006" cy="3147306"/>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altLang="es-ES" sz="1700" dirty="0">
                <a:latin typeface="Calibri" panose="020F0502020204030204" pitchFamily="34" charset="0"/>
                <a:cs typeface="Calibri" panose="020F0502020204030204" pitchFamily="34" charset="0"/>
              </a:rPr>
              <a:t>El más cercano a los usuarios finales</a:t>
            </a:r>
          </a:p>
          <a:p>
            <a:r>
              <a:rPr lang="es-ES_tradnl" altLang="es-ES" sz="1700" dirty="0">
                <a:latin typeface="Calibri" panose="020F0502020204030204" pitchFamily="34" charset="0"/>
                <a:cs typeface="Calibri" panose="020F0502020204030204" pitchFamily="34" charset="0"/>
              </a:rPr>
              <a:t>Percepción de la BD por parte de los usuarios finales</a:t>
            </a:r>
          </a:p>
          <a:p>
            <a:r>
              <a:rPr lang="es-ES_tradnl" altLang="es-ES" sz="1700" u="sng" dirty="0">
                <a:latin typeface="Calibri" panose="020F0502020204030204" pitchFamily="34" charset="0"/>
                <a:cs typeface="Calibri" panose="020F0502020204030204" pitchFamily="34" charset="0"/>
              </a:rPr>
              <a:t>Tantas visiones como tipos de usuarios haya</a:t>
            </a:r>
          </a:p>
          <a:p>
            <a:r>
              <a:rPr lang="es-ES_tradnl" altLang="es-ES" sz="1700" dirty="0">
                <a:latin typeface="Calibri" panose="020F0502020204030204" pitchFamily="34" charset="0"/>
                <a:cs typeface="Calibri" panose="020F0502020204030204" pitchFamily="34" charset="0"/>
              </a:rPr>
              <a:t>Cada visión de usuario final se puede considerar como un </a:t>
            </a:r>
            <a:r>
              <a:rPr lang="es-ES_tradnl" altLang="es-ES" sz="1700" i="1" dirty="0" err="1">
                <a:latin typeface="Calibri" panose="020F0502020204030204" pitchFamily="34" charset="0"/>
                <a:cs typeface="Calibri" panose="020F0502020204030204" pitchFamily="34" charset="0"/>
              </a:rPr>
              <a:t>subesquema</a:t>
            </a:r>
            <a:r>
              <a:rPr lang="es-ES_tradnl" altLang="es-ES" sz="1700" dirty="0">
                <a:latin typeface="Calibri" panose="020F0502020204030204" pitchFamily="34" charset="0"/>
                <a:cs typeface="Calibri" panose="020F0502020204030204" pitchFamily="34" charset="0"/>
              </a:rPr>
              <a:t>    </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H="1" flipV="1">
            <a:off x="4249271" y="1532965"/>
            <a:ext cx="1" cy="37786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4987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 xmlns:a16="http://schemas.microsoft.com/office/drawing/2014/main" id="{FF26C6FE-A30C-4886-AD3B-4B5C1A20A89D}"/>
              </a:ext>
            </a:extLst>
          </p:cNvPr>
          <p:cNvSpPr>
            <a:spLocks noGrp="1" noChangeArrowheads="1"/>
          </p:cNvSpPr>
          <p:nvPr>
            <p:ph type="title"/>
          </p:nvPr>
        </p:nvSpPr>
        <p:spPr>
          <a:xfrm>
            <a:off x="363071" y="692870"/>
            <a:ext cx="8390964" cy="720725"/>
          </a:xfrm>
          <a:solidFill>
            <a:srgbClr val="0070C0"/>
          </a:solidFill>
          <a:ln w="9525"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a:lstStyle/>
          <a:p>
            <a:r>
              <a:rPr lang="es-ES_tradnl" altLang="es-ES" dirty="0">
                <a:solidFill>
                  <a:schemeClr val="bg1"/>
                </a:solidFill>
                <a:latin typeface="Calibri" panose="020F0502020204030204" pitchFamily="34" charset="0"/>
                <a:cs typeface="Calibri" panose="020F0502020204030204" pitchFamily="34" charset="0"/>
              </a:rPr>
              <a:t>Nivel de visión Externo</a:t>
            </a:r>
            <a:endParaRPr lang="es-ES" altLang="es-ES" dirty="0">
              <a:solidFill>
                <a:schemeClr val="bg1"/>
              </a:solidFill>
              <a:latin typeface="Calibri" panose="020F0502020204030204" pitchFamily="34" charset="0"/>
              <a:cs typeface="Calibri" panose="020F0502020204030204" pitchFamily="34" charset="0"/>
            </a:endParaRPr>
          </a:p>
        </p:txBody>
      </p:sp>
      <p:sp>
        <p:nvSpPr>
          <p:cNvPr id="9221" name="Rectangle 3">
            <a:extLst>
              <a:ext uri="{FF2B5EF4-FFF2-40B4-BE49-F238E27FC236}">
                <a16:creationId xmlns="" xmlns:a16="http://schemas.microsoft.com/office/drawing/2014/main" id="{B16551C6-A7BF-4D46-8873-B0C4AA333D4A}"/>
              </a:ext>
            </a:extLst>
          </p:cNvPr>
          <p:cNvSpPr>
            <a:spLocks noGrp="1" noChangeArrowheads="1"/>
          </p:cNvSpPr>
          <p:nvPr>
            <p:ph type="body" sz="half" idx="1"/>
          </p:nvPr>
        </p:nvSpPr>
        <p:spPr>
          <a:xfrm>
            <a:off x="267084" y="1516310"/>
            <a:ext cx="8634870" cy="719137"/>
          </a:xfrm>
        </p:spPr>
        <p:txBody>
          <a:bodyPr>
            <a:normAutofit/>
          </a:bodyPr>
          <a:lstStyle/>
          <a:p>
            <a:pPr algn="just">
              <a:buFontTx/>
              <a:buNone/>
            </a:pPr>
            <a:r>
              <a:rPr lang="es-ES" altLang="es-ES" sz="2800" i="1" dirty="0">
                <a:latin typeface="Calibri" panose="020F0502020204030204" pitchFamily="34" charset="0"/>
                <a:cs typeface="Calibri" panose="020F0502020204030204" pitchFamily="34" charset="0"/>
              </a:rPr>
              <a:t>Cada visión ofrece su representación de los datos de </a:t>
            </a:r>
            <a:r>
              <a:rPr lang="es-ES" altLang="es-ES" sz="2800" i="1" dirty="0" smtClean="0">
                <a:latin typeface="Calibri" panose="020F0502020204030204" pitchFamily="34" charset="0"/>
                <a:cs typeface="Calibri" panose="020F0502020204030204" pitchFamily="34" charset="0"/>
              </a:rPr>
              <a:t>la </a:t>
            </a:r>
            <a:r>
              <a:rPr lang="es-ES" altLang="es-ES" sz="2800" i="1" dirty="0">
                <a:latin typeface="Calibri" panose="020F0502020204030204" pitchFamily="34" charset="0"/>
                <a:cs typeface="Calibri" panose="020F0502020204030204" pitchFamily="34" charset="0"/>
              </a:rPr>
              <a:t>BD</a:t>
            </a:r>
          </a:p>
          <a:p>
            <a:pPr algn="just">
              <a:buFontTx/>
              <a:buNone/>
            </a:pPr>
            <a:endParaRPr lang="es-ES" altLang="es-ES" sz="2800" dirty="0">
              <a:latin typeface="Calibri" panose="020F0502020204030204" pitchFamily="34" charset="0"/>
              <a:cs typeface="Calibri" panose="020F0502020204030204" pitchFamily="34" charset="0"/>
            </a:endParaRPr>
          </a:p>
        </p:txBody>
      </p:sp>
      <p:sp>
        <p:nvSpPr>
          <p:cNvPr id="26631" name="Text Box 7">
            <a:extLst>
              <a:ext uri="{FF2B5EF4-FFF2-40B4-BE49-F238E27FC236}">
                <a16:creationId xmlns="" xmlns:a16="http://schemas.microsoft.com/office/drawing/2014/main" id="{0BC3F905-F7E6-4975-A2AE-3051D1448B8C}"/>
              </a:ext>
            </a:extLst>
          </p:cNvPr>
          <p:cNvSpPr txBox="1">
            <a:spLocks noChangeArrowheads="1"/>
          </p:cNvSpPr>
          <p:nvPr/>
        </p:nvSpPr>
        <p:spPr bwMode="auto">
          <a:xfrm>
            <a:off x="267083" y="2903839"/>
            <a:ext cx="2862585"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defRPr/>
            </a:pPr>
            <a:r>
              <a:rPr lang="es-ES" b="1" dirty="0">
                <a:effectLst>
                  <a:outerShdw blurRad="38100" dist="38100" dir="2700000" algn="tl">
                    <a:srgbClr val="C0C0C0"/>
                  </a:outerShdw>
                </a:effectLst>
              </a:rPr>
              <a:t>Visión Secretaria </a:t>
            </a:r>
            <a:r>
              <a:rPr lang="es-ES" dirty="0"/>
              <a:t>Fechas con formato:</a:t>
            </a:r>
          </a:p>
          <a:p>
            <a:pPr algn="ctr">
              <a:spcBef>
                <a:spcPct val="50000"/>
              </a:spcBef>
              <a:defRPr/>
            </a:pPr>
            <a:r>
              <a:rPr lang="es-ES" dirty="0"/>
              <a:t>(</a:t>
            </a:r>
            <a:r>
              <a:rPr lang="es-ES" dirty="0" err="1"/>
              <a:t>dd</a:t>
            </a:r>
            <a:r>
              <a:rPr lang="es-ES" dirty="0"/>
              <a:t>-mm-</a:t>
            </a:r>
            <a:r>
              <a:rPr lang="es-ES" dirty="0" err="1"/>
              <a:t>yy</a:t>
            </a:r>
            <a:r>
              <a:rPr lang="es-ES" dirty="0"/>
              <a:t>)</a:t>
            </a:r>
          </a:p>
        </p:txBody>
      </p:sp>
      <p:sp>
        <p:nvSpPr>
          <p:cNvPr id="26632" name="Text Box 8">
            <a:extLst>
              <a:ext uri="{FF2B5EF4-FFF2-40B4-BE49-F238E27FC236}">
                <a16:creationId xmlns="" xmlns:a16="http://schemas.microsoft.com/office/drawing/2014/main" id="{BABE372A-9C9C-4C69-9E3D-F6E70E590DBE}"/>
              </a:ext>
            </a:extLst>
          </p:cNvPr>
          <p:cNvSpPr txBox="1">
            <a:spLocks noChangeArrowheads="1"/>
          </p:cNvSpPr>
          <p:nvPr/>
        </p:nvSpPr>
        <p:spPr bwMode="auto">
          <a:xfrm>
            <a:off x="5508625" y="2779713"/>
            <a:ext cx="3025775"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s-ES" b="1" dirty="0">
                <a:effectLst>
                  <a:outerShdw blurRad="38100" dist="38100" dir="2700000" algn="tl">
                    <a:srgbClr val="C0C0C0"/>
                  </a:outerShdw>
                </a:effectLst>
              </a:rPr>
              <a:t>Visión Contador </a:t>
            </a:r>
            <a:r>
              <a:rPr lang="es-ES" dirty="0"/>
              <a:t>Fechas con formato:</a:t>
            </a:r>
          </a:p>
          <a:p>
            <a:pPr algn="ctr">
              <a:spcBef>
                <a:spcPct val="50000"/>
              </a:spcBef>
              <a:defRPr/>
            </a:pPr>
            <a:r>
              <a:rPr lang="es-ES" dirty="0"/>
              <a:t>(</a:t>
            </a:r>
            <a:r>
              <a:rPr lang="es-ES" dirty="0" err="1"/>
              <a:t>yyyy</a:t>
            </a:r>
            <a:r>
              <a:rPr lang="es-ES" dirty="0"/>
              <a:t>-</a:t>
            </a:r>
            <a:r>
              <a:rPr lang="es-ES" dirty="0" err="1"/>
              <a:t>dd</a:t>
            </a:r>
            <a:r>
              <a:rPr lang="es-ES" dirty="0"/>
              <a:t>-mm)</a:t>
            </a:r>
          </a:p>
        </p:txBody>
      </p:sp>
      <p:sp>
        <p:nvSpPr>
          <p:cNvPr id="9226" name="Line 10">
            <a:extLst>
              <a:ext uri="{FF2B5EF4-FFF2-40B4-BE49-F238E27FC236}">
                <a16:creationId xmlns="" xmlns:a16="http://schemas.microsoft.com/office/drawing/2014/main" id="{32BF8568-63D2-4057-9883-D984B28A063B}"/>
              </a:ext>
            </a:extLst>
          </p:cNvPr>
          <p:cNvSpPr>
            <a:spLocks noChangeShapeType="1"/>
          </p:cNvSpPr>
          <p:nvPr/>
        </p:nvSpPr>
        <p:spPr bwMode="auto">
          <a:xfrm flipH="1">
            <a:off x="2338388" y="3714750"/>
            <a:ext cx="1729556" cy="7223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pic>
        <p:nvPicPr>
          <p:cNvPr id="9227" name="Picture 12">
            <a:extLst>
              <a:ext uri="{FF2B5EF4-FFF2-40B4-BE49-F238E27FC236}">
                <a16:creationId xmlns="" xmlns:a16="http://schemas.microsoft.com/office/drawing/2014/main" id="{17994300-6304-436F-A217-72E91F0042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3488" y="4476750"/>
            <a:ext cx="1571625" cy="14001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8" name="Picture 14">
            <a:extLst>
              <a:ext uri="{FF2B5EF4-FFF2-40B4-BE49-F238E27FC236}">
                <a16:creationId xmlns="" xmlns:a16="http://schemas.microsoft.com/office/drawing/2014/main" id="{F5DAA9D0-385E-4686-9790-018B994FB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4508500"/>
            <a:ext cx="1581150" cy="13620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229" name="Line 16">
            <a:extLst>
              <a:ext uri="{FF2B5EF4-FFF2-40B4-BE49-F238E27FC236}">
                <a16:creationId xmlns="" xmlns:a16="http://schemas.microsoft.com/office/drawing/2014/main" id="{BA44DBD3-27C7-432D-8958-4FA04B9CAE52}"/>
              </a:ext>
            </a:extLst>
          </p:cNvPr>
          <p:cNvSpPr>
            <a:spLocks noChangeShapeType="1"/>
          </p:cNvSpPr>
          <p:nvPr/>
        </p:nvSpPr>
        <p:spPr bwMode="auto">
          <a:xfrm>
            <a:off x="4788025" y="3714750"/>
            <a:ext cx="1584200" cy="7223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pic>
        <p:nvPicPr>
          <p:cNvPr id="17" name="Gráfico 16" descr="Base de datos">
            <a:extLst>
              <a:ext uri="{FF2B5EF4-FFF2-40B4-BE49-F238E27FC236}">
                <a16:creationId xmlns="" xmlns:a16="http://schemas.microsoft.com/office/drawing/2014/main" id="{F92EA9C4-FCC2-4632-8677-52B611D5283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3605882" y="2420888"/>
            <a:ext cx="1571625" cy="1571625"/>
          </a:xfrm>
          <a:prstGeom prst="rect">
            <a:avLst/>
          </a:prstGeom>
        </p:spPr>
      </p:pic>
      <p:sp>
        <p:nvSpPr>
          <p:cNvPr id="30" name="Rectangle 3">
            <a:extLst>
              <a:ext uri="{FF2B5EF4-FFF2-40B4-BE49-F238E27FC236}">
                <a16:creationId xmlns="" xmlns:a16="http://schemas.microsoft.com/office/drawing/2014/main" id="{2820B077-F535-4383-8036-A12C17470F00}"/>
              </a:ext>
            </a:extLst>
          </p:cNvPr>
          <p:cNvSpPr txBox="1">
            <a:spLocks noChangeArrowheads="1"/>
          </p:cNvSpPr>
          <p:nvPr/>
        </p:nvSpPr>
        <p:spPr>
          <a:xfrm>
            <a:off x="3839816" y="3900189"/>
            <a:ext cx="1176337" cy="351433"/>
          </a:xfrm>
          <a:prstGeom prst="rect">
            <a:avLst/>
          </a:prstGeom>
        </p:spPr>
        <p:txBody>
          <a:bodyPr vert="horz" lIns="91440" tIns="45720" rIns="91440" bIns="45720" rtlCol="0">
            <a:normAutofit fontScale="47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Tx/>
              <a:buNone/>
            </a:pPr>
            <a:r>
              <a:rPr lang="es-ES" altLang="es-ES" sz="2800" i="1" dirty="0"/>
              <a:t>Base de Datos</a:t>
            </a:r>
          </a:p>
          <a:p>
            <a:pPr>
              <a:buFontTx/>
              <a:buNone/>
            </a:pPr>
            <a:endParaRPr lang="es-ES" altLang="es-ES" sz="2800" dirty="0"/>
          </a:p>
        </p:txBody>
      </p:sp>
    </p:spTree>
    <p:extLst>
      <p:ext uri="{BB962C8B-B14F-4D97-AF65-F5344CB8AC3E}">
        <p14:creationId xmlns:p14="http://schemas.microsoft.com/office/powerpoint/2010/main" val="47949903"/>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9228"/>
                                        </p:tgtEl>
                                      </p:cBhvr>
                                    </p:animEffect>
                                    <p:animScale>
                                      <p:cBhvr>
                                        <p:cTn id="7" dur="250" autoRev="1" fill="hold"/>
                                        <p:tgtEl>
                                          <p:spTgt spid="9228"/>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9226"/>
                                        </p:tgtEl>
                                      </p:cBhvr>
                                    </p:animEffect>
                                    <p:animScale>
                                      <p:cBhvr>
                                        <p:cTn id="10" dur="250" autoRev="1" fill="hold"/>
                                        <p:tgtEl>
                                          <p:spTgt spid="9226"/>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631"/>
                                        </p:tgtEl>
                                        <p:attrNameLst>
                                          <p:attrName>style.visibility</p:attrName>
                                        </p:attrNameLst>
                                      </p:cBhvr>
                                      <p:to>
                                        <p:strVal val="visible"/>
                                      </p:to>
                                    </p:set>
                                    <p:animEffect transition="in" filter="randombar(horizontal)">
                                      <p:cBhvr>
                                        <p:cTn id="15" dur="500"/>
                                        <p:tgtEl>
                                          <p:spTgt spid="26631"/>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nodeType="clickEffect">
                                  <p:stCondLst>
                                    <p:cond delay="0"/>
                                  </p:stCondLst>
                                  <p:childTnLst>
                                    <p:animEffect transition="out" filter="fade">
                                      <p:cBhvr>
                                        <p:cTn id="19" dur="500" tmFilter="0, 0; .2, .5; .8, .5; 1, 0"/>
                                        <p:tgtEl>
                                          <p:spTgt spid="9227"/>
                                        </p:tgtEl>
                                      </p:cBhvr>
                                    </p:animEffect>
                                    <p:animScale>
                                      <p:cBhvr>
                                        <p:cTn id="20" dur="250" autoRev="1" fill="hold"/>
                                        <p:tgtEl>
                                          <p:spTgt spid="9227"/>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9229"/>
                                        </p:tgtEl>
                                      </p:cBhvr>
                                    </p:animEffect>
                                    <p:animScale>
                                      <p:cBhvr>
                                        <p:cTn id="23" dur="250" autoRev="1" fill="hold"/>
                                        <p:tgtEl>
                                          <p:spTgt spid="9229"/>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632"/>
                                        </p:tgtEl>
                                        <p:attrNameLst>
                                          <p:attrName>style.visibility</p:attrName>
                                        </p:attrNameLst>
                                      </p:cBhvr>
                                      <p:to>
                                        <p:strVal val="visible"/>
                                      </p:to>
                                    </p:set>
                                    <p:animEffect transition="in" filter="randombar(horizontal)">
                                      <p:cBhvr>
                                        <p:cTn id="28" dur="500"/>
                                        <p:tgtEl>
                                          <p:spTgt spid="26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 grpId="0"/>
      <p:bldP spid="26632" grpId="0"/>
      <p:bldP spid="9226" grpId="0" animBg="1"/>
      <p:bldP spid="92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a 7">
            <a:extLst>
              <a:ext uri="{FF2B5EF4-FFF2-40B4-BE49-F238E27FC236}">
                <a16:creationId xmlns="" xmlns:a16="http://schemas.microsoft.com/office/drawing/2014/main" id="{9DDBB60E-EAE4-4B6F-A2B0-93396EF12859}"/>
              </a:ext>
            </a:extLst>
          </p:cNvPr>
          <p:cNvGraphicFramePr>
            <a:graphicFrameLocks noGrp="1"/>
          </p:cNvGraphicFramePr>
          <p:nvPr>
            <p:extLst/>
          </p:nvPr>
        </p:nvGraphicFramePr>
        <p:xfrm>
          <a:off x="1707777" y="692150"/>
          <a:ext cx="6064623" cy="3024192"/>
        </p:xfrm>
        <a:graphic>
          <a:graphicData uri="http://schemas.openxmlformats.org/drawingml/2006/table">
            <a:tbl>
              <a:tblPr firstRow="1" bandRow="1">
                <a:tableStyleId>{5C22544A-7EE6-4342-B048-85BDC9FD1C3A}</a:tableStyleId>
              </a:tblPr>
              <a:tblGrid>
                <a:gridCol w="1002630">
                  <a:extLst>
                    <a:ext uri="{9D8B030D-6E8A-4147-A177-3AD203B41FA5}">
                      <a16:colId xmlns="" xmlns:a16="http://schemas.microsoft.com/office/drawing/2014/main" val="20000"/>
                    </a:ext>
                  </a:extLst>
                </a:gridCol>
                <a:gridCol w="1633514">
                  <a:extLst>
                    <a:ext uri="{9D8B030D-6E8A-4147-A177-3AD203B41FA5}">
                      <a16:colId xmlns="" xmlns:a16="http://schemas.microsoft.com/office/drawing/2014/main" val="20001"/>
                    </a:ext>
                  </a:extLst>
                </a:gridCol>
                <a:gridCol w="1002630">
                  <a:extLst>
                    <a:ext uri="{9D8B030D-6E8A-4147-A177-3AD203B41FA5}">
                      <a16:colId xmlns="" xmlns:a16="http://schemas.microsoft.com/office/drawing/2014/main" val="20002"/>
                    </a:ext>
                  </a:extLst>
                </a:gridCol>
                <a:gridCol w="1246843">
                  <a:extLst>
                    <a:ext uri="{9D8B030D-6E8A-4147-A177-3AD203B41FA5}">
                      <a16:colId xmlns="" xmlns:a16="http://schemas.microsoft.com/office/drawing/2014/main" val="20003"/>
                    </a:ext>
                  </a:extLst>
                </a:gridCol>
                <a:gridCol w="1179006">
                  <a:extLst>
                    <a:ext uri="{9D8B030D-6E8A-4147-A177-3AD203B41FA5}">
                      <a16:colId xmlns="" xmlns:a16="http://schemas.microsoft.com/office/drawing/2014/main" val="20004"/>
                    </a:ext>
                  </a:extLst>
                </a:gridCol>
              </a:tblGrid>
              <a:tr h="378024">
                <a:tc>
                  <a:txBody>
                    <a:bodyPr/>
                    <a:lstStyle/>
                    <a:p>
                      <a:pPr algn="ctr"/>
                      <a:r>
                        <a:rPr lang="es-ES" sz="1800" dirty="0">
                          <a:solidFill>
                            <a:schemeClr val="bg1"/>
                          </a:solidFill>
                          <a:latin typeface="Calibri" panose="020F0502020204030204" pitchFamily="34" charset="0"/>
                          <a:cs typeface="Calibri" panose="020F0502020204030204" pitchFamily="34" charset="0"/>
                        </a:rPr>
                        <a:t>Cédula</a:t>
                      </a:r>
                    </a:p>
                  </a:txBody>
                  <a:tcPr marT="45725" marB="45725"/>
                </a:tc>
                <a:tc>
                  <a:txBody>
                    <a:bodyPr/>
                    <a:lstStyle/>
                    <a:p>
                      <a:pPr algn="ctr"/>
                      <a:r>
                        <a:rPr lang="es-ES" sz="1800" dirty="0">
                          <a:solidFill>
                            <a:schemeClr val="bg1"/>
                          </a:solidFill>
                          <a:latin typeface="Calibri" panose="020F0502020204030204" pitchFamily="34" charset="0"/>
                          <a:cs typeface="Calibri" panose="020F0502020204030204" pitchFamily="34" charset="0"/>
                        </a:rPr>
                        <a:t>Nombre</a:t>
                      </a:r>
                    </a:p>
                  </a:txBody>
                  <a:tcPr marT="45725" marB="45725"/>
                </a:tc>
                <a:tc>
                  <a:txBody>
                    <a:bodyPr/>
                    <a:lstStyle/>
                    <a:p>
                      <a:pPr algn="ctr"/>
                      <a:r>
                        <a:rPr lang="es-ES" sz="1800" dirty="0">
                          <a:solidFill>
                            <a:schemeClr val="bg1"/>
                          </a:solidFill>
                          <a:latin typeface="Calibri" panose="020F0502020204030204" pitchFamily="34" charset="0"/>
                          <a:cs typeface="Calibri" panose="020F0502020204030204" pitchFamily="34" charset="0"/>
                        </a:rPr>
                        <a:t>Salario</a:t>
                      </a:r>
                    </a:p>
                  </a:txBody>
                  <a:tcPr marT="45725" marB="45725"/>
                </a:tc>
                <a:tc>
                  <a:txBody>
                    <a:bodyPr/>
                    <a:lstStyle/>
                    <a:p>
                      <a:pPr algn="ctr"/>
                      <a:r>
                        <a:rPr lang="es-ES" sz="1800" dirty="0">
                          <a:solidFill>
                            <a:schemeClr val="bg1"/>
                          </a:solidFill>
                          <a:latin typeface="Calibri" panose="020F0502020204030204" pitchFamily="34" charset="0"/>
                          <a:cs typeface="Calibri" panose="020F0502020204030204" pitchFamily="34" charset="0"/>
                        </a:rPr>
                        <a:t>Comisión</a:t>
                      </a:r>
                    </a:p>
                  </a:txBody>
                  <a:tcPr marT="45725" marB="45725"/>
                </a:tc>
                <a:tc>
                  <a:txBody>
                    <a:bodyPr/>
                    <a:lstStyle/>
                    <a:p>
                      <a:pPr algn="ctr"/>
                      <a:r>
                        <a:rPr lang="es-ES" sz="1800" dirty="0" err="1">
                          <a:solidFill>
                            <a:schemeClr val="bg1"/>
                          </a:solidFill>
                          <a:latin typeface="Calibri" panose="020F0502020204030204" pitchFamily="34" charset="0"/>
                          <a:cs typeface="Calibri" panose="020F0502020204030204" pitchFamily="34" charset="0"/>
                        </a:rPr>
                        <a:t>Dpto</a:t>
                      </a:r>
                      <a:endParaRPr lang="es-ES" sz="1800" dirty="0">
                        <a:solidFill>
                          <a:schemeClr val="bg1"/>
                        </a:solidFill>
                        <a:latin typeface="Calibri" panose="020F0502020204030204" pitchFamily="34" charset="0"/>
                        <a:cs typeface="Calibri" panose="020F0502020204030204" pitchFamily="34" charset="0"/>
                      </a:endParaRPr>
                    </a:p>
                  </a:txBody>
                  <a:tcPr marT="45725" marB="45725"/>
                </a:tc>
                <a:extLst>
                  <a:ext uri="{0D108BD9-81ED-4DB2-BD59-A6C34878D82A}">
                    <a16:rowId xmlns="" xmlns:a16="http://schemas.microsoft.com/office/drawing/2014/main" val="10000"/>
                  </a:ext>
                </a:extLst>
              </a:tr>
              <a:tr h="378024">
                <a:tc>
                  <a:txBody>
                    <a:bodyPr/>
                    <a:lstStyle/>
                    <a:p>
                      <a:r>
                        <a:rPr lang="es-ES" sz="1800" dirty="0">
                          <a:latin typeface="Calibri" panose="020F0502020204030204" pitchFamily="34" charset="0"/>
                          <a:cs typeface="Calibri" panose="020F0502020204030204" pitchFamily="34" charset="0"/>
                        </a:rPr>
                        <a:t>712123</a:t>
                      </a:r>
                    </a:p>
                  </a:txBody>
                  <a:tcPr marT="45725" marB="45725"/>
                </a:tc>
                <a:tc>
                  <a:txBody>
                    <a:bodyPr/>
                    <a:lstStyle/>
                    <a:p>
                      <a:r>
                        <a:rPr lang="es-ES" sz="1800">
                          <a:latin typeface="Calibri" panose="020F0502020204030204" pitchFamily="34" charset="0"/>
                          <a:cs typeface="Calibri" panose="020F0502020204030204" pitchFamily="34" charset="0"/>
                        </a:rPr>
                        <a:t>Alesha</a:t>
                      </a:r>
                      <a:r>
                        <a:rPr lang="es-ES" sz="1800" dirty="0">
                          <a:latin typeface="Calibri" panose="020F0502020204030204" pitchFamily="34" charset="0"/>
                          <a:cs typeface="Calibri" panose="020F0502020204030204" pitchFamily="34" charset="0"/>
                        </a:rPr>
                        <a:t> Dixon</a:t>
                      </a:r>
                    </a:p>
                  </a:txBody>
                  <a:tcPr marT="45725" marB="45725"/>
                </a:tc>
                <a:tc>
                  <a:txBody>
                    <a:bodyPr/>
                    <a:lstStyle/>
                    <a:p>
                      <a:pPr algn="r"/>
                      <a:r>
                        <a:rPr lang="es-ES" sz="1800" dirty="0">
                          <a:latin typeface="Calibri" panose="020F0502020204030204" pitchFamily="34" charset="0"/>
                          <a:cs typeface="Calibri" panose="020F0502020204030204" pitchFamily="34" charset="0"/>
                        </a:rPr>
                        <a:t>100</a:t>
                      </a:r>
                    </a:p>
                  </a:txBody>
                  <a:tcPr marT="45725" marB="45725"/>
                </a:tc>
                <a:tc>
                  <a:txBody>
                    <a:bodyPr/>
                    <a:lstStyle/>
                    <a:p>
                      <a:pPr algn="r"/>
                      <a:r>
                        <a:rPr lang="es-ES" sz="1800" dirty="0">
                          <a:latin typeface="Calibri" panose="020F0502020204030204" pitchFamily="34" charset="0"/>
                          <a:cs typeface="Calibri" panose="020F0502020204030204" pitchFamily="34" charset="0"/>
                        </a:rPr>
                        <a:t>5</a:t>
                      </a:r>
                    </a:p>
                  </a:txBody>
                  <a:tcPr marT="45725" marB="45725"/>
                </a:tc>
                <a:tc>
                  <a:txBody>
                    <a:bodyPr/>
                    <a:lstStyle/>
                    <a:p>
                      <a:r>
                        <a:rPr lang="es-ES" sz="1800" dirty="0">
                          <a:latin typeface="Calibri" panose="020F0502020204030204" pitchFamily="34" charset="0"/>
                          <a:cs typeface="Calibri" panose="020F0502020204030204" pitchFamily="34" charset="0"/>
                        </a:rPr>
                        <a:t>Ciencias</a:t>
                      </a:r>
                    </a:p>
                  </a:txBody>
                  <a:tcPr marT="45725" marB="45725"/>
                </a:tc>
                <a:extLst>
                  <a:ext uri="{0D108BD9-81ED-4DB2-BD59-A6C34878D82A}">
                    <a16:rowId xmlns="" xmlns:a16="http://schemas.microsoft.com/office/drawing/2014/main" val="10001"/>
                  </a:ext>
                </a:extLst>
              </a:tr>
              <a:tr h="378024">
                <a:tc>
                  <a:txBody>
                    <a:bodyPr/>
                    <a:lstStyle/>
                    <a:p>
                      <a:r>
                        <a:rPr lang="es-ES" sz="1800" dirty="0">
                          <a:latin typeface="Calibri" panose="020F0502020204030204" pitchFamily="34" charset="0"/>
                          <a:cs typeface="Calibri" panose="020F0502020204030204" pitchFamily="34" charset="0"/>
                        </a:rPr>
                        <a:t>435422</a:t>
                      </a:r>
                    </a:p>
                  </a:txBody>
                  <a:tcPr marT="45725" marB="45725"/>
                </a:tc>
                <a:tc>
                  <a:txBody>
                    <a:bodyPr/>
                    <a:lstStyle/>
                    <a:p>
                      <a:r>
                        <a:rPr lang="es-ES" sz="1800" dirty="0">
                          <a:latin typeface="Calibri" panose="020F0502020204030204" pitchFamily="34" charset="0"/>
                          <a:cs typeface="Calibri" panose="020F0502020204030204" pitchFamily="34" charset="0"/>
                        </a:rPr>
                        <a:t>Madonna</a:t>
                      </a:r>
                    </a:p>
                  </a:txBody>
                  <a:tcPr marT="45725" marB="45725"/>
                </a:tc>
                <a:tc>
                  <a:txBody>
                    <a:bodyPr/>
                    <a:lstStyle/>
                    <a:p>
                      <a:pPr algn="r"/>
                      <a:r>
                        <a:rPr lang="es-ES" sz="1800" dirty="0">
                          <a:latin typeface="Calibri" panose="020F0502020204030204" pitchFamily="34" charset="0"/>
                          <a:cs typeface="Calibri" panose="020F0502020204030204" pitchFamily="34" charset="0"/>
                        </a:rPr>
                        <a:t>50</a:t>
                      </a:r>
                    </a:p>
                  </a:txBody>
                  <a:tcPr marT="45725" marB="45725"/>
                </a:tc>
                <a:tc>
                  <a:txBody>
                    <a:bodyPr/>
                    <a:lstStyle/>
                    <a:p>
                      <a:pPr algn="r"/>
                      <a:r>
                        <a:rPr lang="es-ES" sz="1800" dirty="0">
                          <a:latin typeface="Calibri" panose="020F0502020204030204" pitchFamily="34" charset="0"/>
                          <a:cs typeface="Calibri" panose="020F0502020204030204" pitchFamily="34" charset="0"/>
                        </a:rPr>
                        <a:t>10</a:t>
                      </a:r>
                    </a:p>
                  </a:txBody>
                  <a:tcPr marT="45725" marB="45725"/>
                </a:tc>
                <a:tc>
                  <a:txBody>
                    <a:bodyPr/>
                    <a:lstStyle/>
                    <a:p>
                      <a:r>
                        <a:rPr lang="es-ES" sz="1800" dirty="0">
                          <a:latin typeface="Calibri" panose="020F0502020204030204" pitchFamily="34" charset="0"/>
                          <a:cs typeface="Calibri" panose="020F0502020204030204" pitchFamily="34" charset="0"/>
                        </a:rPr>
                        <a:t>Ciencias</a:t>
                      </a:r>
                    </a:p>
                  </a:txBody>
                  <a:tcPr marT="45725" marB="45725"/>
                </a:tc>
                <a:extLst>
                  <a:ext uri="{0D108BD9-81ED-4DB2-BD59-A6C34878D82A}">
                    <a16:rowId xmlns="" xmlns:a16="http://schemas.microsoft.com/office/drawing/2014/main" val="10002"/>
                  </a:ext>
                </a:extLst>
              </a:tr>
              <a:tr h="378024">
                <a:tc>
                  <a:txBody>
                    <a:bodyPr/>
                    <a:lstStyle/>
                    <a:p>
                      <a:r>
                        <a:rPr lang="es-ES" sz="1800" dirty="0">
                          <a:latin typeface="Calibri" panose="020F0502020204030204" pitchFamily="34" charset="0"/>
                          <a:cs typeface="Calibri" panose="020F0502020204030204" pitchFamily="34" charset="0"/>
                        </a:rPr>
                        <a:t>342311</a:t>
                      </a:r>
                    </a:p>
                  </a:txBody>
                  <a:tcPr marT="45725" marB="45725"/>
                </a:tc>
                <a:tc>
                  <a:txBody>
                    <a:bodyPr/>
                    <a:lstStyle/>
                    <a:p>
                      <a:r>
                        <a:rPr lang="es-ES" sz="1800" dirty="0" err="1">
                          <a:latin typeface="Calibri" panose="020F0502020204030204" pitchFamily="34" charset="0"/>
                          <a:cs typeface="Calibri" panose="020F0502020204030204" pitchFamily="34" charset="0"/>
                        </a:rPr>
                        <a:t>Björk</a:t>
                      </a:r>
                      <a:endParaRPr lang="es-ES" sz="1800" dirty="0">
                        <a:latin typeface="Calibri" panose="020F0502020204030204" pitchFamily="34" charset="0"/>
                        <a:cs typeface="Calibri" panose="020F0502020204030204" pitchFamily="34" charset="0"/>
                      </a:endParaRPr>
                    </a:p>
                  </a:txBody>
                  <a:tcPr marT="45725" marB="45725"/>
                </a:tc>
                <a:tc>
                  <a:txBody>
                    <a:bodyPr/>
                    <a:lstStyle/>
                    <a:p>
                      <a:pPr algn="r"/>
                      <a:r>
                        <a:rPr lang="es-ES" sz="1800" dirty="0">
                          <a:latin typeface="Calibri" panose="020F0502020204030204" pitchFamily="34" charset="0"/>
                          <a:cs typeface="Calibri" panose="020F0502020204030204" pitchFamily="34" charset="0"/>
                        </a:rPr>
                        <a:t>100</a:t>
                      </a:r>
                    </a:p>
                  </a:txBody>
                  <a:tcPr marT="45725" marB="45725"/>
                </a:tc>
                <a:tc>
                  <a:txBody>
                    <a:bodyPr/>
                    <a:lstStyle/>
                    <a:p>
                      <a:pPr algn="r"/>
                      <a:r>
                        <a:rPr lang="es-ES" sz="1800" dirty="0">
                          <a:latin typeface="Calibri" panose="020F0502020204030204" pitchFamily="34" charset="0"/>
                          <a:cs typeface="Calibri" panose="020F0502020204030204" pitchFamily="34" charset="0"/>
                        </a:rPr>
                        <a:t>5</a:t>
                      </a:r>
                    </a:p>
                  </a:txBody>
                  <a:tcPr marT="45725" marB="45725"/>
                </a:tc>
                <a:tc>
                  <a:txBody>
                    <a:bodyPr/>
                    <a:lstStyle/>
                    <a:p>
                      <a:r>
                        <a:rPr lang="es-ES" sz="1800" dirty="0">
                          <a:latin typeface="Calibri" panose="020F0502020204030204" pitchFamily="34" charset="0"/>
                          <a:cs typeface="Calibri" panose="020F0502020204030204" pitchFamily="34" charset="0"/>
                        </a:rPr>
                        <a:t>Medicina</a:t>
                      </a:r>
                    </a:p>
                  </a:txBody>
                  <a:tcPr marT="45725" marB="45725"/>
                </a:tc>
                <a:extLst>
                  <a:ext uri="{0D108BD9-81ED-4DB2-BD59-A6C34878D82A}">
                    <a16:rowId xmlns="" xmlns:a16="http://schemas.microsoft.com/office/drawing/2014/main" val="10003"/>
                  </a:ext>
                </a:extLst>
              </a:tr>
              <a:tr h="378024">
                <a:tc>
                  <a:txBody>
                    <a:bodyPr/>
                    <a:lstStyle/>
                    <a:p>
                      <a:r>
                        <a:rPr lang="es-ES" sz="1800" dirty="0">
                          <a:latin typeface="Calibri" panose="020F0502020204030204" pitchFamily="34" charset="0"/>
                          <a:cs typeface="Calibri" panose="020F0502020204030204" pitchFamily="34" charset="0"/>
                        </a:rPr>
                        <a:t>898765</a:t>
                      </a:r>
                    </a:p>
                  </a:txBody>
                  <a:tcPr marT="45725" marB="45725"/>
                </a:tc>
                <a:tc>
                  <a:txBody>
                    <a:bodyPr/>
                    <a:lstStyle/>
                    <a:p>
                      <a:r>
                        <a:rPr lang="es-ES" sz="1800" dirty="0" err="1">
                          <a:latin typeface="Calibri" panose="020F0502020204030204" pitchFamily="34" charset="0"/>
                          <a:cs typeface="Calibri" panose="020F0502020204030204" pitchFamily="34" charset="0"/>
                        </a:rPr>
                        <a:t>Lorde</a:t>
                      </a:r>
                      <a:endParaRPr lang="es-ES" sz="1800" dirty="0">
                        <a:latin typeface="Calibri" panose="020F0502020204030204" pitchFamily="34" charset="0"/>
                        <a:cs typeface="Calibri" panose="020F0502020204030204" pitchFamily="34" charset="0"/>
                      </a:endParaRPr>
                    </a:p>
                  </a:txBody>
                  <a:tcPr marT="45725" marB="45725"/>
                </a:tc>
                <a:tc>
                  <a:txBody>
                    <a:bodyPr/>
                    <a:lstStyle/>
                    <a:p>
                      <a:pPr algn="r"/>
                      <a:r>
                        <a:rPr lang="es-ES" sz="1800" dirty="0">
                          <a:latin typeface="Calibri" panose="020F0502020204030204" pitchFamily="34" charset="0"/>
                          <a:cs typeface="Calibri" panose="020F0502020204030204" pitchFamily="34" charset="0"/>
                        </a:rPr>
                        <a:t>200</a:t>
                      </a:r>
                    </a:p>
                  </a:txBody>
                  <a:tcPr marT="45725" marB="45725"/>
                </a:tc>
                <a:tc>
                  <a:txBody>
                    <a:bodyPr/>
                    <a:lstStyle/>
                    <a:p>
                      <a:pPr algn="r"/>
                      <a:r>
                        <a:rPr lang="es-ES" sz="1800" dirty="0">
                          <a:latin typeface="Calibri" panose="020F0502020204030204" pitchFamily="34" charset="0"/>
                          <a:cs typeface="Calibri" panose="020F0502020204030204" pitchFamily="34" charset="0"/>
                        </a:rPr>
                        <a:t>10</a:t>
                      </a:r>
                    </a:p>
                  </a:txBody>
                  <a:tcPr marT="45725" marB="45725"/>
                </a:tc>
                <a:tc>
                  <a:txBody>
                    <a:bodyPr/>
                    <a:lstStyle/>
                    <a:p>
                      <a:r>
                        <a:rPr lang="es-ES" sz="1800" dirty="0">
                          <a:latin typeface="Calibri" panose="020F0502020204030204" pitchFamily="34" charset="0"/>
                          <a:cs typeface="Calibri" panose="020F0502020204030204" pitchFamily="34" charset="0"/>
                        </a:rPr>
                        <a:t>Medicina</a:t>
                      </a:r>
                    </a:p>
                  </a:txBody>
                  <a:tcPr marT="45725" marB="45725"/>
                </a:tc>
                <a:extLst>
                  <a:ext uri="{0D108BD9-81ED-4DB2-BD59-A6C34878D82A}">
                    <a16:rowId xmlns="" xmlns:a16="http://schemas.microsoft.com/office/drawing/2014/main" val="10004"/>
                  </a:ext>
                </a:extLst>
              </a:tr>
              <a:tr h="378024">
                <a:tc>
                  <a:txBody>
                    <a:bodyPr/>
                    <a:lstStyle/>
                    <a:p>
                      <a:r>
                        <a:rPr lang="es-ES" sz="1800" dirty="0">
                          <a:latin typeface="Calibri" panose="020F0502020204030204" pitchFamily="34" charset="0"/>
                          <a:cs typeface="Calibri" panose="020F0502020204030204" pitchFamily="34" charset="0"/>
                        </a:rPr>
                        <a:t>231452</a:t>
                      </a:r>
                    </a:p>
                  </a:txBody>
                  <a:tcPr marT="45725" marB="45725"/>
                </a:tc>
                <a:tc>
                  <a:txBody>
                    <a:bodyPr/>
                    <a:lstStyle/>
                    <a:p>
                      <a:r>
                        <a:rPr lang="es-ES" sz="1800" dirty="0" err="1">
                          <a:latin typeface="Calibri" panose="020F0502020204030204" pitchFamily="34" charset="0"/>
                          <a:cs typeface="Calibri" panose="020F0502020204030204" pitchFamily="34" charset="0"/>
                        </a:rPr>
                        <a:t>Cheryl</a:t>
                      </a:r>
                      <a:r>
                        <a:rPr lang="es-ES" sz="1800" dirty="0">
                          <a:latin typeface="Calibri" panose="020F0502020204030204" pitchFamily="34" charset="0"/>
                          <a:cs typeface="Calibri" panose="020F0502020204030204" pitchFamily="34" charset="0"/>
                        </a:rPr>
                        <a:t> Cole</a:t>
                      </a:r>
                    </a:p>
                  </a:txBody>
                  <a:tcPr marT="45725" marB="45725"/>
                </a:tc>
                <a:tc>
                  <a:txBody>
                    <a:bodyPr/>
                    <a:lstStyle/>
                    <a:p>
                      <a:pPr algn="r"/>
                      <a:r>
                        <a:rPr lang="es-ES" sz="1800" dirty="0">
                          <a:latin typeface="Calibri" panose="020F0502020204030204" pitchFamily="34" charset="0"/>
                          <a:cs typeface="Calibri" panose="020F0502020204030204" pitchFamily="34" charset="0"/>
                        </a:rPr>
                        <a:t>50</a:t>
                      </a:r>
                    </a:p>
                  </a:txBody>
                  <a:tcPr marT="45725" marB="45725"/>
                </a:tc>
                <a:tc>
                  <a:txBody>
                    <a:bodyPr/>
                    <a:lstStyle/>
                    <a:p>
                      <a:pPr algn="r"/>
                      <a:r>
                        <a:rPr lang="es-ES" sz="1800" dirty="0">
                          <a:latin typeface="Calibri" panose="020F0502020204030204" pitchFamily="34" charset="0"/>
                          <a:cs typeface="Calibri" panose="020F0502020204030204" pitchFamily="34" charset="0"/>
                        </a:rPr>
                        <a:t>5</a:t>
                      </a:r>
                    </a:p>
                  </a:txBody>
                  <a:tcPr marT="45725" marB="45725"/>
                </a:tc>
                <a:tc>
                  <a:txBody>
                    <a:bodyPr/>
                    <a:lstStyle/>
                    <a:p>
                      <a:r>
                        <a:rPr lang="es-ES" sz="1800" dirty="0">
                          <a:latin typeface="Calibri" panose="020F0502020204030204" pitchFamily="34" charset="0"/>
                          <a:cs typeface="Calibri" panose="020F0502020204030204" pitchFamily="34" charset="0"/>
                        </a:rPr>
                        <a:t>Ciencias</a:t>
                      </a:r>
                    </a:p>
                  </a:txBody>
                  <a:tcPr marT="45725" marB="45725"/>
                </a:tc>
                <a:extLst>
                  <a:ext uri="{0D108BD9-81ED-4DB2-BD59-A6C34878D82A}">
                    <a16:rowId xmlns="" xmlns:a16="http://schemas.microsoft.com/office/drawing/2014/main" val="10005"/>
                  </a:ext>
                </a:extLst>
              </a:tr>
              <a:tr h="378024">
                <a:tc>
                  <a:txBody>
                    <a:bodyPr/>
                    <a:lstStyle/>
                    <a:p>
                      <a:r>
                        <a:rPr lang="es-ES" sz="1800" dirty="0">
                          <a:latin typeface="Calibri" panose="020F0502020204030204" pitchFamily="34" charset="0"/>
                          <a:cs typeface="Calibri" panose="020F0502020204030204" pitchFamily="34" charset="0"/>
                        </a:rPr>
                        <a:t>546897</a:t>
                      </a:r>
                    </a:p>
                  </a:txBody>
                  <a:tcPr marT="45725" marB="45725"/>
                </a:tc>
                <a:tc>
                  <a:txBody>
                    <a:bodyPr/>
                    <a:lstStyle/>
                    <a:p>
                      <a:r>
                        <a:rPr lang="es-ES" sz="1800" dirty="0">
                          <a:latin typeface="Calibri" panose="020F0502020204030204" pitchFamily="34" charset="0"/>
                          <a:cs typeface="Calibri" panose="020F0502020204030204" pitchFamily="34" charset="0"/>
                        </a:rPr>
                        <a:t>Bruno </a:t>
                      </a:r>
                      <a:r>
                        <a:rPr lang="es-ES" sz="1800" dirty="0" err="1">
                          <a:latin typeface="Calibri" panose="020F0502020204030204" pitchFamily="34" charset="0"/>
                          <a:cs typeface="Calibri" panose="020F0502020204030204" pitchFamily="34" charset="0"/>
                        </a:rPr>
                        <a:t>Mars</a:t>
                      </a:r>
                      <a:endParaRPr lang="es-ES" sz="1800" dirty="0">
                        <a:latin typeface="Calibri" panose="020F0502020204030204" pitchFamily="34" charset="0"/>
                        <a:cs typeface="Calibri" panose="020F0502020204030204" pitchFamily="34" charset="0"/>
                      </a:endParaRPr>
                    </a:p>
                  </a:txBody>
                  <a:tcPr marT="45725" marB="45725"/>
                </a:tc>
                <a:tc>
                  <a:txBody>
                    <a:bodyPr/>
                    <a:lstStyle/>
                    <a:p>
                      <a:pPr algn="r"/>
                      <a:r>
                        <a:rPr lang="es-ES" sz="1800" dirty="0">
                          <a:latin typeface="Calibri" panose="020F0502020204030204" pitchFamily="34" charset="0"/>
                          <a:cs typeface="Calibri" panose="020F0502020204030204" pitchFamily="34" charset="0"/>
                        </a:rPr>
                        <a:t>100</a:t>
                      </a:r>
                    </a:p>
                  </a:txBody>
                  <a:tcPr marT="45725" marB="45725"/>
                </a:tc>
                <a:tc>
                  <a:txBody>
                    <a:bodyPr/>
                    <a:lstStyle/>
                    <a:p>
                      <a:pPr algn="r"/>
                      <a:r>
                        <a:rPr lang="es-ES" sz="1800" dirty="0">
                          <a:latin typeface="Calibri" panose="020F0502020204030204" pitchFamily="34" charset="0"/>
                          <a:cs typeface="Calibri" panose="020F0502020204030204" pitchFamily="34" charset="0"/>
                        </a:rPr>
                        <a:t>5</a:t>
                      </a:r>
                    </a:p>
                  </a:txBody>
                  <a:tcPr marT="45725" marB="45725"/>
                </a:tc>
                <a:tc>
                  <a:txBody>
                    <a:bodyPr/>
                    <a:lstStyle/>
                    <a:p>
                      <a:r>
                        <a:rPr lang="es-ES" sz="1800" dirty="0">
                          <a:latin typeface="Calibri" panose="020F0502020204030204" pitchFamily="34" charset="0"/>
                          <a:cs typeface="Calibri" panose="020F0502020204030204" pitchFamily="34" charset="0"/>
                        </a:rPr>
                        <a:t>Artes</a:t>
                      </a:r>
                    </a:p>
                  </a:txBody>
                  <a:tcPr marT="45725" marB="45725"/>
                </a:tc>
                <a:extLst>
                  <a:ext uri="{0D108BD9-81ED-4DB2-BD59-A6C34878D82A}">
                    <a16:rowId xmlns="" xmlns:a16="http://schemas.microsoft.com/office/drawing/2014/main" val="10006"/>
                  </a:ext>
                </a:extLst>
              </a:tr>
              <a:tr h="378024">
                <a:tc>
                  <a:txBody>
                    <a:bodyPr/>
                    <a:lstStyle/>
                    <a:p>
                      <a:r>
                        <a:rPr lang="es-ES" sz="1800" dirty="0">
                          <a:latin typeface="Calibri" panose="020F0502020204030204" pitchFamily="34" charset="0"/>
                          <a:cs typeface="Calibri" panose="020F0502020204030204" pitchFamily="34" charset="0"/>
                        </a:rPr>
                        <a:t>717234</a:t>
                      </a:r>
                    </a:p>
                  </a:txBody>
                  <a:tcPr marT="45725" marB="45725"/>
                </a:tc>
                <a:tc>
                  <a:txBody>
                    <a:bodyPr/>
                    <a:lstStyle/>
                    <a:p>
                      <a:r>
                        <a:rPr lang="es-ES" sz="1800" dirty="0" err="1">
                          <a:latin typeface="Calibri" panose="020F0502020204030204" pitchFamily="34" charset="0"/>
                          <a:cs typeface="Calibri" panose="020F0502020204030204" pitchFamily="34" charset="0"/>
                        </a:rPr>
                        <a:t>Boy</a:t>
                      </a:r>
                      <a:r>
                        <a:rPr lang="es-ES" sz="1800" baseline="0" dirty="0">
                          <a:latin typeface="Calibri" panose="020F0502020204030204" pitchFamily="34" charset="0"/>
                          <a:cs typeface="Calibri" panose="020F0502020204030204" pitchFamily="34" charset="0"/>
                        </a:rPr>
                        <a:t> George</a:t>
                      </a:r>
                      <a:endParaRPr lang="es-ES" sz="1800" dirty="0">
                        <a:latin typeface="Calibri" panose="020F0502020204030204" pitchFamily="34" charset="0"/>
                        <a:cs typeface="Calibri" panose="020F0502020204030204" pitchFamily="34" charset="0"/>
                      </a:endParaRPr>
                    </a:p>
                  </a:txBody>
                  <a:tcPr marT="45725" marB="45725"/>
                </a:tc>
                <a:tc>
                  <a:txBody>
                    <a:bodyPr/>
                    <a:lstStyle/>
                    <a:p>
                      <a:pPr algn="r"/>
                      <a:r>
                        <a:rPr lang="es-ES" sz="1800" dirty="0">
                          <a:latin typeface="Calibri" panose="020F0502020204030204" pitchFamily="34" charset="0"/>
                          <a:cs typeface="Calibri" panose="020F0502020204030204" pitchFamily="34" charset="0"/>
                        </a:rPr>
                        <a:t>50</a:t>
                      </a:r>
                    </a:p>
                  </a:txBody>
                  <a:tcPr marT="45725" marB="45725"/>
                </a:tc>
                <a:tc>
                  <a:txBody>
                    <a:bodyPr/>
                    <a:lstStyle/>
                    <a:p>
                      <a:pPr algn="r"/>
                      <a:r>
                        <a:rPr lang="es-ES" sz="1800" dirty="0">
                          <a:latin typeface="Calibri" panose="020F0502020204030204" pitchFamily="34" charset="0"/>
                          <a:cs typeface="Calibri" panose="020F0502020204030204" pitchFamily="34" charset="0"/>
                        </a:rPr>
                        <a:t>20</a:t>
                      </a:r>
                    </a:p>
                  </a:txBody>
                  <a:tcPr marT="45725" marB="45725"/>
                </a:tc>
                <a:tc>
                  <a:txBody>
                    <a:bodyPr/>
                    <a:lstStyle/>
                    <a:p>
                      <a:r>
                        <a:rPr lang="es-ES" sz="1800" dirty="0">
                          <a:latin typeface="Calibri" panose="020F0502020204030204" pitchFamily="34" charset="0"/>
                          <a:cs typeface="Calibri" panose="020F0502020204030204" pitchFamily="34" charset="0"/>
                        </a:rPr>
                        <a:t>Artes</a:t>
                      </a:r>
                    </a:p>
                  </a:txBody>
                  <a:tcPr marT="45725" marB="45725"/>
                </a:tc>
                <a:extLst>
                  <a:ext uri="{0D108BD9-81ED-4DB2-BD59-A6C34878D82A}">
                    <a16:rowId xmlns="" xmlns:a16="http://schemas.microsoft.com/office/drawing/2014/main" val="10007"/>
                  </a:ext>
                </a:extLst>
              </a:tr>
            </a:tbl>
          </a:graphicData>
        </a:graphic>
      </p:graphicFrame>
      <p:sp>
        <p:nvSpPr>
          <p:cNvPr id="10300" name="CuadroTexto 8">
            <a:extLst>
              <a:ext uri="{FF2B5EF4-FFF2-40B4-BE49-F238E27FC236}">
                <a16:creationId xmlns="" xmlns:a16="http://schemas.microsoft.com/office/drawing/2014/main" id="{4FD80E11-39D1-458B-AFF6-E23025494C17}"/>
              </a:ext>
            </a:extLst>
          </p:cNvPr>
          <p:cNvSpPr txBox="1">
            <a:spLocks noChangeArrowheads="1"/>
          </p:cNvSpPr>
          <p:nvPr/>
        </p:nvSpPr>
        <p:spPr bwMode="auto">
          <a:xfrm>
            <a:off x="458788" y="1831377"/>
            <a:ext cx="647303" cy="40011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000" dirty="0">
                <a:solidFill>
                  <a:schemeClr val="tx1">
                    <a:lumMod val="95000"/>
                    <a:lumOff val="5000"/>
                  </a:schemeClr>
                </a:solidFill>
                <a:latin typeface="Calibri" panose="020F0502020204030204" pitchFamily="34" charset="0"/>
                <a:cs typeface="Calibri" panose="020F0502020204030204" pitchFamily="34" charset="0"/>
              </a:rPr>
              <a:t>BD</a:t>
            </a:r>
          </a:p>
        </p:txBody>
      </p:sp>
      <p:sp>
        <p:nvSpPr>
          <p:cNvPr id="10301" name="CuadroTexto 9">
            <a:extLst>
              <a:ext uri="{FF2B5EF4-FFF2-40B4-BE49-F238E27FC236}">
                <a16:creationId xmlns="" xmlns:a16="http://schemas.microsoft.com/office/drawing/2014/main" id="{A8C437EF-0104-4116-B078-DE3812F8D4A2}"/>
              </a:ext>
            </a:extLst>
          </p:cNvPr>
          <p:cNvSpPr txBox="1">
            <a:spLocks noChangeArrowheads="1"/>
          </p:cNvSpPr>
          <p:nvPr/>
        </p:nvSpPr>
        <p:spPr bwMode="auto">
          <a:xfrm>
            <a:off x="458788" y="4652963"/>
            <a:ext cx="1520825" cy="707886"/>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000" dirty="0">
                <a:solidFill>
                  <a:schemeClr val="tx1">
                    <a:lumMod val="95000"/>
                    <a:lumOff val="5000"/>
                  </a:schemeClr>
                </a:solidFill>
                <a:latin typeface="Calibri" panose="020F0502020204030204" pitchFamily="34" charset="0"/>
                <a:cs typeface="Calibri" panose="020F0502020204030204" pitchFamily="34" charset="0"/>
              </a:rPr>
              <a:t>Visión de un usuario</a:t>
            </a:r>
          </a:p>
        </p:txBody>
      </p:sp>
      <p:graphicFrame>
        <p:nvGraphicFramePr>
          <p:cNvPr id="11" name="Tabla 10">
            <a:extLst>
              <a:ext uri="{FF2B5EF4-FFF2-40B4-BE49-F238E27FC236}">
                <a16:creationId xmlns="" xmlns:a16="http://schemas.microsoft.com/office/drawing/2014/main" id="{5830BC88-6BB1-433A-8C57-B4064CF0B9AC}"/>
              </a:ext>
            </a:extLst>
          </p:cNvPr>
          <p:cNvGraphicFramePr>
            <a:graphicFrameLocks noGrp="1"/>
          </p:cNvGraphicFramePr>
          <p:nvPr/>
        </p:nvGraphicFramePr>
        <p:xfrm>
          <a:off x="3097213" y="4329113"/>
          <a:ext cx="3048000" cy="1477962"/>
        </p:xfrm>
        <a:graphic>
          <a:graphicData uri="http://schemas.openxmlformats.org/drawingml/2006/table">
            <a:tbl>
              <a:tblPr firstRow="1" bandRow="1">
                <a:tableStyleId>{5C22544A-7EE6-4342-B048-85BDC9FD1C3A}</a:tableStyleId>
              </a:tblPr>
              <a:tblGrid>
                <a:gridCol w="1524000">
                  <a:extLst>
                    <a:ext uri="{9D8B030D-6E8A-4147-A177-3AD203B41FA5}">
                      <a16:colId xmlns="" xmlns:a16="http://schemas.microsoft.com/office/drawing/2014/main" val="20000"/>
                    </a:ext>
                  </a:extLst>
                </a:gridCol>
                <a:gridCol w="1524000">
                  <a:extLst>
                    <a:ext uri="{9D8B030D-6E8A-4147-A177-3AD203B41FA5}">
                      <a16:colId xmlns="" xmlns:a16="http://schemas.microsoft.com/office/drawing/2014/main" val="20001"/>
                    </a:ext>
                  </a:extLst>
                </a:gridCol>
              </a:tblGrid>
              <a:tr h="365735">
                <a:tc>
                  <a:txBody>
                    <a:bodyPr/>
                    <a:lstStyle/>
                    <a:p>
                      <a:pPr algn="ctr"/>
                      <a:r>
                        <a:rPr lang="es-ES" sz="1800" dirty="0">
                          <a:solidFill>
                            <a:srgbClr val="FF0000"/>
                          </a:solidFill>
                        </a:rPr>
                        <a:t>Total</a:t>
                      </a:r>
                    </a:p>
                  </a:txBody>
                  <a:tcPr marT="45708" marB="45708">
                    <a:solidFill>
                      <a:srgbClr val="FFFF00"/>
                    </a:solidFill>
                  </a:tcPr>
                </a:tc>
                <a:tc>
                  <a:txBody>
                    <a:bodyPr/>
                    <a:lstStyle/>
                    <a:p>
                      <a:pPr algn="ctr"/>
                      <a:r>
                        <a:rPr lang="es-ES" sz="1800" dirty="0" err="1">
                          <a:solidFill>
                            <a:srgbClr val="FF0000"/>
                          </a:solidFill>
                        </a:rPr>
                        <a:t>Dpto</a:t>
                      </a:r>
                      <a:endParaRPr lang="es-ES" sz="1800" dirty="0">
                        <a:solidFill>
                          <a:srgbClr val="FF0000"/>
                        </a:solidFill>
                      </a:endParaRPr>
                    </a:p>
                  </a:txBody>
                  <a:tcPr marT="45708" marB="45708">
                    <a:solidFill>
                      <a:srgbClr val="FFFF00"/>
                    </a:solidFill>
                  </a:tcPr>
                </a:tc>
                <a:extLst>
                  <a:ext uri="{0D108BD9-81ED-4DB2-BD59-A6C34878D82A}">
                    <a16:rowId xmlns="" xmlns:a16="http://schemas.microsoft.com/office/drawing/2014/main" val="10000"/>
                  </a:ext>
                </a:extLst>
              </a:tr>
              <a:tr h="370742">
                <a:tc>
                  <a:txBody>
                    <a:bodyPr/>
                    <a:lstStyle/>
                    <a:p>
                      <a:pPr algn="r"/>
                      <a:r>
                        <a:rPr lang="es-ES" sz="1800" dirty="0"/>
                        <a:t>220</a:t>
                      </a:r>
                    </a:p>
                  </a:txBody>
                  <a:tcPr marT="45708" marB="45708">
                    <a:solidFill>
                      <a:srgbClr val="FFFF00"/>
                    </a:solidFill>
                  </a:tcPr>
                </a:tc>
                <a:tc>
                  <a:txBody>
                    <a:bodyPr/>
                    <a:lstStyle/>
                    <a:p>
                      <a:r>
                        <a:rPr lang="es-ES" sz="1800" dirty="0"/>
                        <a:t>Ciencias</a:t>
                      </a:r>
                    </a:p>
                  </a:txBody>
                  <a:tcPr marT="45708" marB="45708">
                    <a:solidFill>
                      <a:srgbClr val="FFFF00"/>
                    </a:solidFill>
                  </a:tcPr>
                </a:tc>
                <a:extLst>
                  <a:ext uri="{0D108BD9-81ED-4DB2-BD59-A6C34878D82A}">
                    <a16:rowId xmlns="" xmlns:a16="http://schemas.microsoft.com/office/drawing/2014/main" val="10001"/>
                  </a:ext>
                </a:extLst>
              </a:tr>
              <a:tr h="370742">
                <a:tc>
                  <a:txBody>
                    <a:bodyPr/>
                    <a:lstStyle/>
                    <a:p>
                      <a:pPr algn="r"/>
                      <a:r>
                        <a:rPr lang="es-ES" sz="1800" dirty="0"/>
                        <a:t>315</a:t>
                      </a:r>
                    </a:p>
                  </a:txBody>
                  <a:tcPr marT="45708" marB="45708">
                    <a:solidFill>
                      <a:srgbClr val="FFFF00"/>
                    </a:solidFill>
                  </a:tcPr>
                </a:tc>
                <a:tc>
                  <a:txBody>
                    <a:bodyPr/>
                    <a:lstStyle/>
                    <a:p>
                      <a:r>
                        <a:rPr lang="es-ES" sz="1800" dirty="0"/>
                        <a:t>Medicina</a:t>
                      </a:r>
                    </a:p>
                  </a:txBody>
                  <a:tcPr marT="45708" marB="45708">
                    <a:solidFill>
                      <a:srgbClr val="FFFF00"/>
                    </a:solidFill>
                  </a:tcPr>
                </a:tc>
                <a:extLst>
                  <a:ext uri="{0D108BD9-81ED-4DB2-BD59-A6C34878D82A}">
                    <a16:rowId xmlns="" xmlns:a16="http://schemas.microsoft.com/office/drawing/2014/main" val="10002"/>
                  </a:ext>
                </a:extLst>
              </a:tr>
              <a:tr h="370742">
                <a:tc>
                  <a:txBody>
                    <a:bodyPr/>
                    <a:lstStyle/>
                    <a:p>
                      <a:pPr algn="r"/>
                      <a:r>
                        <a:rPr lang="es-ES" sz="1800" dirty="0"/>
                        <a:t>175</a:t>
                      </a:r>
                    </a:p>
                  </a:txBody>
                  <a:tcPr marT="45708" marB="45708">
                    <a:solidFill>
                      <a:srgbClr val="FFFF00"/>
                    </a:solidFill>
                  </a:tcPr>
                </a:tc>
                <a:tc>
                  <a:txBody>
                    <a:bodyPr/>
                    <a:lstStyle/>
                    <a:p>
                      <a:r>
                        <a:rPr lang="es-ES" sz="1800" dirty="0"/>
                        <a:t>Artes</a:t>
                      </a:r>
                    </a:p>
                  </a:txBody>
                  <a:tcPr marT="45708" marB="45708">
                    <a:solidFill>
                      <a:srgbClr val="FFFF00"/>
                    </a:solidFill>
                  </a:tcPr>
                </a:tc>
                <a:extLst>
                  <a:ext uri="{0D108BD9-81ED-4DB2-BD59-A6C34878D82A}">
                    <a16:rowId xmlns="" xmlns:a16="http://schemas.microsoft.com/office/drawing/2014/main" val="10003"/>
                  </a:ext>
                </a:extLst>
              </a:tr>
            </a:tbl>
          </a:graphicData>
        </a:graphic>
      </p:graphicFrame>
      <p:sp>
        <p:nvSpPr>
          <p:cNvPr id="10319" name="Flecha abajo 11">
            <a:extLst>
              <a:ext uri="{FF2B5EF4-FFF2-40B4-BE49-F238E27FC236}">
                <a16:creationId xmlns="" xmlns:a16="http://schemas.microsoft.com/office/drawing/2014/main" id="{C29ED9B1-8B29-4A3A-ADD2-54E258367D2E}"/>
              </a:ext>
            </a:extLst>
          </p:cNvPr>
          <p:cNvSpPr>
            <a:spLocks noChangeArrowheads="1"/>
          </p:cNvSpPr>
          <p:nvPr/>
        </p:nvSpPr>
        <p:spPr bwMode="auto">
          <a:xfrm>
            <a:off x="4338451" y="3756679"/>
            <a:ext cx="515937" cy="506039"/>
          </a:xfrm>
          <a:prstGeom prst="downArrow">
            <a:avLst>
              <a:gd name="adj1" fmla="val 50000"/>
              <a:gd name="adj2" fmla="val 50138"/>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s-ES" altLang="es-ES" sz="2400"/>
          </a:p>
        </p:txBody>
      </p:sp>
      <p:sp>
        <p:nvSpPr>
          <p:cNvPr id="10320" name="CuadroTexto 9">
            <a:extLst>
              <a:ext uri="{FF2B5EF4-FFF2-40B4-BE49-F238E27FC236}">
                <a16:creationId xmlns="" xmlns:a16="http://schemas.microsoft.com/office/drawing/2014/main" id="{06061949-7EFD-4AE6-B35C-3F7B4202632E}"/>
              </a:ext>
            </a:extLst>
          </p:cNvPr>
          <p:cNvSpPr txBox="1">
            <a:spLocks noChangeArrowheads="1"/>
          </p:cNvSpPr>
          <p:nvPr/>
        </p:nvSpPr>
        <p:spPr bwMode="auto">
          <a:xfrm>
            <a:off x="714375" y="5665788"/>
            <a:ext cx="2303463"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000"/>
              <a:t>Salario + Comisión</a:t>
            </a:r>
          </a:p>
        </p:txBody>
      </p:sp>
      <p:cxnSp>
        <p:nvCxnSpPr>
          <p:cNvPr id="10321" name="Conector recto de flecha 2">
            <a:extLst>
              <a:ext uri="{FF2B5EF4-FFF2-40B4-BE49-F238E27FC236}">
                <a16:creationId xmlns="" xmlns:a16="http://schemas.microsoft.com/office/drawing/2014/main" id="{6BA59A3E-8ECB-4365-9EF6-4991038BC459}"/>
              </a:ext>
            </a:extLst>
          </p:cNvPr>
          <p:cNvCxnSpPr>
            <a:cxnSpLocks noChangeShapeType="1"/>
            <a:endCxn id="10320" idx="0"/>
          </p:cNvCxnSpPr>
          <p:nvPr/>
        </p:nvCxnSpPr>
        <p:spPr bwMode="auto">
          <a:xfrm flipH="1">
            <a:off x="1866107" y="4581128"/>
            <a:ext cx="1231106" cy="108466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22" name="CuadroTexto 1">
            <a:extLst>
              <a:ext uri="{FF2B5EF4-FFF2-40B4-BE49-F238E27FC236}">
                <a16:creationId xmlns="" xmlns:a16="http://schemas.microsoft.com/office/drawing/2014/main" id="{58A343E8-ADCB-449D-96C6-1FBD8EE0DCE9}"/>
              </a:ext>
            </a:extLst>
          </p:cNvPr>
          <p:cNvSpPr txBox="1">
            <a:spLocks noChangeArrowheads="1"/>
          </p:cNvSpPr>
          <p:nvPr/>
        </p:nvSpPr>
        <p:spPr bwMode="auto">
          <a:xfrm>
            <a:off x="6524625" y="4816475"/>
            <a:ext cx="2016125" cy="70788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ES" altLang="es-ES" sz="2000" dirty="0">
                <a:latin typeface="Calibri" panose="020F0502020204030204" pitchFamily="34" charset="0"/>
                <a:cs typeface="Calibri" panose="020F0502020204030204" pitchFamily="34" charset="0"/>
              </a:rPr>
              <a:t>Total sueldo por </a:t>
            </a:r>
            <a:r>
              <a:rPr lang="es-ES" altLang="es-ES" sz="2000" dirty="0" err="1">
                <a:latin typeface="Calibri" panose="020F0502020204030204" pitchFamily="34" charset="0"/>
                <a:cs typeface="Calibri" panose="020F0502020204030204" pitchFamily="34" charset="0"/>
              </a:rPr>
              <a:t>Dpto</a:t>
            </a:r>
            <a:endParaRPr lang="es-ES" altLang="es-E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6043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319"/>
                                        </p:tgtEl>
                                        <p:attrNameLst>
                                          <p:attrName>style.visibility</p:attrName>
                                        </p:attrNameLst>
                                      </p:cBhvr>
                                      <p:to>
                                        <p:strVal val="visible"/>
                                      </p:to>
                                    </p:set>
                                    <p:animEffect transition="in" filter="wipe(down)">
                                      <p:cBhvr>
                                        <p:cTn id="7" dur="500"/>
                                        <p:tgtEl>
                                          <p:spTgt spid="10319"/>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321"/>
                                        </p:tgtEl>
                                        <p:attrNameLst>
                                          <p:attrName>style.visibility</p:attrName>
                                        </p:attrNameLst>
                                      </p:cBhvr>
                                      <p:to>
                                        <p:strVal val="visible"/>
                                      </p:to>
                                    </p:set>
                                    <p:animEffect transition="in" filter="fade">
                                      <p:cBhvr>
                                        <p:cTn id="15" dur="500"/>
                                        <p:tgtEl>
                                          <p:spTgt spid="103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320"/>
                                        </p:tgtEl>
                                        <p:attrNameLst>
                                          <p:attrName>style.visibility</p:attrName>
                                        </p:attrNameLst>
                                      </p:cBhvr>
                                      <p:to>
                                        <p:strVal val="visible"/>
                                      </p:to>
                                    </p:set>
                                    <p:animEffect transition="in" filter="fade">
                                      <p:cBhvr>
                                        <p:cTn id="18" dur="500"/>
                                        <p:tgtEl>
                                          <p:spTgt spid="103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301"/>
                                        </p:tgtEl>
                                        <p:attrNameLst>
                                          <p:attrName>style.visibility</p:attrName>
                                        </p:attrNameLst>
                                      </p:cBhvr>
                                      <p:to>
                                        <p:strVal val="visible"/>
                                      </p:to>
                                    </p:set>
                                    <p:animEffect transition="in" filter="fade">
                                      <p:cBhvr>
                                        <p:cTn id="21" dur="500"/>
                                        <p:tgtEl>
                                          <p:spTgt spid="1030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322"/>
                                        </p:tgtEl>
                                        <p:attrNameLst>
                                          <p:attrName>style.visibility</p:attrName>
                                        </p:attrNameLst>
                                      </p:cBhvr>
                                      <p:to>
                                        <p:strVal val="visible"/>
                                      </p:to>
                                    </p:set>
                                    <p:animEffect transition="in" filter="fade">
                                      <p:cBhvr>
                                        <p:cTn id="26" dur="500"/>
                                        <p:tgtEl>
                                          <p:spTgt spid="10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1" grpId="0" animBg="1"/>
      <p:bldP spid="10319" grpId="0" animBg="1"/>
      <p:bldP spid="10320" grpId="0"/>
      <p:bldP spid="103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537882" y="2895599"/>
            <a:ext cx="3428064"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latin typeface="Calibri" panose="020F0502020204030204" pitchFamily="34" charset="0"/>
                <a:cs typeface="Calibri" panose="020F0502020204030204" pitchFamily="34" charset="0"/>
              </a:rPr>
              <a:t>Nivel Conceptual</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855347"/>
            <a:ext cx="3303006" cy="3147306"/>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700" dirty="0"/>
              <a:t>Nivel mediador entre los otros dos niveles</a:t>
            </a:r>
          </a:p>
          <a:p>
            <a:r>
              <a:rPr lang="es-MX" altLang="es-ES" sz="1700" dirty="0">
                <a:latin typeface="Calibri" panose="020F0502020204030204" pitchFamily="34" charset="0"/>
                <a:cs typeface="Calibri" panose="020F0502020204030204" pitchFamily="34" charset="0"/>
              </a:rPr>
              <a:t>Interesante</a:t>
            </a:r>
            <a:r>
              <a:rPr lang="es-MX" altLang="es-ES" sz="1700" dirty="0"/>
              <a:t> para el usuario especialista</a:t>
            </a:r>
          </a:p>
          <a:p>
            <a:r>
              <a:rPr lang="es-MX" altLang="es-ES" sz="1700" dirty="0"/>
              <a:t>Se ocupa de los datos almacenados en la BD física y las relaciones entre ellos</a:t>
            </a:r>
          </a:p>
          <a:p>
            <a:r>
              <a:rPr lang="es-MX" altLang="es-ES" sz="1700" dirty="0"/>
              <a:t>Descripción semántica de los datos que conforman la BD</a:t>
            </a:r>
          </a:p>
          <a:p>
            <a:r>
              <a:rPr lang="es-MX" altLang="es-ES" sz="1700" dirty="0"/>
              <a:t>Soporta a cada visión de usuario externa</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892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537882" y="2895599"/>
            <a:ext cx="3428064"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latin typeface="Calibri" panose="020F0502020204030204" pitchFamily="34" charset="0"/>
                <a:cs typeface="Calibri" panose="020F0502020204030204" pitchFamily="34" charset="0"/>
              </a:rPr>
              <a:t>Nivel Conceptual</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855347"/>
            <a:ext cx="3303006" cy="3147306"/>
          </a:xfrm>
          <a:prstGeom prst="rect">
            <a:avLst/>
          </a:prstGeom>
        </p:spPr>
        <p:txBody>
          <a:bodyPr anchor="ct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700" dirty="0"/>
              <a:t>Es una visión completa de todos los requisitos y elementos de  interés para  la organización</a:t>
            </a:r>
          </a:p>
          <a:p>
            <a:r>
              <a:rPr lang="es-MX" altLang="es-ES" sz="1700" dirty="0"/>
              <a:t>Incluye restricciones sobre los datos</a:t>
            </a:r>
          </a:p>
          <a:p>
            <a:r>
              <a:rPr lang="es-MX" altLang="es-ES" sz="1700" dirty="0"/>
              <a:t>La descripción del nivel conceptual no debe tener </a:t>
            </a:r>
          </a:p>
          <a:p>
            <a:r>
              <a:rPr lang="es-MX" altLang="es-ES" sz="1700" dirty="0"/>
              <a:t>	detalles dependientes del almacenamiento</a:t>
            </a:r>
          </a:p>
          <a:p>
            <a:r>
              <a:rPr lang="es-MX" altLang="es-ES" sz="1700" dirty="0"/>
              <a:t>Es un lenguaje de muy alto nivel</a:t>
            </a:r>
          </a:p>
          <a:p>
            <a:r>
              <a:rPr lang="es-MX" altLang="es-ES" sz="1700" dirty="0"/>
              <a:t>El nivel lógico es un refinamiento (ofrece más detalles) que el modelo conceptual </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239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537882" y="2895599"/>
            <a:ext cx="3428064"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Nivel</a:t>
            </a:r>
          </a:p>
          <a:p>
            <a:r>
              <a:rPr lang="es-ES_tradnl" altLang="es-ES" sz="4000" dirty="0" smtClean="0"/>
              <a:t>Físico</a:t>
            </a:r>
            <a:endParaRPr lang="es-ES_tradnl" altLang="es-ES" sz="4000" dirty="0"/>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700" dirty="0"/>
              <a:t>Interno</a:t>
            </a:r>
          </a:p>
          <a:p>
            <a:r>
              <a:rPr lang="es-MX" altLang="es-ES" sz="1700" dirty="0"/>
              <a:t>Más cercano a la máquina</a:t>
            </a:r>
          </a:p>
          <a:p>
            <a:r>
              <a:rPr lang="es-MX" altLang="es-ES" sz="1700" dirty="0"/>
              <a:t>Interesa al usuario administrador y al especialista</a:t>
            </a:r>
          </a:p>
          <a:p>
            <a:r>
              <a:rPr lang="es-MX" altLang="es-ES" sz="1700" dirty="0"/>
              <a:t>Esquema físico: Descripción y tipos de datos (tamaño y precisión), tipos de índices y de estructuras de almacenamiento usadas, de acuerdo con un SGBD particular		</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800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537882" y="2895599"/>
            <a:ext cx="3428064"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Nivel</a:t>
            </a:r>
          </a:p>
          <a:p>
            <a:r>
              <a:rPr lang="es-ES_tradnl" altLang="es-ES" sz="4000" dirty="0"/>
              <a:t>Físico</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700" dirty="0"/>
              <a:t>Describe cómo se almacenan los datos en términos de estructuras de datos específicas</a:t>
            </a:r>
          </a:p>
          <a:p>
            <a:r>
              <a:rPr lang="es-MX" altLang="es-ES" sz="1700" dirty="0"/>
              <a:t>Se encarga de: </a:t>
            </a:r>
          </a:p>
          <a:p>
            <a:r>
              <a:rPr lang="es-MX" altLang="es-ES" sz="1700" dirty="0"/>
              <a:t>Reservar espacio para los datos e índices</a:t>
            </a:r>
          </a:p>
          <a:p>
            <a:pPr lvl="1"/>
            <a:r>
              <a:rPr lang="es-MX" altLang="es-ES" sz="1700" dirty="0"/>
              <a:t>Comprimir los datos</a:t>
            </a:r>
          </a:p>
          <a:p>
            <a:pPr lvl="1"/>
            <a:r>
              <a:rPr lang="es-MX" altLang="es-ES" sz="1700" dirty="0"/>
              <a:t>Encriptar los datos</a:t>
            </a:r>
          </a:p>
          <a:p>
            <a:pPr marL="0" indent="0">
              <a:buNone/>
            </a:pPr>
            <a:r>
              <a:rPr lang="es-MX" altLang="es-ES" sz="1700" dirty="0"/>
              <a:t>		</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7020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Independencia de los datos</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s-ES_tradnl" sz="1800" dirty="0"/>
              <a:t>Es uno de los objetivos de la arquitectura ANSI/SPARC</a:t>
            </a:r>
          </a:p>
          <a:p>
            <a:pPr>
              <a:defRPr/>
            </a:pPr>
            <a:r>
              <a:rPr lang="es-ES_tradnl" sz="1800" dirty="0"/>
              <a:t>Permite modificar la definición de un nivel sin afectar (en lo posible) el nivel inmediatamente superior</a:t>
            </a:r>
          </a:p>
          <a:p>
            <a:pPr>
              <a:defRPr/>
            </a:pPr>
            <a:r>
              <a:rPr lang="en-US" sz="1800" b="1" dirty="0">
                <a:effectLst>
                  <a:outerShdw blurRad="38100" dist="38100" dir="2700000" algn="tl">
                    <a:srgbClr val="C0C0C0"/>
                  </a:outerShdw>
                </a:effectLst>
              </a:rPr>
              <a:t>Sin </a:t>
            </a:r>
            <a:r>
              <a:rPr lang="en-US" sz="1800" b="1" dirty="0" err="1">
                <a:effectLst>
                  <a:outerShdw blurRad="38100" dist="38100" dir="2700000" algn="tl">
                    <a:srgbClr val="C0C0C0"/>
                  </a:outerShdw>
                </a:effectLst>
              </a:rPr>
              <a:t>independencia</a:t>
            </a:r>
            <a:r>
              <a:rPr lang="en-US" sz="1800" b="1" dirty="0">
                <a:effectLst>
                  <a:outerShdw blurRad="38100" dist="38100" dir="2700000" algn="tl">
                    <a:srgbClr val="C0C0C0"/>
                  </a:outerShdw>
                </a:effectLst>
              </a:rPr>
              <a:t> de </a:t>
            </a:r>
            <a:r>
              <a:rPr lang="en-US" sz="1800" b="1" dirty="0" err="1">
                <a:effectLst>
                  <a:outerShdw blurRad="38100" dist="38100" dir="2700000" algn="tl">
                    <a:srgbClr val="C0C0C0"/>
                  </a:outerShdw>
                </a:effectLst>
              </a:rPr>
              <a:t>datos</a:t>
            </a:r>
            <a:r>
              <a:rPr lang="en-US" sz="1800" b="1" dirty="0">
                <a:effectLst>
                  <a:outerShdw blurRad="38100" dist="38100" dir="2700000" algn="tl">
                    <a:srgbClr val="C0C0C0"/>
                  </a:outerShdw>
                </a:effectLst>
              </a:rPr>
              <a:t> se </a:t>
            </a:r>
            <a:r>
              <a:rPr lang="en-US" sz="1800" b="1" dirty="0" err="1">
                <a:effectLst>
                  <a:outerShdw blurRad="38100" dist="38100" dir="2700000" algn="tl">
                    <a:srgbClr val="C0C0C0"/>
                  </a:outerShdw>
                </a:effectLst>
              </a:rPr>
              <a:t>requeriría</a:t>
            </a:r>
            <a:r>
              <a:rPr lang="en-US" sz="1800" b="1" dirty="0">
                <a:effectLst>
                  <a:outerShdw blurRad="38100" dist="38100" dir="2700000" algn="tl">
                    <a:srgbClr val="C0C0C0"/>
                  </a:outerShdw>
                </a:effectLst>
              </a:rPr>
              <a:t> </a:t>
            </a:r>
            <a:r>
              <a:rPr lang="en-US" sz="1800" b="1" dirty="0" err="1">
                <a:effectLst>
                  <a:outerShdw blurRad="38100" dist="38100" dir="2700000" algn="tl">
                    <a:srgbClr val="C0C0C0"/>
                  </a:outerShdw>
                </a:effectLst>
              </a:rPr>
              <a:t>mucho</a:t>
            </a:r>
            <a:r>
              <a:rPr lang="en-US" sz="1800" b="1" dirty="0">
                <a:effectLst>
                  <a:outerShdw blurRad="38100" dist="38100" dir="2700000" algn="tl">
                    <a:srgbClr val="C0C0C0"/>
                  </a:outerShdw>
                </a:effectLst>
              </a:rPr>
              <a:t> </a:t>
            </a:r>
            <a:r>
              <a:rPr lang="en-US" sz="1800" b="1" dirty="0" err="1">
                <a:effectLst>
                  <a:outerShdw blurRad="38100" dist="38100" dir="2700000" algn="tl">
                    <a:srgbClr val="C0C0C0"/>
                  </a:outerShdw>
                </a:effectLst>
              </a:rPr>
              <a:t>esfuerzo</a:t>
            </a:r>
            <a:r>
              <a:rPr lang="en-US" sz="1800" b="1" dirty="0">
                <a:effectLst>
                  <a:outerShdw blurRad="38100" dist="38100" dir="2700000" algn="tl">
                    <a:srgbClr val="C0C0C0"/>
                  </a:outerShdw>
                </a:effectLst>
              </a:rPr>
              <a:t> para </a:t>
            </a:r>
            <a:r>
              <a:rPr lang="en-US" sz="1800" b="1" dirty="0" err="1">
                <a:effectLst>
                  <a:outerShdw blurRad="38100" dist="38100" dir="2700000" algn="tl">
                    <a:srgbClr val="C0C0C0"/>
                  </a:outerShdw>
                </a:effectLst>
              </a:rPr>
              <a:t>cambiar</a:t>
            </a:r>
            <a:r>
              <a:rPr lang="en-US" sz="1800" b="1" dirty="0">
                <a:effectLst>
                  <a:outerShdw blurRad="38100" dist="38100" dir="2700000" algn="tl">
                    <a:srgbClr val="C0C0C0"/>
                  </a:outerShdw>
                </a:effectLst>
              </a:rPr>
              <a:t> las </a:t>
            </a:r>
            <a:r>
              <a:rPr lang="en-US" sz="1800" b="1" dirty="0" err="1">
                <a:effectLst>
                  <a:outerShdw blurRad="38100" dist="38100" dir="2700000" algn="tl">
                    <a:srgbClr val="C0C0C0"/>
                  </a:outerShdw>
                </a:effectLst>
              </a:rPr>
              <a:t>aplicaciones</a:t>
            </a:r>
            <a:r>
              <a:rPr lang="en-US" sz="1800" b="1" dirty="0">
                <a:effectLst>
                  <a:outerShdw blurRad="38100" dist="38100" dir="2700000" algn="tl">
                    <a:srgbClr val="C0C0C0"/>
                  </a:outerShdw>
                </a:effectLst>
              </a:rPr>
              <a:t> de </a:t>
            </a:r>
            <a:r>
              <a:rPr lang="en-US" sz="1800" b="1" dirty="0" err="1">
                <a:effectLst>
                  <a:outerShdw blurRad="38100" dist="38100" dir="2700000" algn="tl">
                    <a:srgbClr val="C0C0C0"/>
                  </a:outerShdw>
                </a:effectLst>
              </a:rPr>
              <a:t>tal</a:t>
            </a:r>
            <a:r>
              <a:rPr lang="en-US" sz="1800" b="1" dirty="0">
                <a:effectLst>
                  <a:outerShdw blurRad="38100" dist="38100" dir="2700000" algn="tl">
                    <a:srgbClr val="C0C0C0"/>
                  </a:outerShdw>
                </a:effectLst>
              </a:rPr>
              <a:t> forma que se </a:t>
            </a:r>
            <a:r>
              <a:rPr lang="en-US" sz="1800" b="1" dirty="0" err="1">
                <a:effectLst>
                  <a:outerShdw blurRad="38100" dist="38100" dir="2700000" algn="tl">
                    <a:srgbClr val="C0C0C0"/>
                  </a:outerShdw>
                </a:effectLst>
              </a:rPr>
              <a:t>adapten</a:t>
            </a:r>
            <a:r>
              <a:rPr lang="en-US" sz="1800" b="1" dirty="0">
                <a:effectLst>
                  <a:outerShdw blurRad="38100" dist="38100" dir="2700000" algn="tl">
                    <a:srgbClr val="C0C0C0"/>
                  </a:outerShdw>
                </a:effectLst>
              </a:rPr>
              <a:t> al nuevo </a:t>
            </a:r>
            <a:r>
              <a:rPr lang="en-US" sz="1800" b="1" dirty="0" err="1">
                <a:effectLst>
                  <a:outerShdw blurRad="38100" dist="38100" dir="2700000" algn="tl">
                    <a:srgbClr val="C0C0C0"/>
                  </a:outerShdw>
                </a:effectLst>
              </a:rPr>
              <a:t>esquema</a:t>
            </a:r>
            <a:r>
              <a:rPr lang="en-US" sz="1800" b="1" dirty="0">
                <a:effectLst>
                  <a:outerShdw blurRad="38100" dist="38100" dir="2700000" algn="tl">
                    <a:srgbClr val="C0C0C0"/>
                  </a:outerShdw>
                </a:effectLst>
              </a:rPr>
              <a:t> de la BD</a:t>
            </a:r>
            <a:r>
              <a:rPr lang="en-US" sz="1800" b="1" dirty="0"/>
              <a:t>.</a:t>
            </a:r>
          </a:p>
          <a:p>
            <a:pPr>
              <a:defRPr/>
            </a:pPr>
            <a:r>
              <a:rPr lang="es-ES_tradnl" sz="1800" dirty="0"/>
              <a:t>Hay dos tipos: física y lógica</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652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Independencia física</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altLang="es-ES" sz="1800" dirty="0"/>
              <a:t>Se presenta entre el nivel conceptual y el nivel físico</a:t>
            </a:r>
          </a:p>
          <a:p>
            <a:r>
              <a:rPr lang="es-ES_tradnl" altLang="es-ES" sz="1800" dirty="0"/>
              <a:t>Un cambio en el esquema físico (</a:t>
            </a:r>
            <a:r>
              <a:rPr lang="es-ES_tradnl" altLang="es-ES" sz="1800" dirty="0" err="1"/>
              <a:t>e.g</a:t>
            </a:r>
            <a:r>
              <a:rPr lang="es-ES_tradnl" altLang="es-ES" sz="1800" dirty="0"/>
              <a:t>., usar otras estructuras de almacenamiento) no conduce a cambios en el esquema conceptual</a:t>
            </a:r>
          </a:p>
          <a:p>
            <a:pPr>
              <a:buFontTx/>
              <a:buNone/>
            </a:pPr>
            <a:r>
              <a:rPr lang="es-ES_tradnl" altLang="es-ES" sz="1800" dirty="0"/>
              <a:t>	Ej. Cambiar el tipo de índice de un atributo: </a:t>
            </a:r>
            <a:r>
              <a:rPr lang="es-ES_tradnl" altLang="es-ES" sz="1800" i="1" dirty="0"/>
              <a:t>B+</a:t>
            </a:r>
            <a:r>
              <a:rPr lang="es-ES_tradnl" altLang="es-ES" sz="1800" dirty="0"/>
              <a:t> por </a:t>
            </a:r>
            <a:r>
              <a:rPr lang="es-ES_tradnl" altLang="es-ES" sz="1800" i="1" dirty="0"/>
              <a:t>hash</a:t>
            </a:r>
            <a:r>
              <a:rPr lang="es-ES_tradnl" altLang="es-ES" sz="1800" dirty="0"/>
              <a:t>, ¿con qué propósito se hace este tipo de cambios?</a:t>
            </a:r>
          </a:p>
          <a:p>
            <a:r>
              <a:rPr lang="es-ES_tradnl" altLang="es-ES" sz="1800" b="1" dirty="0"/>
              <a:t>Inmunidad</a:t>
            </a:r>
            <a:r>
              <a:rPr lang="es-ES_tradnl" altLang="es-ES" sz="1800" dirty="0"/>
              <a:t> del esquema conceptual ante cambios del esquema físico                                         </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515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Independencia</a:t>
            </a:r>
            <a:r>
              <a:rPr lang="es-ES_tradnl" altLang="es-ES" sz="4000" dirty="0">
                <a:solidFill>
                  <a:schemeClr val="bg1"/>
                </a:solidFill>
              </a:rPr>
              <a:t> </a:t>
            </a:r>
            <a:r>
              <a:rPr lang="es-ES_tradnl" altLang="es-ES" sz="4000" dirty="0" smtClean="0"/>
              <a:t>Lógica</a:t>
            </a:r>
            <a:endParaRPr lang="es-ES_tradnl" altLang="es-ES" sz="4000" dirty="0"/>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Se presenta entre el nivel de visión y el nivel conceptual</a:t>
            </a:r>
          </a:p>
          <a:p>
            <a:r>
              <a:rPr lang="es-MX" altLang="es-ES" sz="1800" dirty="0"/>
              <a:t>Significa que un cambio en el nivel conceptual no debe implicar un cambio en el nivel de visión</a:t>
            </a:r>
          </a:p>
          <a:p>
            <a:r>
              <a:rPr lang="es-MX" altLang="es-ES" sz="1800" dirty="0"/>
              <a:t>Es más difícil de lograr. ¿Por qué?</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1653988"/>
            <a:ext cx="0" cy="4276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030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 xmlns:a16="http://schemas.microsoft.com/office/drawing/2014/main" id="{837298C9-06A7-4212-B9D4-7C787811DE23}"/>
              </a:ext>
            </a:extLst>
          </p:cNvPr>
          <p:cNvSpPr>
            <a:spLocks noGrp="1" noChangeArrowheads="1"/>
          </p:cNvSpPr>
          <p:nvPr>
            <p:ph type="title"/>
          </p:nvPr>
        </p:nvSpPr>
        <p:spPr/>
        <p:txBody>
          <a:bodyPr/>
          <a:lstStyle/>
          <a:p>
            <a:r>
              <a:rPr lang="es-ES_tradnl" altLang="es-ES"/>
              <a:t>Independencia lógica</a:t>
            </a:r>
            <a:endParaRPr lang="es-ES" altLang="es-ES"/>
          </a:p>
        </p:txBody>
      </p:sp>
      <p:sp>
        <p:nvSpPr>
          <p:cNvPr id="18437" name="Rectangle 3">
            <a:extLst>
              <a:ext uri="{FF2B5EF4-FFF2-40B4-BE49-F238E27FC236}">
                <a16:creationId xmlns="" xmlns:a16="http://schemas.microsoft.com/office/drawing/2014/main" id="{96F233C9-9F2F-4599-8553-4E0F3140317E}"/>
              </a:ext>
            </a:extLst>
          </p:cNvPr>
          <p:cNvSpPr>
            <a:spLocks noGrp="1" noChangeArrowheads="1"/>
          </p:cNvSpPr>
          <p:nvPr>
            <p:ph idx="1"/>
          </p:nvPr>
        </p:nvSpPr>
        <p:spPr>
          <a:xfrm>
            <a:off x="611188" y="1628775"/>
            <a:ext cx="8062912" cy="4824413"/>
          </a:xfrm>
        </p:spPr>
        <p:txBody>
          <a:bodyPr/>
          <a:lstStyle/>
          <a:p>
            <a:pPr>
              <a:buFontTx/>
              <a:buNone/>
            </a:pPr>
            <a:r>
              <a:rPr lang="es-ES" altLang="es-ES" dirty="0"/>
              <a:t>Algunos de los posibles cambios en el nivel</a:t>
            </a:r>
          </a:p>
          <a:p>
            <a:pPr>
              <a:buFontTx/>
              <a:buNone/>
            </a:pPr>
            <a:r>
              <a:rPr lang="es-ES" altLang="es-ES" dirty="0"/>
              <a:t>conceptual:</a:t>
            </a:r>
          </a:p>
          <a:p>
            <a:r>
              <a:rPr lang="es-ES" altLang="es-ES" dirty="0"/>
              <a:t>Adición de elementos (atributos, entidades, etc.) </a:t>
            </a:r>
            <a:r>
              <a:rPr lang="es-ES" altLang="es-ES" dirty="0">
                <a:sym typeface="Wingdings" panose="05000000000000000000" pitchFamily="2" charset="2"/>
              </a:rPr>
              <a:t> </a:t>
            </a:r>
            <a:r>
              <a:rPr lang="es-ES" altLang="es-ES" sz="2800" dirty="0">
                <a:sym typeface="Wingdings" panose="05000000000000000000" pitchFamily="2" charset="2"/>
              </a:rPr>
              <a:t>Ej. La adición de un atributo </a:t>
            </a:r>
            <a:r>
              <a:rPr lang="es-ES" altLang="es-ES" sz="2800" dirty="0">
                <a:solidFill>
                  <a:srgbClr val="0066FF"/>
                </a:solidFill>
                <a:sym typeface="Wingdings" panose="05000000000000000000" pitchFamily="2" charset="2"/>
              </a:rPr>
              <a:t>obligatorio</a:t>
            </a:r>
            <a:r>
              <a:rPr lang="es-ES" altLang="es-ES" sz="2800" dirty="0">
                <a:sym typeface="Wingdings" panose="05000000000000000000" pitchFamily="2" charset="2"/>
              </a:rPr>
              <a:t> puede afectar a los </a:t>
            </a:r>
            <a:r>
              <a:rPr lang="es-ES" altLang="es-ES" sz="2800" dirty="0" err="1">
                <a:sym typeface="Wingdings" panose="05000000000000000000" pitchFamily="2" charset="2"/>
              </a:rPr>
              <a:t>subesquemas</a:t>
            </a:r>
            <a:r>
              <a:rPr lang="es-ES" altLang="es-ES" sz="2800" dirty="0">
                <a:sym typeface="Wingdings" panose="05000000000000000000" pitchFamily="2" charset="2"/>
              </a:rPr>
              <a:t> externos</a:t>
            </a:r>
            <a:endParaRPr lang="es-ES" altLang="es-ES" sz="2800" dirty="0"/>
          </a:p>
          <a:p>
            <a:r>
              <a:rPr lang="es-ES" altLang="es-ES" dirty="0"/>
              <a:t>Eliminación de elementos </a:t>
            </a:r>
            <a:r>
              <a:rPr lang="es-ES" altLang="es-ES" dirty="0">
                <a:sym typeface="Wingdings" panose="05000000000000000000" pitchFamily="2" charset="2"/>
              </a:rPr>
              <a:t> </a:t>
            </a:r>
            <a:r>
              <a:rPr lang="es-ES" altLang="es-ES" sz="2800" dirty="0">
                <a:sym typeface="Wingdings" panose="05000000000000000000" pitchFamily="2" charset="2"/>
              </a:rPr>
              <a:t>La eliminación de un atributo puede afectar a los </a:t>
            </a:r>
            <a:r>
              <a:rPr lang="es-ES" altLang="es-ES" sz="2800" dirty="0" err="1">
                <a:sym typeface="Wingdings" panose="05000000000000000000" pitchFamily="2" charset="2"/>
              </a:rPr>
              <a:t>subesquemas</a:t>
            </a:r>
            <a:r>
              <a:rPr lang="es-ES" altLang="es-ES" sz="2800" dirty="0">
                <a:sym typeface="Wingdings" panose="05000000000000000000" pitchFamily="2" charset="2"/>
              </a:rPr>
              <a:t> externos</a:t>
            </a:r>
            <a:endParaRPr lang="es-ES" altLang="es-ES" sz="2800" dirty="0"/>
          </a:p>
        </p:txBody>
      </p:sp>
    </p:spTree>
    <p:extLst>
      <p:ext uri="{BB962C8B-B14F-4D97-AF65-F5344CB8AC3E}">
        <p14:creationId xmlns:p14="http://schemas.microsoft.com/office/powerpoint/2010/main" val="480862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Box 49">
            <a:extLst>
              <a:ext uri="{FF2B5EF4-FFF2-40B4-BE49-F238E27FC236}">
                <a16:creationId xmlns="" xmlns:a16="http://schemas.microsoft.com/office/drawing/2014/main" id="{D0957940-7B7B-4570-9F8F-7D0212EB4124}"/>
              </a:ext>
            </a:extLst>
          </p:cNvPr>
          <p:cNvSpPr txBox="1">
            <a:spLocks noChangeArrowheads="1"/>
          </p:cNvSpPr>
          <p:nvPr/>
        </p:nvSpPr>
        <p:spPr bwMode="auto">
          <a:xfrm>
            <a:off x="201705" y="668338"/>
            <a:ext cx="2484438" cy="400110"/>
          </a:xfrm>
          <a:prstGeom prst="rect">
            <a:avLst/>
          </a:prstGeom>
          <a:solidFill>
            <a:srgbClr val="CC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MX" altLang="es-ES" sz="2000" b="1" dirty="0">
                <a:solidFill>
                  <a:schemeClr val="accent2"/>
                </a:solidFill>
                <a:latin typeface="Calibri" panose="020F0502020204030204" pitchFamily="34" charset="0"/>
                <a:cs typeface="Calibri" panose="020F0502020204030204" pitchFamily="34" charset="0"/>
              </a:rPr>
              <a:t>Vista externa 1</a:t>
            </a:r>
            <a:endParaRPr lang="es-ES" altLang="es-ES" sz="2000" b="1" dirty="0">
              <a:solidFill>
                <a:schemeClr val="accent2"/>
              </a:solidFill>
              <a:latin typeface="Calibri" panose="020F0502020204030204" pitchFamily="34" charset="0"/>
              <a:cs typeface="Calibri" panose="020F0502020204030204" pitchFamily="34" charset="0"/>
            </a:endParaRPr>
          </a:p>
        </p:txBody>
      </p:sp>
      <p:sp>
        <p:nvSpPr>
          <p:cNvPr id="19462" name="Text Box 50">
            <a:extLst>
              <a:ext uri="{FF2B5EF4-FFF2-40B4-BE49-F238E27FC236}">
                <a16:creationId xmlns="" xmlns:a16="http://schemas.microsoft.com/office/drawing/2014/main" id="{8BF7C147-490C-4FEB-9267-31940DD2251B}"/>
              </a:ext>
            </a:extLst>
          </p:cNvPr>
          <p:cNvSpPr txBox="1">
            <a:spLocks noChangeArrowheads="1"/>
          </p:cNvSpPr>
          <p:nvPr/>
        </p:nvSpPr>
        <p:spPr bwMode="auto">
          <a:xfrm>
            <a:off x="6642099" y="689944"/>
            <a:ext cx="2339975" cy="400110"/>
          </a:xfrm>
          <a:prstGeom prst="rect">
            <a:avLst/>
          </a:prstGeom>
          <a:solidFill>
            <a:srgbClr val="CC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s-AR"/>
            </a:defPPr>
            <a:lvl1pPr algn="ctr">
              <a:spcBef>
                <a:spcPct val="0"/>
              </a:spcBef>
              <a:buFontTx/>
              <a:buNone/>
              <a:defRPr sz="2000" b="1">
                <a:solidFill>
                  <a:schemeClr val="accent2"/>
                </a:solidFill>
                <a:latin typeface="Calibri" panose="020F0502020204030204" pitchFamily="34" charset="0"/>
                <a:cs typeface="Calibri" panose="020F0502020204030204" pitchFamily="34" charset="0"/>
              </a:defRPr>
            </a:lvl1pPr>
            <a:lvl2pPr marL="742950" indent="-285750">
              <a:spcBef>
                <a:spcPct val="20000"/>
              </a:spcBef>
              <a:buChar char="–"/>
              <a:defRPr sz="2800">
                <a:latin typeface="Times New Roman" panose="02020603050405020304" pitchFamily="18" charset="0"/>
              </a:defRPr>
            </a:lvl2pPr>
            <a:lvl3pPr marL="1143000" indent="-228600">
              <a:spcBef>
                <a:spcPct val="20000"/>
              </a:spcBef>
              <a:buChar char="•"/>
              <a:defRPr sz="2400">
                <a:latin typeface="Times New Roman" panose="02020603050405020304" pitchFamily="18" charset="0"/>
              </a:defRPr>
            </a:lvl3pPr>
            <a:lvl4pPr marL="1600200" indent="-228600">
              <a:spcBef>
                <a:spcPct val="20000"/>
              </a:spcBef>
              <a:buChar char="–"/>
              <a:defRPr sz="2000">
                <a:latin typeface="Times New Roman" panose="02020603050405020304" pitchFamily="18" charset="0"/>
              </a:defRPr>
            </a:lvl4pPr>
            <a:lvl5pPr marL="2057400" indent="-228600">
              <a:spcBef>
                <a:spcPct val="20000"/>
              </a:spcBef>
              <a:buChar char="»"/>
              <a:defRPr sz="2000">
                <a:latin typeface="Times New Roman" panose="02020603050405020304" pitchFamily="18" charset="0"/>
              </a:defRPr>
            </a:lvl5pPr>
            <a:lvl6pPr marL="2514600" indent="-228600" eaLnBrk="0" fontAlgn="base" hangingPunct="0">
              <a:spcBef>
                <a:spcPct val="20000"/>
              </a:spcBef>
              <a:spcAft>
                <a:spcPct val="0"/>
              </a:spcAft>
              <a:buChar char="»"/>
              <a:defRPr sz="2000">
                <a:latin typeface="Times New Roman" panose="02020603050405020304" pitchFamily="18" charset="0"/>
              </a:defRPr>
            </a:lvl6pPr>
            <a:lvl7pPr marL="2971800" indent="-228600" eaLnBrk="0" fontAlgn="base" hangingPunct="0">
              <a:spcBef>
                <a:spcPct val="20000"/>
              </a:spcBef>
              <a:spcAft>
                <a:spcPct val="0"/>
              </a:spcAft>
              <a:buChar char="»"/>
              <a:defRPr sz="2000">
                <a:latin typeface="Times New Roman" panose="02020603050405020304" pitchFamily="18" charset="0"/>
              </a:defRPr>
            </a:lvl7pPr>
            <a:lvl8pPr marL="3429000" indent="-228600" eaLnBrk="0" fontAlgn="base" hangingPunct="0">
              <a:spcBef>
                <a:spcPct val="20000"/>
              </a:spcBef>
              <a:spcAft>
                <a:spcPct val="0"/>
              </a:spcAft>
              <a:buChar char="»"/>
              <a:defRPr sz="2000">
                <a:latin typeface="Times New Roman" panose="02020603050405020304" pitchFamily="18" charset="0"/>
              </a:defRPr>
            </a:lvl8pPr>
            <a:lvl9pPr marL="3886200" indent="-228600" eaLnBrk="0" fontAlgn="base" hangingPunct="0">
              <a:spcBef>
                <a:spcPct val="20000"/>
              </a:spcBef>
              <a:spcAft>
                <a:spcPct val="0"/>
              </a:spcAft>
              <a:buChar char="»"/>
              <a:defRPr sz="2000">
                <a:latin typeface="Times New Roman" panose="02020603050405020304" pitchFamily="18" charset="0"/>
              </a:defRPr>
            </a:lvl9pPr>
          </a:lstStyle>
          <a:p>
            <a:r>
              <a:rPr lang="es-MX" altLang="es-ES" dirty="0"/>
              <a:t>Vista externa 2</a:t>
            </a:r>
            <a:endParaRPr lang="es-ES" altLang="es-ES" dirty="0"/>
          </a:p>
        </p:txBody>
      </p:sp>
      <p:sp>
        <p:nvSpPr>
          <p:cNvPr id="19463" name="Text Box 51">
            <a:extLst>
              <a:ext uri="{FF2B5EF4-FFF2-40B4-BE49-F238E27FC236}">
                <a16:creationId xmlns="" xmlns:a16="http://schemas.microsoft.com/office/drawing/2014/main" id="{C55B7FA9-8B16-4C96-9B46-9BF2168A461D}"/>
              </a:ext>
            </a:extLst>
          </p:cNvPr>
          <p:cNvSpPr txBox="1">
            <a:spLocks noChangeArrowheads="1"/>
          </p:cNvSpPr>
          <p:nvPr/>
        </p:nvSpPr>
        <p:spPr bwMode="auto">
          <a:xfrm>
            <a:off x="201705" y="2822575"/>
            <a:ext cx="1835150" cy="70788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MX" altLang="es-ES" sz="2000" b="1" dirty="0">
                <a:solidFill>
                  <a:schemeClr val="accent2"/>
                </a:solidFill>
                <a:latin typeface="Calibri" panose="020F0502020204030204" pitchFamily="34" charset="0"/>
                <a:cs typeface="Calibri" panose="020F0502020204030204" pitchFamily="34" charset="0"/>
              </a:rPr>
              <a:t>Nivel conceptual</a:t>
            </a:r>
            <a:endParaRPr lang="es-ES" altLang="es-ES" sz="2000" b="1" dirty="0">
              <a:solidFill>
                <a:schemeClr val="accent2"/>
              </a:solidFill>
              <a:latin typeface="Calibri" panose="020F0502020204030204" pitchFamily="34" charset="0"/>
              <a:cs typeface="Calibri" panose="020F0502020204030204" pitchFamily="34" charset="0"/>
            </a:endParaRPr>
          </a:p>
        </p:txBody>
      </p:sp>
      <p:sp>
        <p:nvSpPr>
          <p:cNvPr id="19464" name="Text Box 52">
            <a:extLst>
              <a:ext uri="{FF2B5EF4-FFF2-40B4-BE49-F238E27FC236}">
                <a16:creationId xmlns="" xmlns:a16="http://schemas.microsoft.com/office/drawing/2014/main" id="{2FA17448-3E72-4C1E-A8ED-E0A81E0772C0}"/>
              </a:ext>
            </a:extLst>
          </p:cNvPr>
          <p:cNvSpPr txBox="1">
            <a:spLocks noChangeArrowheads="1"/>
          </p:cNvSpPr>
          <p:nvPr/>
        </p:nvSpPr>
        <p:spPr bwMode="auto">
          <a:xfrm>
            <a:off x="201705" y="4652963"/>
            <a:ext cx="1835150" cy="707886"/>
          </a:xfrm>
          <a:prstGeom prst="rect">
            <a:avLst/>
          </a:prstGeom>
          <a:solidFill>
            <a:srgbClr val="CC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s-MX" altLang="es-ES" sz="2000" b="1">
                <a:solidFill>
                  <a:schemeClr val="accent2"/>
                </a:solidFill>
                <a:latin typeface="Calibri" panose="020F0502020204030204" pitchFamily="34" charset="0"/>
                <a:cs typeface="Calibri" panose="020F0502020204030204" pitchFamily="34" charset="0"/>
              </a:rPr>
              <a:t>Nivel </a:t>
            </a:r>
          </a:p>
          <a:p>
            <a:pPr algn="ctr">
              <a:spcBef>
                <a:spcPct val="0"/>
              </a:spcBef>
              <a:buFontTx/>
              <a:buNone/>
            </a:pPr>
            <a:r>
              <a:rPr lang="es-MX" altLang="es-ES" sz="2000" b="1">
                <a:solidFill>
                  <a:schemeClr val="accent2"/>
                </a:solidFill>
                <a:latin typeface="Calibri" panose="020F0502020204030204" pitchFamily="34" charset="0"/>
                <a:cs typeface="Calibri" panose="020F0502020204030204" pitchFamily="34" charset="0"/>
              </a:rPr>
              <a:t>interno</a:t>
            </a:r>
            <a:endParaRPr lang="es-ES" altLang="es-ES" sz="2000" b="1">
              <a:solidFill>
                <a:schemeClr val="accent2"/>
              </a:solidFill>
              <a:latin typeface="Calibri" panose="020F0502020204030204" pitchFamily="34" charset="0"/>
              <a:cs typeface="Calibri" panose="020F0502020204030204" pitchFamily="34" charset="0"/>
            </a:endParaRPr>
          </a:p>
        </p:txBody>
      </p:sp>
      <p:sp>
        <p:nvSpPr>
          <p:cNvPr id="32821" name="Text Box 53">
            <a:extLst>
              <a:ext uri="{FF2B5EF4-FFF2-40B4-BE49-F238E27FC236}">
                <a16:creationId xmlns="" xmlns:a16="http://schemas.microsoft.com/office/drawing/2014/main" id="{3D9D8A26-7EB1-413D-A9A7-7757A29FD08B}"/>
              </a:ext>
            </a:extLst>
          </p:cNvPr>
          <p:cNvSpPr txBox="1">
            <a:spLocks noChangeArrowheads="1"/>
          </p:cNvSpPr>
          <p:nvPr/>
        </p:nvSpPr>
        <p:spPr bwMode="auto">
          <a:xfrm>
            <a:off x="6891246" y="3454074"/>
            <a:ext cx="21923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s-MX" sz="1600" b="1" i="1" dirty="0">
                <a:solidFill>
                  <a:srgbClr val="FF3300"/>
                </a:solidFill>
                <a:effectLst>
                  <a:outerShdw blurRad="38100" dist="38100" dir="2700000" algn="tl">
                    <a:srgbClr val="C0C0C0"/>
                  </a:outerShdw>
                </a:effectLst>
                <a:latin typeface="Calibri" panose="020F0502020204030204" pitchFamily="34" charset="0"/>
                <a:cs typeface="Calibri" panose="020F0502020204030204" pitchFamily="34" charset="0"/>
              </a:rPr>
              <a:t>Correspondencia</a:t>
            </a:r>
          </a:p>
          <a:p>
            <a:pPr algn="ctr">
              <a:defRPr/>
            </a:pPr>
            <a:r>
              <a:rPr lang="es-MX" sz="1600" b="1" i="1" dirty="0">
                <a:solidFill>
                  <a:srgbClr val="FF3300"/>
                </a:solidFill>
                <a:effectLst>
                  <a:outerShdw blurRad="38100" dist="38100" dir="2700000" algn="tl">
                    <a:srgbClr val="C0C0C0"/>
                  </a:outerShdw>
                </a:effectLst>
                <a:latin typeface="Calibri" panose="020F0502020204030204" pitchFamily="34" charset="0"/>
                <a:cs typeface="Calibri" panose="020F0502020204030204" pitchFamily="34" charset="0"/>
              </a:rPr>
              <a:t>Conceptual / </a:t>
            </a:r>
          </a:p>
          <a:p>
            <a:pPr algn="ctr">
              <a:defRPr/>
            </a:pPr>
            <a:r>
              <a:rPr lang="es-MX" sz="1600" b="1" i="1" dirty="0">
                <a:solidFill>
                  <a:srgbClr val="FF3300"/>
                </a:solidFill>
                <a:effectLst>
                  <a:outerShdw blurRad="38100" dist="38100" dir="2700000" algn="tl">
                    <a:srgbClr val="C0C0C0"/>
                  </a:outerShdw>
                </a:effectLst>
                <a:latin typeface="Calibri" panose="020F0502020204030204" pitchFamily="34" charset="0"/>
                <a:cs typeface="Calibri" panose="020F0502020204030204" pitchFamily="34" charset="0"/>
              </a:rPr>
              <a:t>Interna</a:t>
            </a:r>
            <a:endParaRPr lang="es-ES" sz="1600" b="1" i="1" dirty="0">
              <a:solidFill>
                <a:srgbClr val="FF3300"/>
              </a:solidFill>
              <a:effectLst>
                <a:outerShdw blurRad="38100" dist="38100" dir="2700000" algn="tl">
                  <a:srgbClr val="C0C0C0"/>
                </a:outerShdw>
              </a:effectLst>
              <a:latin typeface="Calibri" panose="020F0502020204030204" pitchFamily="34" charset="0"/>
              <a:cs typeface="Calibri" panose="020F0502020204030204" pitchFamily="34" charset="0"/>
            </a:endParaRPr>
          </a:p>
        </p:txBody>
      </p:sp>
      <p:sp>
        <p:nvSpPr>
          <p:cNvPr id="19467" name="Line 55">
            <a:extLst>
              <a:ext uri="{FF2B5EF4-FFF2-40B4-BE49-F238E27FC236}">
                <a16:creationId xmlns="" xmlns:a16="http://schemas.microsoft.com/office/drawing/2014/main" id="{111CD55F-1072-4F96-9B56-58D9267E2125}"/>
              </a:ext>
            </a:extLst>
          </p:cNvPr>
          <p:cNvSpPr>
            <a:spLocks noChangeShapeType="1"/>
          </p:cNvSpPr>
          <p:nvPr/>
        </p:nvSpPr>
        <p:spPr bwMode="auto">
          <a:xfrm>
            <a:off x="323850" y="1562568"/>
            <a:ext cx="2160588" cy="1223962"/>
          </a:xfrm>
          <a:prstGeom prst="line">
            <a:avLst/>
          </a:prstGeom>
          <a:noFill/>
          <a:ln w="9525">
            <a:solidFill>
              <a:srgbClr val="99CC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68" name="Line 56">
            <a:extLst>
              <a:ext uri="{FF2B5EF4-FFF2-40B4-BE49-F238E27FC236}">
                <a16:creationId xmlns="" xmlns:a16="http://schemas.microsoft.com/office/drawing/2014/main" id="{2FFC5005-CF9B-48DC-9B5B-51DFB2767430}"/>
              </a:ext>
            </a:extLst>
          </p:cNvPr>
          <p:cNvSpPr>
            <a:spLocks noChangeShapeType="1"/>
          </p:cNvSpPr>
          <p:nvPr/>
        </p:nvSpPr>
        <p:spPr bwMode="auto">
          <a:xfrm>
            <a:off x="1835150" y="1808847"/>
            <a:ext cx="1873250" cy="977683"/>
          </a:xfrm>
          <a:prstGeom prst="line">
            <a:avLst/>
          </a:prstGeom>
          <a:noFill/>
          <a:ln w="9525">
            <a:solidFill>
              <a:srgbClr val="99CC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69" name="Line 57">
            <a:extLst>
              <a:ext uri="{FF2B5EF4-FFF2-40B4-BE49-F238E27FC236}">
                <a16:creationId xmlns="" xmlns:a16="http://schemas.microsoft.com/office/drawing/2014/main" id="{40BD2FCA-7D5E-49D1-9397-FDA784DB727D}"/>
              </a:ext>
            </a:extLst>
          </p:cNvPr>
          <p:cNvSpPr>
            <a:spLocks noChangeShapeType="1"/>
          </p:cNvSpPr>
          <p:nvPr/>
        </p:nvSpPr>
        <p:spPr bwMode="auto">
          <a:xfrm>
            <a:off x="2916238" y="1562568"/>
            <a:ext cx="2087562" cy="1223962"/>
          </a:xfrm>
          <a:prstGeom prst="line">
            <a:avLst/>
          </a:prstGeom>
          <a:noFill/>
          <a:ln w="9525">
            <a:solidFill>
              <a:srgbClr val="99CC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70" name="Line 58">
            <a:extLst>
              <a:ext uri="{FF2B5EF4-FFF2-40B4-BE49-F238E27FC236}">
                <a16:creationId xmlns="" xmlns:a16="http://schemas.microsoft.com/office/drawing/2014/main" id="{0F474F21-82F9-45F2-BFF8-EB64881A2180}"/>
              </a:ext>
            </a:extLst>
          </p:cNvPr>
          <p:cNvSpPr>
            <a:spLocks noChangeShapeType="1"/>
          </p:cNvSpPr>
          <p:nvPr/>
        </p:nvSpPr>
        <p:spPr bwMode="auto">
          <a:xfrm flipH="1">
            <a:off x="2843213" y="1562568"/>
            <a:ext cx="3241675" cy="1152525"/>
          </a:xfrm>
          <a:prstGeom prst="line">
            <a:avLst/>
          </a:prstGeom>
          <a:noFill/>
          <a:ln w="9525">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71" name="Line 59">
            <a:extLst>
              <a:ext uri="{FF2B5EF4-FFF2-40B4-BE49-F238E27FC236}">
                <a16:creationId xmlns="" xmlns:a16="http://schemas.microsoft.com/office/drawing/2014/main" id="{25BEBBC4-D7C5-442D-89CF-C8C12B15F82B}"/>
              </a:ext>
            </a:extLst>
          </p:cNvPr>
          <p:cNvSpPr>
            <a:spLocks noChangeShapeType="1"/>
          </p:cNvSpPr>
          <p:nvPr/>
        </p:nvSpPr>
        <p:spPr bwMode="auto">
          <a:xfrm flipH="1">
            <a:off x="3995738" y="1922930"/>
            <a:ext cx="2952750" cy="865188"/>
          </a:xfrm>
          <a:prstGeom prst="line">
            <a:avLst/>
          </a:prstGeom>
          <a:noFill/>
          <a:ln w="9525">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72" name="Line 60">
            <a:extLst>
              <a:ext uri="{FF2B5EF4-FFF2-40B4-BE49-F238E27FC236}">
                <a16:creationId xmlns="" xmlns:a16="http://schemas.microsoft.com/office/drawing/2014/main" id="{79B8F715-567A-41FF-A870-F30B3C7697F1}"/>
              </a:ext>
            </a:extLst>
          </p:cNvPr>
          <p:cNvSpPr>
            <a:spLocks noChangeShapeType="1"/>
          </p:cNvSpPr>
          <p:nvPr/>
        </p:nvSpPr>
        <p:spPr bwMode="auto">
          <a:xfrm flipH="1">
            <a:off x="6516688" y="1562568"/>
            <a:ext cx="2376487" cy="1223962"/>
          </a:xfrm>
          <a:prstGeom prst="line">
            <a:avLst/>
          </a:prstGeom>
          <a:noFill/>
          <a:ln w="9525">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73" name="Text Box 61">
            <a:extLst>
              <a:ext uri="{FF2B5EF4-FFF2-40B4-BE49-F238E27FC236}">
                <a16:creationId xmlns="" xmlns:a16="http://schemas.microsoft.com/office/drawing/2014/main" id="{7464F0E5-6DED-4F6D-A4A4-BE9095A7D1E4}"/>
              </a:ext>
            </a:extLst>
          </p:cNvPr>
          <p:cNvSpPr txBox="1">
            <a:spLocks noChangeArrowheads="1"/>
          </p:cNvSpPr>
          <p:nvPr/>
        </p:nvSpPr>
        <p:spPr bwMode="auto">
          <a:xfrm>
            <a:off x="2411413" y="2829393"/>
            <a:ext cx="863600"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2000" dirty="0" err="1">
                <a:latin typeface="Calibri" panose="020F0502020204030204" pitchFamily="34" charset="0"/>
                <a:cs typeface="Calibri" panose="020F0502020204030204" pitchFamily="34" charset="0"/>
              </a:rPr>
              <a:t>Cod</a:t>
            </a:r>
            <a:endParaRPr lang="es-ES_tradnl" altLang="es-ES" sz="2000" dirty="0">
              <a:latin typeface="Calibri" panose="020F0502020204030204" pitchFamily="34" charset="0"/>
              <a:cs typeface="Calibri" panose="020F0502020204030204" pitchFamily="34" charset="0"/>
            </a:endParaRPr>
          </a:p>
        </p:txBody>
      </p:sp>
      <p:sp>
        <p:nvSpPr>
          <p:cNvPr id="19474" name="Text Box 62">
            <a:extLst>
              <a:ext uri="{FF2B5EF4-FFF2-40B4-BE49-F238E27FC236}">
                <a16:creationId xmlns="" xmlns:a16="http://schemas.microsoft.com/office/drawing/2014/main" id="{E63C3303-2C81-4D9D-A499-EE3DF31BE152}"/>
              </a:ext>
            </a:extLst>
          </p:cNvPr>
          <p:cNvSpPr txBox="1">
            <a:spLocks noChangeArrowheads="1"/>
          </p:cNvSpPr>
          <p:nvPr/>
        </p:nvSpPr>
        <p:spPr bwMode="auto">
          <a:xfrm>
            <a:off x="3275013" y="2829393"/>
            <a:ext cx="1223962"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2000">
                <a:latin typeface="Calibri" panose="020F0502020204030204" pitchFamily="34" charset="0"/>
                <a:cs typeface="Calibri" panose="020F0502020204030204" pitchFamily="34" charset="0"/>
              </a:rPr>
              <a:t>Nombre</a:t>
            </a:r>
            <a:endParaRPr lang="es-ES_tradnl" altLang="es-ES" sz="2000">
              <a:latin typeface="Calibri" panose="020F0502020204030204" pitchFamily="34" charset="0"/>
              <a:cs typeface="Calibri" panose="020F0502020204030204" pitchFamily="34" charset="0"/>
            </a:endParaRPr>
          </a:p>
        </p:txBody>
      </p:sp>
      <p:sp>
        <p:nvSpPr>
          <p:cNvPr id="19475" name="Text Box 63">
            <a:extLst>
              <a:ext uri="{FF2B5EF4-FFF2-40B4-BE49-F238E27FC236}">
                <a16:creationId xmlns="" xmlns:a16="http://schemas.microsoft.com/office/drawing/2014/main" id="{155B0E87-3A27-4C52-AF8F-311AA790C2E3}"/>
              </a:ext>
            </a:extLst>
          </p:cNvPr>
          <p:cNvSpPr txBox="1">
            <a:spLocks noChangeArrowheads="1"/>
          </p:cNvSpPr>
          <p:nvPr/>
        </p:nvSpPr>
        <p:spPr bwMode="auto">
          <a:xfrm>
            <a:off x="4498975" y="2829393"/>
            <a:ext cx="1368425"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2000">
                <a:latin typeface="Calibri" panose="020F0502020204030204" pitchFamily="34" charset="0"/>
                <a:cs typeface="Calibri" panose="020F0502020204030204" pitchFamily="34" charset="0"/>
              </a:rPr>
              <a:t>Apellido</a:t>
            </a:r>
            <a:endParaRPr lang="es-ES_tradnl" altLang="es-ES" sz="2000">
              <a:latin typeface="Calibri" panose="020F0502020204030204" pitchFamily="34" charset="0"/>
              <a:cs typeface="Calibri" panose="020F0502020204030204" pitchFamily="34" charset="0"/>
            </a:endParaRPr>
          </a:p>
        </p:txBody>
      </p:sp>
      <p:sp>
        <p:nvSpPr>
          <p:cNvPr id="19476" name="Text Box 64">
            <a:extLst>
              <a:ext uri="{FF2B5EF4-FFF2-40B4-BE49-F238E27FC236}">
                <a16:creationId xmlns="" xmlns:a16="http://schemas.microsoft.com/office/drawing/2014/main" id="{DB8E6255-72AF-4899-A99F-FF9FD8268E4F}"/>
              </a:ext>
            </a:extLst>
          </p:cNvPr>
          <p:cNvSpPr txBox="1">
            <a:spLocks noChangeArrowheads="1"/>
          </p:cNvSpPr>
          <p:nvPr/>
        </p:nvSpPr>
        <p:spPr bwMode="auto">
          <a:xfrm>
            <a:off x="5867400" y="2829393"/>
            <a:ext cx="865188"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2000">
                <a:latin typeface="Calibri" panose="020F0502020204030204" pitchFamily="34" charset="0"/>
                <a:cs typeface="Calibri" panose="020F0502020204030204" pitchFamily="34" charset="0"/>
              </a:rPr>
              <a:t>FNac</a:t>
            </a:r>
            <a:endParaRPr lang="es-ES_tradnl" altLang="es-ES" sz="2000">
              <a:latin typeface="Calibri" panose="020F0502020204030204" pitchFamily="34" charset="0"/>
              <a:cs typeface="Calibri" panose="020F0502020204030204" pitchFamily="34" charset="0"/>
            </a:endParaRPr>
          </a:p>
        </p:txBody>
      </p:sp>
      <p:sp>
        <p:nvSpPr>
          <p:cNvPr id="19477" name="Text Box 65">
            <a:extLst>
              <a:ext uri="{FF2B5EF4-FFF2-40B4-BE49-F238E27FC236}">
                <a16:creationId xmlns="" xmlns:a16="http://schemas.microsoft.com/office/drawing/2014/main" id="{E631340F-B23E-4124-B1D8-3EA3A2AD1D83}"/>
              </a:ext>
            </a:extLst>
          </p:cNvPr>
          <p:cNvSpPr txBox="1">
            <a:spLocks noChangeArrowheads="1"/>
          </p:cNvSpPr>
          <p:nvPr/>
        </p:nvSpPr>
        <p:spPr bwMode="auto">
          <a:xfrm>
            <a:off x="6732588" y="2829393"/>
            <a:ext cx="1368425"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2000">
                <a:latin typeface="Calibri" panose="020F0502020204030204" pitchFamily="34" charset="0"/>
                <a:cs typeface="Calibri" panose="020F0502020204030204" pitchFamily="34" charset="0"/>
              </a:rPr>
              <a:t>Salario</a:t>
            </a:r>
            <a:endParaRPr lang="es-ES_tradnl" altLang="es-ES" sz="2000">
              <a:latin typeface="Calibri" panose="020F0502020204030204" pitchFamily="34" charset="0"/>
              <a:cs typeface="Calibri" panose="020F0502020204030204" pitchFamily="34" charset="0"/>
            </a:endParaRPr>
          </a:p>
        </p:txBody>
      </p:sp>
      <p:sp>
        <p:nvSpPr>
          <p:cNvPr id="19478" name="Text Box 66">
            <a:extLst>
              <a:ext uri="{FF2B5EF4-FFF2-40B4-BE49-F238E27FC236}">
                <a16:creationId xmlns="" xmlns:a16="http://schemas.microsoft.com/office/drawing/2014/main" id="{5500C8FA-216D-44E0-8DB8-C1CF2B0D4F7E}"/>
              </a:ext>
            </a:extLst>
          </p:cNvPr>
          <p:cNvSpPr txBox="1">
            <a:spLocks noChangeArrowheads="1"/>
          </p:cNvSpPr>
          <p:nvPr/>
        </p:nvSpPr>
        <p:spPr bwMode="auto">
          <a:xfrm>
            <a:off x="3276600" y="3939055"/>
            <a:ext cx="3278188"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CO" altLang="es-ES" sz="2000" b="1" i="1" dirty="0" err="1">
                <a:latin typeface="+mn-lt"/>
              </a:rPr>
              <a:t>Struct</a:t>
            </a:r>
            <a:r>
              <a:rPr lang="es-CO" altLang="es-ES" sz="2000" i="1" dirty="0">
                <a:latin typeface="+mn-lt"/>
              </a:rPr>
              <a:t> empleado</a:t>
            </a:r>
            <a:r>
              <a:rPr lang="es-CO" altLang="es-ES" sz="2000" b="1" dirty="0">
                <a:latin typeface="+mn-lt"/>
              </a:rPr>
              <a:t>{</a:t>
            </a:r>
          </a:p>
          <a:p>
            <a:pPr>
              <a:spcBef>
                <a:spcPct val="0"/>
              </a:spcBef>
              <a:buFontTx/>
              <a:buNone/>
            </a:pPr>
            <a:r>
              <a:rPr lang="es-CO" altLang="es-ES" sz="2000" i="1" dirty="0">
                <a:latin typeface="+mn-lt"/>
              </a:rPr>
              <a:t> date </a:t>
            </a:r>
            <a:r>
              <a:rPr lang="es-CO" altLang="es-ES" sz="2000" i="1" dirty="0" err="1">
                <a:latin typeface="+mn-lt"/>
              </a:rPr>
              <a:t>fecha_nac</a:t>
            </a:r>
            <a:endParaRPr lang="es-CO" altLang="es-ES" sz="2000" i="1" dirty="0">
              <a:latin typeface="+mn-lt"/>
            </a:endParaRPr>
          </a:p>
          <a:p>
            <a:pPr>
              <a:spcBef>
                <a:spcPct val="0"/>
              </a:spcBef>
              <a:buFontTx/>
              <a:buNone/>
            </a:pPr>
            <a:r>
              <a:rPr lang="es-CO" altLang="es-ES" sz="2000" i="1" dirty="0">
                <a:latin typeface="+mn-lt"/>
              </a:rPr>
              <a:t> </a:t>
            </a:r>
            <a:r>
              <a:rPr lang="es-CO" altLang="es-ES" sz="2000" i="1" dirty="0" err="1">
                <a:latin typeface="+mn-lt"/>
              </a:rPr>
              <a:t>float</a:t>
            </a:r>
            <a:r>
              <a:rPr lang="es-CO" altLang="es-ES" sz="2000" i="1" dirty="0">
                <a:latin typeface="+mn-lt"/>
              </a:rPr>
              <a:t> salario</a:t>
            </a:r>
          </a:p>
          <a:p>
            <a:pPr>
              <a:spcBef>
                <a:spcPct val="0"/>
              </a:spcBef>
              <a:buFontTx/>
              <a:buNone/>
            </a:pPr>
            <a:r>
              <a:rPr lang="es-CO" altLang="es-ES" sz="2000" i="1" dirty="0">
                <a:latin typeface="+mn-lt"/>
              </a:rPr>
              <a:t> </a:t>
            </a:r>
            <a:r>
              <a:rPr lang="es-CO" altLang="es-ES" sz="2000" i="1" dirty="0" err="1">
                <a:latin typeface="+mn-lt"/>
              </a:rPr>
              <a:t>string</a:t>
            </a:r>
            <a:r>
              <a:rPr lang="es-CO" altLang="es-ES" sz="2000" i="1" dirty="0">
                <a:latin typeface="+mn-lt"/>
              </a:rPr>
              <a:t> apellido</a:t>
            </a:r>
            <a:r>
              <a:rPr lang="es-CO" altLang="es-ES" sz="2000" dirty="0">
                <a:latin typeface="+mn-lt"/>
              </a:rPr>
              <a:t> [</a:t>
            </a:r>
            <a:r>
              <a:rPr lang="es-CO" altLang="es-ES" sz="2000" i="1" dirty="0">
                <a:latin typeface="+mn-lt"/>
              </a:rPr>
              <a:t>20</a:t>
            </a:r>
            <a:r>
              <a:rPr lang="es-CO" altLang="es-ES" sz="2000" dirty="0">
                <a:latin typeface="+mn-lt"/>
              </a:rPr>
              <a:t>]</a:t>
            </a:r>
          </a:p>
          <a:p>
            <a:pPr>
              <a:spcBef>
                <a:spcPct val="0"/>
              </a:spcBef>
              <a:buFontTx/>
              <a:buNone/>
            </a:pPr>
            <a:r>
              <a:rPr lang="es-CO" altLang="es-ES" sz="2000" i="1" dirty="0">
                <a:latin typeface="+mn-lt"/>
              </a:rPr>
              <a:t> </a:t>
            </a:r>
            <a:r>
              <a:rPr lang="es-CO" altLang="es-ES" sz="2000" i="1" dirty="0" err="1">
                <a:latin typeface="+mn-lt"/>
              </a:rPr>
              <a:t>string</a:t>
            </a:r>
            <a:r>
              <a:rPr lang="es-CO" altLang="es-ES" sz="2000" i="1" dirty="0">
                <a:latin typeface="+mn-lt"/>
              </a:rPr>
              <a:t> nombre</a:t>
            </a:r>
            <a:r>
              <a:rPr lang="es-CO" altLang="es-ES" sz="2000" dirty="0">
                <a:latin typeface="+mn-lt"/>
              </a:rPr>
              <a:t> [</a:t>
            </a:r>
            <a:r>
              <a:rPr lang="es-CO" altLang="es-ES" sz="2000" i="1" dirty="0">
                <a:latin typeface="+mn-lt"/>
              </a:rPr>
              <a:t>20</a:t>
            </a:r>
            <a:r>
              <a:rPr lang="es-CO" altLang="es-ES" sz="2000" dirty="0">
                <a:latin typeface="+mn-lt"/>
              </a:rPr>
              <a:t>]</a:t>
            </a:r>
            <a:r>
              <a:rPr lang="es-CO" altLang="es-ES" sz="2000" i="1" dirty="0">
                <a:latin typeface="+mn-lt"/>
              </a:rPr>
              <a:t> </a:t>
            </a:r>
          </a:p>
          <a:p>
            <a:pPr>
              <a:spcBef>
                <a:spcPct val="0"/>
              </a:spcBef>
              <a:buFontTx/>
              <a:buNone/>
            </a:pPr>
            <a:r>
              <a:rPr lang="es-CO" altLang="es-ES" sz="2000" i="1" dirty="0">
                <a:latin typeface="+mn-lt"/>
              </a:rPr>
              <a:t> </a:t>
            </a:r>
            <a:r>
              <a:rPr lang="es-CO" altLang="es-ES" sz="2000" i="1" dirty="0" err="1">
                <a:latin typeface="+mn-lt"/>
              </a:rPr>
              <a:t>int</a:t>
            </a:r>
            <a:r>
              <a:rPr lang="es-CO" altLang="es-ES" sz="2000" i="1" dirty="0">
                <a:latin typeface="+mn-lt"/>
              </a:rPr>
              <a:t> código</a:t>
            </a:r>
          </a:p>
          <a:p>
            <a:pPr>
              <a:spcBef>
                <a:spcPct val="0"/>
              </a:spcBef>
              <a:buFontTx/>
              <a:buNone/>
            </a:pPr>
            <a:r>
              <a:rPr lang="es-CO" altLang="es-ES" sz="2000" i="1" dirty="0" err="1">
                <a:latin typeface="+mn-lt"/>
              </a:rPr>
              <a:t>Struct</a:t>
            </a:r>
            <a:r>
              <a:rPr lang="es-CO" altLang="es-ES" sz="2000" i="1" dirty="0">
                <a:latin typeface="+mn-lt"/>
              </a:rPr>
              <a:t> empleado *</a:t>
            </a:r>
            <a:r>
              <a:rPr lang="es-CO" altLang="es-ES" sz="2000" i="1" dirty="0" err="1">
                <a:latin typeface="+mn-lt"/>
              </a:rPr>
              <a:t>proximo</a:t>
            </a:r>
            <a:r>
              <a:rPr lang="es-CO" altLang="es-ES" sz="2000" b="1" dirty="0">
                <a:latin typeface="+mn-lt"/>
              </a:rPr>
              <a:t>}</a:t>
            </a:r>
            <a:endParaRPr lang="es-ES_tradnl" altLang="es-ES" sz="2000" b="1" dirty="0">
              <a:latin typeface="+mn-lt"/>
            </a:endParaRPr>
          </a:p>
        </p:txBody>
      </p:sp>
      <p:sp>
        <p:nvSpPr>
          <p:cNvPr id="19479" name="Line 67">
            <a:extLst>
              <a:ext uri="{FF2B5EF4-FFF2-40B4-BE49-F238E27FC236}">
                <a16:creationId xmlns="" xmlns:a16="http://schemas.microsoft.com/office/drawing/2014/main" id="{4C865E7E-2A63-4F88-BA29-308B1821C70D}"/>
              </a:ext>
            </a:extLst>
          </p:cNvPr>
          <p:cNvSpPr>
            <a:spLocks noChangeShapeType="1"/>
          </p:cNvSpPr>
          <p:nvPr/>
        </p:nvSpPr>
        <p:spPr bwMode="auto">
          <a:xfrm>
            <a:off x="2700338" y="3362793"/>
            <a:ext cx="0" cy="230505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0" name="Line 68">
            <a:extLst>
              <a:ext uri="{FF2B5EF4-FFF2-40B4-BE49-F238E27FC236}">
                <a16:creationId xmlns="" xmlns:a16="http://schemas.microsoft.com/office/drawing/2014/main" id="{41168515-E229-435E-B17A-E3333121F4C6}"/>
              </a:ext>
            </a:extLst>
          </p:cNvPr>
          <p:cNvSpPr>
            <a:spLocks noChangeShapeType="1"/>
          </p:cNvSpPr>
          <p:nvPr/>
        </p:nvSpPr>
        <p:spPr bwMode="auto">
          <a:xfrm>
            <a:off x="2700338" y="5667843"/>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1" name="Line 69">
            <a:extLst>
              <a:ext uri="{FF2B5EF4-FFF2-40B4-BE49-F238E27FC236}">
                <a16:creationId xmlns="" xmlns:a16="http://schemas.microsoft.com/office/drawing/2014/main" id="{A5A1BAA1-9E6E-4727-86D9-9EF6A4FF8364}"/>
              </a:ext>
            </a:extLst>
          </p:cNvPr>
          <p:cNvSpPr>
            <a:spLocks noChangeShapeType="1"/>
          </p:cNvSpPr>
          <p:nvPr/>
        </p:nvSpPr>
        <p:spPr bwMode="auto">
          <a:xfrm>
            <a:off x="2843213" y="3578693"/>
            <a:ext cx="0" cy="1801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2" name="Line 70">
            <a:extLst>
              <a:ext uri="{FF2B5EF4-FFF2-40B4-BE49-F238E27FC236}">
                <a16:creationId xmlns="" xmlns:a16="http://schemas.microsoft.com/office/drawing/2014/main" id="{CD78AB20-AD59-44D4-9655-78FAE750EC4B}"/>
              </a:ext>
            </a:extLst>
          </p:cNvPr>
          <p:cNvSpPr>
            <a:spLocks noChangeShapeType="1"/>
          </p:cNvSpPr>
          <p:nvPr/>
        </p:nvSpPr>
        <p:spPr bwMode="auto">
          <a:xfrm>
            <a:off x="2843213" y="5378918"/>
            <a:ext cx="504825" cy="15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3" name="Line 71">
            <a:extLst>
              <a:ext uri="{FF2B5EF4-FFF2-40B4-BE49-F238E27FC236}">
                <a16:creationId xmlns="" xmlns:a16="http://schemas.microsoft.com/office/drawing/2014/main" id="{18E4D3BE-AAD8-4CD1-9000-3D254784D995}"/>
              </a:ext>
            </a:extLst>
          </p:cNvPr>
          <p:cNvSpPr>
            <a:spLocks noChangeShapeType="1"/>
          </p:cNvSpPr>
          <p:nvPr/>
        </p:nvSpPr>
        <p:spPr bwMode="auto">
          <a:xfrm>
            <a:off x="2843213" y="3578693"/>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4" name="Line 72">
            <a:extLst>
              <a:ext uri="{FF2B5EF4-FFF2-40B4-BE49-F238E27FC236}">
                <a16:creationId xmlns="" xmlns:a16="http://schemas.microsoft.com/office/drawing/2014/main" id="{A5E4F9C2-3935-4976-9D85-A95C093606A1}"/>
              </a:ext>
            </a:extLst>
          </p:cNvPr>
          <p:cNvSpPr>
            <a:spLocks noChangeShapeType="1"/>
          </p:cNvSpPr>
          <p:nvPr/>
        </p:nvSpPr>
        <p:spPr bwMode="auto">
          <a:xfrm flipV="1">
            <a:off x="3779838" y="3329455"/>
            <a:ext cx="0" cy="2492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5" name="Line 73">
            <a:extLst>
              <a:ext uri="{FF2B5EF4-FFF2-40B4-BE49-F238E27FC236}">
                <a16:creationId xmlns="" xmlns:a16="http://schemas.microsoft.com/office/drawing/2014/main" id="{48470507-CCFF-4EE6-965B-6B2E2E843C11}"/>
              </a:ext>
            </a:extLst>
          </p:cNvPr>
          <p:cNvSpPr>
            <a:spLocks noChangeShapeType="1"/>
          </p:cNvSpPr>
          <p:nvPr/>
        </p:nvSpPr>
        <p:spPr bwMode="auto">
          <a:xfrm>
            <a:off x="2987675" y="3867618"/>
            <a:ext cx="0" cy="1187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6" name="Line 74">
            <a:extLst>
              <a:ext uri="{FF2B5EF4-FFF2-40B4-BE49-F238E27FC236}">
                <a16:creationId xmlns="" xmlns:a16="http://schemas.microsoft.com/office/drawing/2014/main" id="{D6D2F655-4956-4281-8822-FAC4133C3939}"/>
              </a:ext>
            </a:extLst>
          </p:cNvPr>
          <p:cNvSpPr>
            <a:spLocks noChangeShapeType="1"/>
          </p:cNvSpPr>
          <p:nvPr/>
        </p:nvSpPr>
        <p:spPr bwMode="auto">
          <a:xfrm>
            <a:off x="2987675" y="3867618"/>
            <a:ext cx="21605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7" name="Line 75">
            <a:extLst>
              <a:ext uri="{FF2B5EF4-FFF2-40B4-BE49-F238E27FC236}">
                <a16:creationId xmlns="" xmlns:a16="http://schemas.microsoft.com/office/drawing/2014/main" id="{81A843DC-C80A-49EF-9CC0-6E7C0A9479A9}"/>
              </a:ext>
            </a:extLst>
          </p:cNvPr>
          <p:cNvSpPr>
            <a:spLocks noChangeShapeType="1"/>
          </p:cNvSpPr>
          <p:nvPr/>
        </p:nvSpPr>
        <p:spPr bwMode="auto">
          <a:xfrm flipV="1">
            <a:off x="5148263" y="3329455"/>
            <a:ext cx="0" cy="5381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8" name="Line 76">
            <a:extLst>
              <a:ext uri="{FF2B5EF4-FFF2-40B4-BE49-F238E27FC236}">
                <a16:creationId xmlns="" xmlns:a16="http://schemas.microsoft.com/office/drawing/2014/main" id="{A0FB2C2E-938A-450E-B59B-3A9BFC5831D9}"/>
              </a:ext>
            </a:extLst>
          </p:cNvPr>
          <p:cNvSpPr>
            <a:spLocks noChangeShapeType="1"/>
          </p:cNvSpPr>
          <p:nvPr/>
        </p:nvSpPr>
        <p:spPr bwMode="auto">
          <a:xfrm>
            <a:off x="2987675" y="5077293"/>
            <a:ext cx="360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89" name="Line 77">
            <a:extLst>
              <a:ext uri="{FF2B5EF4-FFF2-40B4-BE49-F238E27FC236}">
                <a16:creationId xmlns="" xmlns:a16="http://schemas.microsoft.com/office/drawing/2014/main" id="{8872EE64-60C5-41F0-82DF-099DE69D4F2D}"/>
              </a:ext>
            </a:extLst>
          </p:cNvPr>
          <p:cNvSpPr>
            <a:spLocks noChangeShapeType="1"/>
          </p:cNvSpPr>
          <p:nvPr/>
        </p:nvSpPr>
        <p:spPr bwMode="auto">
          <a:xfrm flipV="1">
            <a:off x="6227763" y="3362793"/>
            <a:ext cx="0" cy="11160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90" name="Line 78">
            <a:extLst>
              <a:ext uri="{FF2B5EF4-FFF2-40B4-BE49-F238E27FC236}">
                <a16:creationId xmlns="" xmlns:a16="http://schemas.microsoft.com/office/drawing/2014/main" id="{C8BE0ABA-2485-4464-993E-663C257202C4}"/>
              </a:ext>
            </a:extLst>
          </p:cNvPr>
          <p:cNvSpPr>
            <a:spLocks noChangeShapeType="1"/>
          </p:cNvSpPr>
          <p:nvPr/>
        </p:nvSpPr>
        <p:spPr bwMode="auto">
          <a:xfrm flipH="1" flipV="1">
            <a:off x="5148263" y="4478805"/>
            <a:ext cx="1079500" cy="31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91" name="Line 79">
            <a:extLst>
              <a:ext uri="{FF2B5EF4-FFF2-40B4-BE49-F238E27FC236}">
                <a16:creationId xmlns="" xmlns:a16="http://schemas.microsoft.com/office/drawing/2014/main" id="{0D5E5A37-F466-40E7-8D62-562A3047E81D}"/>
              </a:ext>
            </a:extLst>
          </p:cNvPr>
          <p:cNvSpPr>
            <a:spLocks noChangeShapeType="1"/>
          </p:cNvSpPr>
          <p:nvPr/>
        </p:nvSpPr>
        <p:spPr bwMode="auto">
          <a:xfrm flipV="1">
            <a:off x="7235825" y="3343743"/>
            <a:ext cx="0" cy="1441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92" name="Line 80">
            <a:extLst>
              <a:ext uri="{FF2B5EF4-FFF2-40B4-BE49-F238E27FC236}">
                <a16:creationId xmlns="" xmlns:a16="http://schemas.microsoft.com/office/drawing/2014/main" id="{FEA93B8F-B2BC-4DD4-A15B-CC82E3CD045B}"/>
              </a:ext>
            </a:extLst>
          </p:cNvPr>
          <p:cNvSpPr>
            <a:spLocks noChangeShapeType="1"/>
          </p:cNvSpPr>
          <p:nvPr/>
        </p:nvSpPr>
        <p:spPr bwMode="auto">
          <a:xfrm flipH="1">
            <a:off x="4787900" y="4766143"/>
            <a:ext cx="2447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9493" name="Text Box 81">
            <a:extLst>
              <a:ext uri="{FF2B5EF4-FFF2-40B4-BE49-F238E27FC236}">
                <a16:creationId xmlns="" xmlns:a16="http://schemas.microsoft.com/office/drawing/2014/main" id="{EED35E42-B6A4-4712-B09B-8F201C376873}"/>
              </a:ext>
            </a:extLst>
          </p:cNvPr>
          <p:cNvSpPr txBox="1">
            <a:spLocks noChangeArrowheads="1"/>
          </p:cNvSpPr>
          <p:nvPr/>
        </p:nvSpPr>
        <p:spPr bwMode="auto">
          <a:xfrm>
            <a:off x="5219700" y="1059330"/>
            <a:ext cx="1331913"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a:latin typeface="+mn-lt"/>
              </a:rPr>
              <a:t>NroEmp</a:t>
            </a:r>
            <a:endParaRPr lang="es-ES_tradnl" altLang="es-ES" sz="1800">
              <a:latin typeface="+mn-lt"/>
            </a:endParaRPr>
          </a:p>
        </p:txBody>
      </p:sp>
      <p:sp>
        <p:nvSpPr>
          <p:cNvPr id="19494" name="Text Box 82">
            <a:extLst>
              <a:ext uri="{FF2B5EF4-FFF2-40B4-BE49-F238E27FC236}">
                <a16:creationId xmlns="" xmlns:a16="http://schemas.microsoft.com/office/drawing/2014/main" id="{41AC26D6-EE97-44F3-BD87-6930EC03AA59}"/>
              </a:ext>
            </a:extLst>
          </p:cNvPr>
          <p:cNvSpPr txBox="1">
            <a:spLocks noChangeArrowheads="1"/>
          </p:cNvSpPr>
          <p:nvPr/>
        </p:nvSpPr>
        <p:spPr bwMode="auto">
          <a:xfrm>
            <a:off x="6551613" y="1059330"/>
            <a:ext cx="1476375"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a:latin typeface="+mn-lt"/>
              </a:rPr>
              <a:t>Nombre Completo</a:t>
            </a:r>
            <a:endParaRPr lang="es-ES_tradnl" altLang="es-ES" sz="1800">
              <a:latin typeface="+mn-lt"/>
            </a:endParaRPr>
          </a:p>
        </p:txBody>
      </p:sp>
      <p:sp>
        <p:nvSpPr>
          <p:cNvPr id="19495" name="Text Box 83">
            <a:extLst>
              <a:ext uri="{FF2B5EF4-FFF2-40B4-BE49-F238E27FC236}">
                <a16:creationId xmlns="" xmlns:a16="http://schemas.microsoft.com/office/drawing/2014/main" id="{FD53F4BF-5F13-4754-BB68-767298E11DF8}"/>
              </a:ext>
            </a:extLst>
          </p:cNvPr>
          <p:cNvSpPr txBox="1">
            <a:spLocks noChangeArrowheads="1"/>
          </p:cNvSpPr>
          <p:nvPr/>
        </p:nvSpPr>
        <p:spPr bwMode="auto">
          <a:xfrm>
            <a:off x="8027988" y="1059330"/>
            <a:ext cx="973137"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a:latin typeface="+mn-lt"/>
              </a:rPr>
              <a:t>Edad</a:t>
            </a:r>
            <a:endParaRPr lang="es-ES_tradnl" altLang="es-ES" sz="1800">
              <a:latin typeface="+mn-lt"/>
            </a:endParaRPr>
          </a:p>
        </p:txBody>
      </p:sp>
      <p:sp>
        <p:nvSpPr>
          <p:cNvPr id="19496" name="Text Box 84">
            <a:extLst>
              <a:ext uri="{FF2B5EF4-FFF2-40B4-BE49-F238E27FC236}">
                <a16:creationId xmlns="" xmlns:a16="http://schemas.microsoft.com/office/drawing/2014/main" id="{3B32D9F2-7873-4872-AF71-57813D345340}"/>
              </a:ext>
            </a:extLst>
          </p:cNvPr>
          <p:cNvSpPr txBox="1">
            <a:spLocks noChangeArrowheads="1"/>
          </p:cNvSpPr>
          <p:nvPr/>
        </p:nvSpPr>
        <p:spPr bwMode="auto">
          <a:xfrm>
            <a:off x="252413" y="1091080"/>
            <a:ext cx="863600"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a:latin typeface="+mn-lt"/>
              </a:rPr>
              <a:t>Cod</a:t>
            </a:r>
            <a:endParaRPr lang="es-ES_tradnl" altLang="es-ES" sz="1800">
              <a:latin typeface="+mn-lt"/>
            </a:endParaRPr>
          </a:p>
        </p:txBody>
      </p:sp>
      <p:sp>
        <p:nvSpPr>
          <p:cNvPr id="19497" name="Text Box 85">
            <a:extLst>
              <a:ext uri="{FF2B5EF4-FFF2-40B4-BE49-F238E27FC236}">
                <a16:creationId xmlns="" xmlns:a16="http://schemas.microsoft.com/office/drawing/2014/main" id="{1CD6AD67-4DD7-4166-8FD8-E351AB0AF49F}"/>
              </a:ext>
            </a:extLst>
          </p:cNvPr>
          <p:cNvSpPr txBox="1">
            <a:spLocks noChangeArrowheads="1"/>
          </p:cNvSpPr>
          <p:nvPr/>
        </p:nvSpPr>
        <p:spPr bwMode="auto">
          <a:xfrm>
            <a:off x="1116013" y="1091080"/>
            <a:ext cx="1439862"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dirty="0">
                <a:latin typeface="+mn-lt"/>
              </a:rPr>
              <a:t>Inicial Nombre</a:t>
            </a:r>
            <a:endParaRPr lang="es-ES_tradnl" altLang="es-ES" sz="1800" dirty="0">
              <a:latin typeface="+mn-lt"/>
            </a:endParaRPr>
          </a:p>
        </p:txBody>
      </p:sp>
      <p:sp>
        <p:nvSpPr>
          <p:cNvPr id="19498" name="Text Box 86">
            <a:extLst>
              <a:ext uri="{FF2B5EF4-FFF2-40B4-BE49-F238E27FC236}">
                <a16:creationId xmlns="" xmlns:a16="http://schemas.microsoft.com/office/drawing/2014/main" id="{F57CA088-EC74-4922-9F04-5106F611611B}"/>
              </a:ext>
            </a:extLst>
          </p:cNvPr>
          <p:cNvSpPr txBox="1">
            <a:spLocks noChangeArrowheads="1"/>
          </p:cNvSpPr>
          <p:nvPr/>
        </p:nvSpPr>
        <p:spPr bwMode="auto">
          <a:xfrm>
            <a:off x="2555875" y="1091080"/>
            <a:ext cx="1152525"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s-CO" altLang="es-ES" sz="1800" dirty="0">
                <a:latin typeface="+mn-lt"/>
              </a:rPr>
              <a:t>Apellido</a:t>
            </a:r>
            <a:endParaRPr lang="es-ES_tradnl" altLang="es-ES" sz="1800" dirty="0">
              <a:latin typeface="+mn-lt"/>
            </a:endParaRPr>
          </a:p>
        </p:txBody>
      </p:sp>
      <p:sp>
        <p:nvSpPr>
          <p:cNvPr id="19499" name="Line 87">
            <a:extLst>
              <a:ext uri="{FF2B5EF4-FFF2-40B4-BE49-F238E27FC236}">
                <a16:creationId xmlns="" xmlns:a16="http://schemas.microsoft.com/office/drawing/2014/main" id="{E4F90807-72B3-4881-9706-9340CD3B3688}"/>
              </a:ext>
            </a:extLst>
          </p:cNvPr>
          <p:cNvSpPr>
            <a:spLocks noChangeShapeType="1"/>
          </p:cNvSpPr>
          <p:nvPr/>
        </p:nvSpPr>
        <p:spPr bwMode="auto">
          <a:xfrm flipH="1">
            <a:off x="5219700" y="1922930"/>
            <a:ext cx="2305050" cy="865188"/>
          </a:xfrm>
          <a:prstGeom prst="line">
            <a:avLst/>
          </a:prstGeom>
          <a:noFill/>
          <a:ln w="9525">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2822" name="Text Box 54">
            <a:extLst>
              <a:ext uri="{FF2B5EF4-FFF2-40B4-BE49-F238E27FC236}">
                <a16:creationId xmlns="" xmlns:a16="http://schemas.microsoft.com/office/drawing/2014/main" id="{F1620782-24F3-405E-84B2-F62766CB1131}"/>
              </a:ext>
            </a:extLst>
          </p:cNvPr>
          <p:cNvSpPr txBox="1">
            <a:spLocks noChangeArrowheads="1"/>
          </p:cNvSpPr>
          <p:nvPr/>
        </p:nvSpPr>
        <p:spPr bwMode="auto">
          <a:xfrm>
            <a:off x="3635375" y="1778468"/>
            <a:ext cx="2203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s-MX" sz="1800" b="1" i="1" dirty="0">
                <a:solidFill>
                  <a:srgbClr val="FF3300"/>
                </a:solidFill>
                <a:effectLst>
                  <a:outerShdw blurRad="38100" dist="38100" dir="2700000" algn="tl">
                    <a:srgbClr val="C0C0C0"/>
                  </a:outerShdw>
                </a:effectLst>
              </a:rPr>
              <a:t>Correspondencias</a:t>
            </a:r>
          </a:p>
          <a:p>
            <a:pPr algn="ctr">
              <a:defRPr/>
            </a:pPr>
            <a:r>
              <a:rPr lang="es-MX" sz="1800" b="1" i="1" dirty="0">
                <a:solidFill>
                  <a:srgbClr val="FF3300"/>
                </a:solidFill>
                <a:effectLst>
                  <a:outerShdw blurRad="38100" dist="38100" dir="2700000" algn="tl">
                    <a:srgbClr val="C0C0C0"/>
                  </a:outerShdw>
                </a:effectLst>
              </a:rPr>
              <a:t>Externa / Conceptual</a:t>
            </a:r>
            <a:endParaRPr lang="es-ES" sz="1800" b="1" i="1" dirty="0">
              <a:solidFill>
                <a:srgbClr val="FF3300"/>
              </a:solidFill>
              <a:effectLst>
                <a:outerShdw blurRad="38100" dist="38100" dir="2700000" algn="tl">
                  <a:srgbClr val="C0C0C0"/>
                </a:outerShdw>
              </a:effectLst>
            </a:endParaRPr>
          </a:p>
        </p:txBody>
      </p:sp>
    </p:spTree>
    <p:extLst>
      <p:ext uri="{BB962C8B-B14F-4D97-AF65-F5344CB8AC3E}">
        <p14:creationId xmlns:p14="http://schemas.microsoft.com/office/powerpoint/2010/main" val="3377991661"/>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9463"/>
                                        </p:tgtEl>
                                        <p:attrNameLst>
                                          <p:attrName>style.visibility</p:attrName>
                                        </p:attrNameLst>
                                      </p:cBhvr>
                                      <p:to>
                                        <p:strVal val="visible"/>
                                      </p:to>
                                    </p:set>
                                    <p:animEffect transition="in" filter="randombar(horizontal)">
                                      <p:cBhvr>
                                        <p:cTn id="7" dur="500"/>
                                        <p:tgtEl>
                                          <p:spTgt spid="194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464"/>
                                        </p:tgtEl>
                                        <p:attrNameLst>
                                          <p:attrName>style.visibility</p:attrName>
                                        </p:attrNameLst>
                                      </p:cBhvr>
                                      <p:to>
                                        <p:strVal val="visible"/>
                                      </p:to>
                                    </p:set>
                                    <p:animEffect transition="in" filter="fade">
                                      <p:cBhvr>
                                        <p:cTn id="12" dur="500"/>
                                        <p:tgtEl>
                                          <p:spTgt spid="1946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9478"/>
                                        </p:tgtEl>
                                        <p:attrNameLst>
                                          <p:attrName>style.visibility</p:attrName>
                                        </p:attrNameLst>
                                      </p:cBhvr>
                                      <p:to>
                                        <p:strVal val="visible"/>
                                      </p:to>
                                    </p:set>
                                    <p:animEffect transition="in" filter="randombar(horizontal)">
                                      <p:cBhvr>
                                        <p:cTn id="17" dur="500"/>
                                        <p:tgtEl>
                                          <p:spTgt spid="1947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28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947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948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9484"/>
                                        </p:tgtEl>
                                        <p:attrNameLst>
                                          <p:attrName>style.visibility</p:attrName>
                                        </p:attrNameLst>
                                      </p:cBhvr>
                                      <p:to>
                                        <p:strVal val="visible"/>
                                      </p:to>
                                    </p:set>
                                    <p:animEffect transition="in" filter="randombar(horizontal)">
                                      <p:cBhvr>
                                        <p:cTn id="32" dur="500"/>
                                        <p:tgtEl>
                                          <p:spTgt spid="19484"/>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19483"/>
                                        </p:tgtEl>
                                        <p:attrNameLst>
                                          <p:attrName>style.visibility</p:attrName>
                                        </p:attrNameLst>
                                      </p:cBhvr>
                                      <p:to>
                                        <p:strVal val="visible"/>
                                      </p:to>
                                    </p:set>
                                    <p:animEffect transition="in" filter="randombar(horizontal)">
                                      <p:cBhvr>
                                        <p:cTn id="35" dur="500"/>
                                        <p:tgtEl>
                                          <p:spTgt spid="19483"/>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19481"/>
                                        </p:tgtEl>
                                        <p:attrNameLst>
                                          <p:attrName>style.visibility</p:attrName>
                                        </p:attrNameLst>
                                      </p:cBhvr>
                                      <p:to>
                                        <p:strVal val="visible"/>
                                      </p:to>
                                    </p:set>
                                    <p:animEffect transition="in" filter="randombar(horizontal)">
                                      <p:cBhvr>
                                        <p:cTn id="38" dur="500"/>
                                        <p:tgtEl>
                                          <p:spTgt spid="19481"/>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19482"/>
                                        </p:tgtEl>
                                        <p:attrNameLst>
                                          <p:attrName>style.visibility</p:attrName>
                                        </p:attrNameLst>
                                      </p:cBhvr>
                                      <p:to>
                                        <p:strVal val="visible"/>
                                      </p:to>
                                    </p:set>
                                    <p:animEffect transition="in" filter="randombar(horizontal)">
                                      <p:cBhvr>
                                        <p:cTn id="41" dur="500"/>
                                        <p:tgtEl>
                                          <p:spTgt spid="19482"/>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19487"/>
                                        </p:tgtEl>
                                        <p:attrNameLst>
                                          <p:attrName>style.visibility</p:attrName>
                                        </p:attrNameLst>
                                      </p:cBhvr>
                                      <p:to>
                                        <p:strVal val="visible"/>
                                      </p:to>
                                    </p:set>
                                    <p:animEffect transition="in" filter="randombar(horizontal)">
                                      <p:cBhvr>
                                        <p:cTn id="46" dur="500"/>
                                        <p:tgtEl>
                                          <p:spTgt spid="19487"/>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19486"/>
                                        </p:tgtEl>
                                        <p:attrNameLst>
                                          <p:attrName>style.visibility</p:attrName>
                                        </p:attrNameLst>
                                      </p:cBhvr>
                                      <p:to>
                                        <p:strVal val="visible"/>
                                      </p:to>
                                    </p:set>
                                    <p:animEffect transition="in" filter="randombar(horizontal)">
                                      <p:cBhvr>
                                        <p:cTn id="49" dur="500"/>
                                        <p:tgtEl>
                                          <p:spTgt spid="19486"/>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9485"/>
                                        </p:tgtEl>
                                        <p:attrNameLst>
                                          <p:attrName>style.visibility</p:attrName>
                                        </p:attrNameLst>
                                      </p:cBhvr>
                                      <p:to>
                                        <p:strVal val="visible"/>
                                      </p:to>
                                    </p:set>
                                    <p:animEffect transition="in" filter="randombar(horizontal)">
                                      <p:cBhvr>
                                        <p:cTn id="52" dur="500"/>
                                        <p:tgtEl>
                                          <p:spTgt spid="19485"/>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9488"/>
                                        </p:tgtEl>
                                        <p:attrNameLst>
                                          <p:attrName>style.visibility</p:attrName>
                                        </p:attrNameLst>
                                      </p:cBhvr>
                                      <p:to>
                                        <p:strVal val="visible"/>
                                      </p:to>
                                    </p:set>
                                    <p:animEffect transition="in" filter="randombar(horizontal)">
                                      <p:cBhvr>
                                        <p:cTn id="55" dur="500"/>
                                        <p:tgtEl>
                                          <p:spTgt spid="19488"/>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19489"/>
                                        </p:tgtEl>
                                        <p:attrNameLst>
                                          <p:attrName>style.visibility</p:attrName>
                                        </p:attrNameLst>
                                      </p:cBhvr>
                                      <p:to>
                                        <p:strVal val="visible"/>
                                      </p:to>
                                    </p:set>
                                    <p:animEffect transition="in" filter="randombar(horizontal)">
                                      <p:cBhvr>
                                        <p:cTn id="60" dur="500"/>
                                        <p:tgtEl>
                                          <p:spTgt spid="19489"/>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19490"/>
                                        </p:tgtEl>
                                        <p:attrNameLst>
                                          <p:attrName>style.visibility</p:attrName>
                                        </p:attrNameLst>
                                      </p:cBhvr>
                                      <p:to>
                                        <p:strVal val="visible"/>
                                      </p:to>
                                    </p:set>
                                    <p:animEffect transition="in" filter="randombar(horizontal)">
                                      <p:cBhvr>
                                        <p:cTn id="63" dur="500"/>
                                        <p:tgtEl>
                                          <p:spTgt spid="19490"/>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19492"/>
                                        </p:tgtEl>
                                        <p:attrNameLst>
                                          <p:attrName>style.visibility</p:attrName>
                                        </p:attrNameLst>
                                      </p:cBhvr>
                                      <p:to>
                                        <p:strVal val="visible"/>
                                      </p:to>
                                    </p:set>
                                    <p:animEffect transition="in" filter="randombar(horizontal)">
                                      <p:cBhvr>
                                        <p:cTn id="68" dur="500"/>
                                        <p:tgtEl>
                                          <p:spTgt spid="19492"/>
                                        </p:tgtEl>
                                      </p:cBhvr>
                                    </p:animEffect>
                                  </p:childTnLst>
                                </p:cTn>
                              </p:par>
                              <p:par>
                                <p:cTn id="69" presetID="14" presetClass="entr" presetSubtype="10" fill="hold" grpId="0" nodeType="withEffect">
                                  <p:stCondLst>
                                    <p:cond delay="0"/>
                                  </p:stCondLst>
                                  <p:childTnLst>
                                    <p:set>
                                      <p:cBhvr>
                                        <p:cTn id="70" dur="1" fill="hold">
                                          <p:stCondLst>
                                            <p:cond delay="0"/>
                                          </p:stCondLst>
                                        </p:cTn>
                                        <p:tgtEl>
                                          <p:spTgt spid="19491"/>
                                        </p:tgtEl>
                                        <p:attrNameLst>
                                          <p:attrName>style.visibility</p:attrName>
                                        </p:attrNameLst>
                                      </p:cBhvr>
                                      <p:to>
                                        <p:strVal val="visible"/>
                                      </p:to>
                                    </p:set>
                                    <p:animEffect transition="in" filter="randombar(horizontal)">
                                      <p:cBhvr>
                                        <p:cTn id="71" dur="500"/>
                                        <p:tgtEl>
                                          <p:spTgt spid="19491"/>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9461"/>
                                        </p:tgtEl>
                                        <p:attrNameLst>
                                          <p:attrName>style.visibility</p:attrName>
                                        </p:attrNameLst>
                                      </p:cBhvr>
                                      <p:to>
                                        <p:strVal val="visible"/>
                                      </p:to>
                                    </p:set>
                                    <p:anim calcmode="lin" valueType="num">
                                      <p:cBhvr additive="base">
                                        <p:cTn id="76" dur="500" fill="hold"/>
                                        <p:tgtEl>
                                          <p:spTgt spid="19461"/>
                                        </p:tgtEl>
                                        <p:attrNameLst>
                                          <p:attrName>ppt_x</p:attrName>
                                        </p:attrNameLst>
                                      </p:cBhvr>
                                      <p:tavLst>
                                        <p:tav tm="0">
                                          <p:val>
                                            <p:strVal val="#ppt_x"/>
                                          </p:val>
                                        </p:tav>
                                        <p:tav tm="100000">
                                          <p:val>
                                            <p:strVal val="#ppt_x"/>
                                          </p:val>
                                        </p:tav>
                                      </p:tavLst>
                                    </p:anim>
                                    <p:anim calcmode="lin" valueType="num">
                                      <p:cBhvr additive="base">
                                        <p:cTn id="77"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19496"/>
                                        </p:tgtEl>
                                        <p:attrNameLst>
                                          <p:attrName>style.visibility</p:attrName>
                                        </p:attrNameLst>
                                      </p:cBhvr>
                                      <p:to>
                                        <p:strVal val="visible"/>
                                      </p:to>
                                    </p:set>
                                    <p:animEffect transition="in" filter="randombar(horizontal)">
                                      <p:cBhvr>
                                        <p:cTn id="82" dur="500"/>
                                        <p:tgtEl>
                                          <p:spTgt spid="19496"/>
                                        </p:tgtEl>
                                      </p:cBhvr>
                                    </p:animEffect>
                                  </p:childTnLst>
                                </p:cTn>
                              </p:par>
                              <p:par>
                                <p:cTn id="83" presetID="14" presetClass="entr" presetSubtype="10" fill="hold" grpId="0" nodeType="withEffect">
                                  <p:stCondLst>
                                    <p:cond delay="0"/>
                                  </p:stCondLst>
                                  <p:childTnLst>
                                    <p:set>
                                      <p:cBhvr>
                                        <p:cTn id="84" dur="1" fill="hold">
                                          <p:stCondLst>
                                            <p:cond delay="0"/>
                                          </p:stCondLst>
                                        </p:cTn>
                                        <p:tgtEl>
                                          <p:spTgt spid="19497"/>
                                        </p:tgtEl>
                                        <p:attrNameLst>
                                          <p:attrName>style.visibility</p:attrName>
                                        </p:attrNameLst>
                                      </p:cBhvr>
                                      <p:to>
                                        <p:strVal val="visible"/>
                                      </p:to>
                                    </p:set>
                                    <p:animEffect transition="in" filter="randombar(horizontal)">
                                      <p:cBhvr>
                                        <p:cTn id="85" dur="500"/>
                                        <p:tgtEl>
                                          <p:spTgt spid="19497"/>
                                        </p:tgtEl>
                                      </p:cBhvr>
                                    </p:animEffect>
                                  </p:childTnLst>
                                </p:cTn>
                              </p:par>
                              <p:par>
                                <p:cTn id="86" presetID="14" presetClass="entr" presetSubtype="10" fill="hold" grpId="0" nodeType="withEffect">
                                  <p:stCondLst>
                                    <p:cond delay="0"/>
                                  </p:stCondLst>
                                  <p:childTnLst>
                                    <p:set>
                                      <p:cBhvr>
                                        <p:cTn id="87" dur="1" fill="hold">
                                          <p:stCondLst>
                                            <p:cond delay="0"/>
                                          </p:stCondLst>
                                        </p:cTn>
                                        <p:tgtEl>
                                          <p:spTgt spid="19498"/>
                                        </p:tgtEl>
                                        <p:attrNameLst>
                                          <p:attrName>style.visibility</p:attrName>
                                        </p:attrNameLst>
                                      </p:cBhvr>
                                      <p:to>
                                        <p:strVal val="visible"/>
                                      </p:to>
                                    </p:set>
                                    <p:animEffect transition="in" filter="randombar(horizontal)">
                                      <p:cBhvr>
                                        <p:cTn id="88" dur="500"/>
                                        <p:tgtEl>
                                          <p:spTgt spid="19498"/>
                                        </p:tgtEl>
                                      </p:cBhvr>
                                    </p:animEffect>
                                  </p:childTnLst>
                                </p:cTn>
                              </p:par>
                            </p:childTnLst>
                          </p:cTn>
                        </p:par>
                      </p:childTnLst>
                    </p:cTn>
                  </p:par>
                  <p:par>
                    <p:cTn id="89" fill="hold">
                      <p:stCondLst>
                        <p:cond delay="indefinite"/>
                      </p:stCondLst>
                      <p:childTnLst>
                        <p:par>
                          <p:cTn id="90" fill="hold">
                            <p:stCondLst>
                              <p:cond delay="0"/>
                            </p:stCondLst>
                            <p:childTnLst>
                              <p:par>
                                <p:cTn id="91" presetID="14" presetClass="entr" presetSubtype="10" fill="hold" grpId="0" nodeType="clickEffect">
                                  <p:stCondLst>
                                    <p:cond delay="0"/>
                                  </p:stCondLst>
                                  <p:childTnLst>
                                    <p:set>
                                      <p:cBhvr>
                                        <p:cTn id="92" dur="1" fill="hold">
                                          <p:stCondLst>
                                            <p:cond delay="0"/>
                                          </p:stCondLst>
                                        </p:cTn>
                                        <p:tgtEl>
                                          <p:spTgt spid="19467"/>
                                        </p:tgtEl>
                                        <p:attrNameLst>
                                          <p:attrName>style.visibility</p:attrName>
                                        </p:attrNameLst>
                                      </p:cBhvr>
                                      <p:to>
                                        <p:strVal val="visible"/>
                                      </p:to>
                                    </p:set>
                                    <p:animEffect transition="in" filter="randombar(horizontal)">
                                      <p:cBhvr>
                                        <p:cTn id="93" dur="500"/>
                                        <p:tgtEl>
                                          <p:spTgt spid="19467"/>
                                        </p:tgtEl>
                                      </p:cBhvr>
                                    </p:animEffec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19468"/>
                                        </p:tgtEl>
                                        <p:attrNameLst>
                                          <p:attrName>style.visibility</p:attrName>
                                        </p:attrNameLst>
                                      </p:cBhvr>
                                      <p:to>
                                        <p:strVal val="visible"/>
                                      </p:to>
                                    </p:set>
                                    <p:animEffect transition="in" filter="randombar(horizontal)">
                                      <p:cBhvr>
                                        <p:cTn id="98" dur="500"/>
                                        <p:tgtEl>
                                          <p:spTgt spid="19468"/>
                                        </p:tgtEl>
                                      </p:cBhvr>
                                    </p:animEffect>
                                  </p:childTnLst>
                                </p:cTn>
                              </p:par>
                            </p:childTnLst>
                          </p:cTn>
                        </p:par>
                      </p:childTnLst>
                    </p:cTn>
                  </p:par>
                  <p:par>
                    <p:cTn id="99" fill="hold">
                      <p:stCondLst>
                        <p:cond delay="indefinite"/>
                      </p:stCondLst>
                      <p:childTnLst>
                        <p:par>
                          <p:cTn id="100" fill="hold">
                            <p:stCondLst>
                              <p:cond delay="0"/>
                            </p:stCondLst>
                            <p:childTnLst>
                              <p:par>
                                <p:cTn id="101" presetID="14" presetClass="entr" presetSubtype="10" fill="hold" grpId="0" nodeType="clickEffect">
                                  <p:stCondLst>
                                    <p:cond delay="0"/>
                                  </p:stCondLst>
                                  <p:childTnLst>
                                    <p:set>
                                      <p:cBhvr>
                                        <p:cTn id="102" dur="1" fill="hold">
                                          <p:stCondLst>
                                            <p:cond delay="0"/>
                                          </p:stCondLst>
                                        </p:cTn>
                                        <p:tgtEl>
                                          <p:spTgt spid="19469"/>
                                        </p:tgtEl>
                                        <p:attrNameLst>
                                          <p:attrName>style.visibility</p:attrName>
                                        </p:attrNameLst>
                                      </p:cBhvr>
                                      <p:to>
                                        <p:strVal val="visible"/>
                                      </p:to>
                                    </p:set>
                                    <p:animEffect transition="in" filter="randombar(horizontal)">
                                      <p:cBhvr>
                                        <p:cTn id="103" dur="500"/>
                                        <p:tgtEl>
                                          <p:spTgt spid="19469"/>
                                        </p:tgtEl>
                                      </p:cBhvr>
                                    </p:animEffect>
                                  </p:childTnLst>
                                </p:cTn>
                              </p:par>
                            </p:childTnLst>
                          </p:cTn>
                        </p:par>
                      </p:childTnLst>
                    </p:cTn>
                  </p:par>
                  <p:par>
                    <p:cTn id="104" fill="hold">
                      <p:stCondLst>
                        <p:cond delay="indefinite"/>
                      </p:stCondLst>
                      <p:childTnLst>
                        <p:par>
                          <p:cTn id="105" fill="hold">
                            <p:stCondLst>
                              <p:cond delay="0"/>
                            </p:stCondLst>
                            <p:childTnLst>
                              <p:par>
                                <p:cTn id="106" presetID="14" presetClass="entr" presetSubtype="10" fill="hold" grpId="0" nodeType="clickEffect">
                                  <p:stCondLst>
                                    <p:cond delay="0"/>
                                  </p:stCondLst>
                                  <p:childTnLst>
                                    <p:set>
                                      <p:cBhvr>
                                        <p:cTn id="107" dur="1" fill="hold">
                                          <p:stCondLst>
                                            <p:cond delay="0"/>
                                          </p:stCondLst>
                                        </p:cTn>
                                        <p:tgtEl>
                                          <p:spTgt spid="32822"/>
                                        </p:tgtEl>
                                        <p:attrNameLst>
                                          <p:attrName>style.visibility</p:attrName>
                                        </p:attrNameLst>
                                      </p:cBhvr>
                                      <p:to>
                                        <p:strVal val="visible"/>
                                      </p:to>
                                    </p:set>
                                    <p:animEffect transition="in" filter="randombar(horizontal)">
                                      <p:cBhvr>
                                        <p:cTn id="108" dur="500"/>
                                        <p:tgtEl>
                                          <p:spTgt spid="32822"/>
                                        </p:tgtEl>
                                      </p:cBhvr>
                                    </p:animEffect>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19462"/>
                                        </p:tgtEl>
                                        <p:attrNameLst>
                                          <p:attrName>style.visibility</p:attrName>
                                        </p:attrNameLst>
                                      </p:cBhvr>
                                      <p:to>
                                        <p:strVal val="visible"/>
                                      </p:to>
                                    </p:set>
                                    <p:anim calcmode="lin" valueType="num">
                                      <p:cBhvr additive="base">
                                        <p:cTn id="113" dur="500" fill="hold"/>
                                        <p:tgtEl>
                                          <p:spTgt spid="19462"/>
                                        </p:tgtEl>
                                        <p:attrNameLst>
                                          <p:attrName>ppt_x</p:attrName>
                                        </p:attrNameLst>
                                      </p:cBhvr>
                                      <p:tavLst>
                                        <p:tav tm="0">
                                          <p:val>
                                            <p:strVal val="#ppt_x"/>
                                          </p:val>
                                        </p:tav>
                                        <p:tav tm="100000">
                                          <p:val>
                                            <p:strVal val="#ppt_x"/>
                                          </p:val>
                                        </p:tav>
                                      </p:tavLst>
                                    </p:anim>
                                    <p:anim calcmode="lin" valueType="num">
                                      <p:cBhvr additive="base">
                                        <p:cTn id="114"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4" presetClass="entr" presetSubtype="10" fill="hold" grpId="0" nodeType="clickEffect">
                                  <p:stCondLst>
                                    <p:cond delay="0"/>
                                  </p:stCondLst>
                                  <p:childTnLst>
                                    <p:set>
                                      <p:cBhvr>
                                        <p:cTn id="118" dur="1" fill="hold">
                                          <p:stCondLst>
                                            <p:cond delay="0"/>
                                          </p:stCondLst>
                                        </p:cTn>
                                        <p:tgtEl>
                                          <p:spTgt spid="19493"/>
                                        </p:tgtEl>
                                        <p:attrNameLst>
                                          <p:attrName>style.visibility</p:attrName>
                                        </p:attrNameLst>
                                      </p:cBhvr>
                                      <p:to>
                                        <p:strVal val="visible"/>
                                      </p:to>
                                    </p:set>
                                    <p:animEffect transition="in" filter="randombar(horizontal)">
                                      <p:cBhvr>
                                        <p:cTn id="119" dur="500"/>
                                        <p:tgtEl>
                                          <p:spTgt spid="19493"/>
                                        </p:tgtEl>
                                      </p:cBhvr>
                                    </p:animEffect>
                                  </p:childTnLst>
                                </p:cTn>
                              </p:par>
                              <p:par>
                                <p:cTn id="120" presetID="14" presetClass="entr" presetSubtype="10" fill="hold" grpId="0" nodeType="withEffect">
                                  <p:stCondLst>
                                    <p:cond delay="0"/>
                                  </p:stCondLst>
                                  <p:childTnLst>
                                    <p:set>
                                      <p:cBhvr>
                                        <p:cTn id="121" dur="1" fill="hold">
                                          <p:stCondLst>
                                            <p:cond delay="0"/>
                                          </p:stCondLst>
                                        </p:cTn>
                                        <p:tgtEl>
                                          <p:spTgt spid="19494"/>
                                        </p:tgtEl>
                                        <p:attrNameLst>
                                          <p:attrName>style.visibility</p:attrName>
                                        </p:attrNameLst>
                                      </p:cBhvr>
                                      <p:to>
                                        <p:strVal val="visible"/>
                                      </p:to>
                                    </p:set>
                                    <p:animEffect transition="in" filter="randombar(horizontal)">
                                      <p:cBhvr>
                                        <p:cTn id="122" dur="500"/>
                                        <p:tgtEl>
                                          <p:spTgt spid="19494"/>
                                        </p:tgtEl>
                                      </p:cBhvr>
                                    </p:animEffect>
                                  </p:childTnLst>
                                </p:cTn>
                              </p:par>
                              <p:par>
                                <p:cTn id="123" presetID="14" presetClass="entr" presetSubtype="10" fill="hold" grpId="0" nodeType="withEffect">
                                  <p:stCondLst>
                                    <p:cond delay="0"/>
                                  </p:stCondLst>
                                  <p:childTnLst>
                                    <p:set>
                                      <p:cBhvr>
                                        <p:cTn id="124" dur="1" fill="hold">
                                          <p:stCondLst>
                                            <p:cond delay="0"/>
                                          </p:stCondLst>
                                        </p:cTn>
                                        <p:tgtEl>
                                          <p:spTgt spid="19495"/>
                                        </p:tgtEl>
                                        <p:attrNameLst>
                                          <p:attrName>style.visibility</p:attrName>
                                        </p:attrNameLst>
                                      </p:cBhvr>
                                      <p:to>
                                        <p:strVal val="visible"/>
                                      </p:to>
                                    </p:set>
                                    <p:animEffect transition="in" filter="randombar(horizontal)">
                                      <p:cBhvr>
                                        <p:cTn id="125" dur="500"/>
                                        <p:tgtEl>
                                          <p:spTgt spid="19495"/>
                                        </p:tgtEl>
                                      </p:cBhvr>
                                    </p:animEffect>
                                  </p:childTnLst>
                                </p:cTn>
                              </p:par>
                            </p:childTnLst>
                          </p:cTn>
                        </p:par>
                      </p:childTnLst>
                    </p:cTn>
                  </p:par>
                  <p:par>
                    <p:cTn id="126" fill="hold">
                      <p:stCondLst>
                        <p:cond delay="indefinite"/>
                      </p:stCondLst>
                      <p:childTnLst>
                        <p:par>
                          <p:cTn id="127" fill="hold">
                            <p:stCondLst>
                              <p:cond delay="0"/>
                            </p:stCondLst>
                            <p:childTnLst>
                              <p:par>
                                <p:cTn id="128" presetID="14" presetClass="entr" presetSubtype="10" fill="hold" grpId="0" nodeType="clickEffect">
                                  <p:stCondLst>
                                    <p:cond delay="0"/>
                                  </p:stCondLst>
                                  <p:childTnLst>
                                    <p:set>
                                      <p:cBhvr>
                                        <p:cTn id="129" dur="1" fill="hold">
                                          <p:stCondLst>
                                            <p:cond delay="0"/>
                                          </p:stCondLst>
                                        </p:cTn>
                                        <p:tgtEl>
                                          <p:spTgt spid="19470"/>
                                        </p:tgtEl>
                                        <p:attrNameLst>
                                          <p:attrName>style.visibility</p:attrName>
                                        </p:attrNameLst>
                                      </p:cBhvr>
                                      <p:to>
                                        <p:strVal val="visible"/>
                                      </p:to>
                                    </p:set>
                                    <p:animEffect transition="in" filter="randombar(horizontal)">
                                      <p:cBhvr>
                                        <p:cTn id="130" dur="500"/>
                                        <p:tgtEl>
                                          <p:spTgt spid="19470"/>
                                        </p:tgtEl>
                                      </p:cBhvr>
                                    </p:animEffect>
                                  </p:childTnLst>
                                </p:cTn>
                              </p:par>
                            </p:childTnLst>
                          </p:cTn>
                        </p:par>
                      </p:childTnLst>
                    </p:cTn>
                  </p:par>
                  <p:par>
                    <p:cTn id="131" fill="hold">
                      <p:stCondLst>
                        <p:cond delay="indefinite"/>
                      </p:stCondLst>
                      <p:childTnLst>
                        <p:par>
                          <p:cTn id="132" fill="hold">
                            <p:stCondLst>
                              <p:cond delay="0"/>
                            </p:stCondLst>
                            <p:childTnLst>
                              <p:par>
                                <p:cTn id="133" presetID="14" presetClass="entr" presetSubtype="10" fill="hold" grpId="0" nodeType="clickEffect">
                                  <p:stCondLst>
                                    <p:cond delay="0"/>
                                  </p:stCondLst>
                                  <p:childTnLst>
                                    <p:set>
                                      <p:cBhvr>
                                        <p:cTn id="134" dur="1" fill="hold">
                                          <p:stCondLst>
                                            <p:cond delay="0"/>
                                          </p:stCondLst>
                                        </p:cTn>
                                        <p:tgtEl>
                                          <p:spTgt spid="19471"/>
                                        </p:tgtEl>
                                        <p:attrNameLst>
                                          <p:attrName>style.visibility</p:attrName>
                                        </p:attrNameLst>
                                      </p:cBhvr>
                                      <p:to>
                                        <p:strVal val="visible"/>
                                      </p:to>
                                    </p:set>
                                    <p:animEffect transition="in" filter="randombar(horizontal)">
                                      <p:cBhvr>
                                        <p:cTn id="135" dur="500"/>
                                        <p:tgtEl>
                                          <p:spTgt spid="19471"/>
                                        </p:tgtEl>
                                      </p:cBhvr>
                                    </p:animEffect>
                                  </p:childTnLst>
                                </p:cTn>
                              </p:par>
                              <p:par>
                                <p:cTn id="136" presetID="14" presetClass="entr" presetSubtype="10" fill="hold" grpId="0" nodeType="withEffect">
                                  <p:stCondLst>
                                    <p:cond delay="0"/>
                                  </p:stCondLst>
                                  <p:childTnLst>
                                    <p:set>
                                      <p:cBhvr>
                                        <p:cTn id="137" dur="1" fill="hold">
                                          <p:stCondLst>
                                            <p:cond delay="0"/>
                                          </p:stCondLst>
                                        </p:cTn>
                                        <p:tgtEl>
                                          <p:spTgt spid="19499"/>
                                        </p:tgtEl>
                                        <p:attrNameLst>
                                          <p:attrName>style.visibility</p:attrName>
                                        </p:attrNameLst>
                                      </p:cBhvr>
                                      <p:to>
                                        <p:strVal val="visible"/>
                                      </p:to>
                                    </p:set>
                                    <p:animEffect transition="in" filter="randombar(horizontal)">
                                      <p:cBhvr>
                                        <p:cTn id="138" dur="500"/>
                                        <p:tgtEl>
                                          <p:spTgt spid="19499"/>
                                        </p:tgtEl>
                                      </p:cBhvr>
                                    </p:animEffect>
                                  </p:childTnLst>
                                </p:cTn>
                              </p:par>
                            </p:childTnLst>
                          </p:cTn>
                        </p:par>
                      </p:childTnLst>
                    </p:cTn>
                  </p:par>
                  <p:par>
                    <p:cTn id="139" fill="hold">
                      <p:stCondLst>
                        <p:cond delay="indefinite"/>
                      </p:stCondLst>
                      <p:childTnLst>
                        <p:par>
                          <p:cTn id="140" fill="hold">
                            <p:stCondLst>
                              <p:cond delay="0"/>
                            </p:stCondLst>
                            <p:childTnLst>
                              <p:par>
                                <p:cTn id="141" presetID="14" presetClass="entr" presetSubtype="10" fill="hold" grpId="0" nodeType="clickEffect">
                                  <p:stCondLst>
                                    <p:cond delay="0"/>
                                  </p:stCondLst>
                                  <p:childTnLst>
                                    <p:set>
                                      <p:cBhvr>
                                        <p:cTn id="142" dur="1" fill="hold">
                                          <p:stCondLst>
                                            <p:cond delay="0"/>
                                          </p:stCondLst>
                                        </p:cTn>
                                        <p:tgtEl>
                                          <p:spTgt spid="19472"/>
                                        </p:tgtEl>
                                        <p:attrNameLst>
                                          <p:attrName>style.visibility</p:attrName>
                                        </p:attrNameLst>
                                      </p:cBhvr>
                                      <p:to>
                                        <p:strVal val="visible"/>
                                      </p:to>
                                    </p:set>
                                    <p:animEffect transition="in" filter="randombar(horizontal)">
                                      <p:cBhvr>
                                        <p:cTn id="143" dur="500"/>
                                        <p:tgtEl>
                                          <p:spTgt spid="19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P spid="19462" grpId="0" animBg="1"/>
      <p:bldP spid="19463" grpId="0" animBg="1"/>
      <p:bldP spid="19464" grpId="0" animBg="1"/>
      <p:bldP spid="32821" grpId="0"/>
      <p:bldP spid="19467" grpId="0" animBg="1"/>
      <p:bldP spid="19468" grpId="0" animBg="1"/>
      <p:bldP spid="19469" grpId="0" animBg="1"/>
      <p:bldP spid="19470" grpId="0" animBg="1"/>
      <p:bldP spid="19471" grpId="0" animBg="1"/>
      <p:bldP spid="19472" grpId="0" animBg="1"/>
      <p:bldP spid="19478" grpId="0"/>
      <p:bldP spid="19479" grpId="0" animBg="1"/>
      <p:bldP spid="19480" grpId="0" animBg="1"/>
      <p:bldP spid="19481" grpId="0" animBg="1"/>
      <p:bldP spid="19482" grpId="0" animBg="1"/>
      <p:bldP spid="19483" grpId="0" animBg="1"/>
      <p:bldP spid="19484" grpId="0" animBg="1"/>
      <p:bldP spid="19485" grpId="0" animBg="1"/>
      <p:bldP spid="19486" grpId="0" animBg="1"/>
      <p:bldP spid="19487" grpId="0" animBg="1"/>
      <p:bldP spid="19488" grpId="0" animBg="1"/>
      <p:bldP spid="19489" grpId="0" animBg="1"/>
      <p:bldP spid="19490" grpId="0" animBg="1"/>
      <p:bldP spid="19491" grpId="0" animBg="1"/>
      <p:bldP spid="19492" grpId="0" animBg="1"/>
      <p:bldP spid="19493" grpId="0" animBg="1"/>
      <p:bldP spid="19494" grpId="0" animBg="1"/>
      <p:bldP spid="19495" grpId="0" animBg="1"/>
      <p:bldP spid="19496" grpId="0" animBg="1"/>
      <p:bldP spid="19497" grpId="0" animBg="1"/>
      <p:bldP spid="19498" grpId="0" animBg="1"/>
      <p:bldP spid="19499" grpId="0" animBg="1"/>
      <p:bldP spid="328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Esquemas</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La descripción completa de una BD se denomina esquema</a:t>
            </a:r>
          </a:p>
          <a:p>
            <a:r>
              <a:rPr lang="es-MX" altLang="es-ES" sz="1800" dirty="0"/>
              <a:t>Cada visión de usuario tiene su esquema (</a:t>
            </a:r>
            <a:r>
              <a:rPr lang="es-MX" altLang="es-ES" sz="1800" dirty="0" err="1"/>
              <a:t>subesquema</a:t>
            </a:r>
            <a:r>
              <a:rPr lang="es-MX" altLang="es-ES" sz="1800" dirty="0"/>
              <a:t>), existe un esquema conceptual/lógico y uno interno</a:t>
            </a:r>
          </a:p>
          <a:p>
            <a:r>
              <a:rPr lang="es-MX" altLang="es-ES" sz="1800" dirty="0"/>
              <a:t>Existen correspondencias (</a:t>
            </a:r>
            <a:r>
              <a:rPr lang="es-MX" altLang="es-ES" sz="1800" dirty="0" err="1"/>
              <a:t>mappings</a:t>
            </a:r>
            <a:r>
              <a:rPr lang="es-MX" altLang="es-ES" sz="1800" dirty="0"/>
              <a:t>): </a:t>
            </a:r>
          </a:p>
          <a:p>
            <a:r>
              <a:rPr lang="es-MX" altLang="es-ES" sz="1800" dirty="0"/>
              <a:t>entre cada </a:t>
            </a:r>
            <a:r>
              <a:rPr lang="es-MX" altLang="es-ES" sz="1800" dirty="0" err="1"/>
              <a:t>subesquema</a:t>
            </a:r>
            <a:r>
              <a:rPr lang="es-MX" altLang="es-ES" sz="1800" dirty="0"/>
              <a:t> externo y el conceptual</a:t>
            </a:r>
          </a:p>
          <a:p>
            <a:r>
              <a:rPr lang="es-MX" altLang="es-ES" sz="1800" dirty="0"/>
              <a:t>entre el esquema conceptual y el interno</a:t>
            </a:r>
          </a:p>
          <a:p>
            <a:r>
              <a:rPr lang="es-MX" altLang="es-ES" sz="1800" dirty="0"/>
              <a:t>Estas correspondencias le permiten al SGBD saber, </a:t>
            </a:r>
            <a:r>
              <a:rPr lang="es-MX" altLang="es-ES" sz="1800" dirty="0" err="1"/>
              <a:t>e.g</a:t>
            </a:r>
            <a:r>
              <a:rPr lang="es-MX" altLang="es-ES" sz="1800" dirty="0"/>
              <a:t>., un elemento conceptual con cual elemento del nivel físico se corresponde</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436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Esquemas</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En teoría debería existir un lenguaje de descripción para cada esquema (nivel)*</a:t>
            </a:r>
          </a:p>
          <a:p>
            <a:r>
              <a:rPr lang="es-MX" altLang="es-ES" sz="1800" dirty="0"/>
              <a:t>Sin embargo, en la práctica en muchos SGBD el esquema lógico queda fusionado con la especificación del esquema interno</a:t>
            </a:r>
          </a:p>
          <a:p>
            <a:pPr marL="0" indent="0">
              <a:buNone/>
            </a:pPr>
            <a:r>
              <a:rPr lang="es-MX" altLang="es-ES" sz="1800" dirty="0" smtClean="0"/>
              <a:t>* </a:t>
            </a:r>
            <a:r>
              <a:rPr lang="es-MX" altLang="es-ES" sz="1800" dirty="0"/>
              <a:t>No siempre sucede así en los SGBD actuales…</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366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Concepto de modelo</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La realidad concreta, con todos sus detalles no se puede captar y hay detalles que NO interesan:</a:t>
            </a:r>
          </a:p>
          <a:p>
            <a:r>
              <a:rPr lang="es-MX" altLang="es-ES" sz="1800" dirty="0"/>
              <a:t>N observadores de un fenómeno tendrán al menos N percepciones, posiblemente distintas, del mismo fenómeno</a:t>
            </a:r>
          </a:p>
          <a:p>
            <a:r>
              <a:rPr lang="es-MX" altLang="es-ES" sz="1800" dirty="0"/>
              <a:t>Modelo: Herramienta para comunicar y plasmar la representación de algún fenómeno del mundo real</a:t>
            </a:r>
          </a:p>
          <a:p>
            <a:r>
              <a:rPr lang="es-MX" altLang="es-ES" sz="1800" dirty="0"/>
              <a:t>Esa representación ayuda a la comprensión del fenómeno</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968189"/>
            <a:ext cx="0" cy="47072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4">
            <a:extLst>
              <a:ext uri="{FF2B5EF4-FFF2-40B4-BE49-F238E27FC236}">
                <a16:creationId xmlns="" xmlns:a16="http://schemas.microsoft.com/office/drawing/2014/main" id="{2F104073-3F66-062A-FCA3-1424C135A7B9}"/>
              </a:ext>
            </a:extLst>
          </p:cNvPr>
          <p:cNvSpPr txBox="1">
            <a:spLocks noChangeArrowheads="1"/>
          </p:cNvSpPr>
          <p:nvPr/>
        </p:nvSpPr>
        <p:spPr bwMode="auto">
          <a:xfrm>
            <a:off x="1378081" y="5723964"/>
            <a:ext cx="6156325" cy="457200"/>
          </a:xfrm>
          <a:prstGeom prst="rect">
            <a:avLst/>
          </a:prstGeom>
          <a:ln/>
        </p:spPr>
        <p:style>
          <a:lnRef idx="0">
            <a:schemeClr val="accent2"/>
          </a:lnRef>
          <a:fillRef idx="3">
            <a:schemeClr val="accent2"/>
          </a:fillRef>
          <a:effectRef idx="3">
            <a:schemeClr val="accent2"/>
          </a:effectRef>
          <a:fontRef idx="minor">
            <a:schemeClr val="lt1"/>
          </a:fontRef>
        </p:style>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s-CO" altLang="es-ES" sz="2400" dirty="0">
                <a:latin typeface="+mn-lt"/>
              </a:rPr>
              <a:t>Captar lo que le interesa a la organización</a:t>
            </a:r>
            <a:endParaRPr lang="es-ES_tradnl" altLang="es-ES" sz="2400" dirty="0">
              <a:latin typeface="+mn-lt"/>
            </a:endParaRPr>
          </a:p>
        </p:txBody>
      </p:sp>
    </p:spTree>
    <p:extLst>
      <p:ext uri="{BB962C8B-B14F-4D97-AF65-F5344CB8AC3E}">
        <p14:creationId xmlns:p14="http://schemas.microsoft.com/office/powerpoint/2010/main" val="94049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2" name="Line 18">
            <a:extLst>
              <a:ext uri="{FF2B5EF4-FFF2-40B4-BE49-F238E27FC236}">
                <a16:creationId xmlns="" xmlns:a16="http://schemas.microsoft.com/office/drawing/2014/main" id="{DDC1B140-C8F4-4F9C-97CB-278D1E571563}"/>
              </a:ext>
            </a:extLst>
          </p:cNvPr>
          <p:cNvSpPr>
            <a:spLocks noChangeShapeType="1"/>
          </p:cNvSpPr>
          <p:nvPr/>
        </p:nvSpPr>
        <p:spPr bwMode="auto">
          <a:xfrm flipH="1" flipV="1">
            <a:off x="2676014" y="2587332"/>
            <a:ext cx="728047" cy="88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4838" name="Line 24">
            <a:extLst>
              <a:ext uri="{FF2B5EF4-FFF2-40B4-BE49-F238E27FC236}">
                <a16:creationId xmlns="" xmlns:a16="http://schemas.microsoft.com/office/drawing/2014/main" id="{BD877618-BDCA-4035-9F37-E4DB3E5FF41D}"/>
              </a:ext>
            </a:extLst>
          </p:cNvPr>
          <p:cNvSpPr>
            <a:spLocks noChangeShapeType="1"/>
          </p:cNvSpPr>
          <p:nvPr/>
        </p:nvSpPr>
        <p:spPr bwMode="auto">
          <a:xfrm flipH="1" flipV="1">
            <a:off x="2669614" y="4098670"/>
            <a:ext cx="728046" cy="88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graphicFrame>
        <p:nvGraphicFramePr>
          <p:cNvPr id="2" name="Diagrama 1">
            <a:extLst>
              <a:ext uri="{FF2B5EF4-FFF2-40B4-BE49-F238E27FC236}">
                <a16:creationId xmlns="" xmlns:a16="http://schemas.microsoft.com/office/drawing/2014/main" id="{10E70CA6-D1B7-4156-BDC4-D223491E01A6}"/>
              </a:ext>
            </a:extLst>
          </p:cNvPr>
          <p:cNvGraphicFramePr/>
          <p:nvPr>
            <p:extLst/>
          </p:nvPr>
        </p:nvGraphicFramePr>
        <p:xfrm>
          <a:off x="3404064" y="712694"/>
          <a:ext cx="4752727" cy="555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ángulo 2">
            <a:extLst>
              <a:ext uri="{FF2B5EF4-FFF2-40B4-BE49-F238E27FC236}">
                <a16:creationId xmlns="" xmlns:a16="http://schemas.microsoft.com/office/drawing/2014/main" id="{DD90D3A1-41EB-4F71-A687-0707F6ACBAB5}"/>
              </a:ext>
            </a:extLst>
          </p:cNvPr>
          <p:cNvSpPr/>
          <p:nvPr/>
        </p:nvSpPr>
        <p:spPr>
          <a:xfrm>
            <a:off x="406511" y="2211588"/>
            <a:ext cx="2263103" cy="8507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s-AR" sz="1400" dirty="0"/>
              <a:t>ER (Entidad – Relación)</a:t>
            </a:r>
          </a:p>
          <a:p>
            <a:pPr marL="285750" indent="-285750">
              <a:buFont typeface="Arial" panose="020B0604020202020204" pitchFamily="34" charset="0"/>
              <a:buChar char="•"/>
            </a:pPr>
            <a:r>
              <a:rPr lang="es-AR" sz="1400" dirty="0"/>
              <a:t>Clases</a:t>
            </a:r>
          </a:p>
          <a:p>
            <a:pPr marL="285750" indent="-285750">
              <a:buFont typeface="Arial" panose="020B0604020202020204" pitchFamily="34" charset="0"/>
              <a:buChar char="•"/>
            </a:pPr>
            <a:r>
              <a:rPr lang="es-AR" sz="1400" dirty="0"/>
              <a:t>Semántico</a:t>
            </a:r>
          </a:p>
        </p:txBody>
      </p:sp>
      <p:sp>
        <p:nvSpPr>
          <p:cNvPr id="38" name="Rectángulo 37">
            <a:extLst>
              <a:ext uri="{FF2B5EF4-FFF2-40B4-BE49-F238E27FC236}">
                <a16:creationId xmlns="" xmlns:a16="http://schemas.microsoft.com/office/drawing/2014/main" id="{9CA2EB66-0C4D-4FCE-A40B-6283F72B47CB}"/>
              </a:ext>
            </a:extLst>
          </p:cNvPr>
          <p:cNvSpPr/>
          <p:nvPr/>
        </p:nvSpPr>
        <p:spPr>
          <a:xfrm>
            <a:off x="852638" y="3400228"/>
            <a:ext cx="1821222" cy="132419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s-AR" sz="1400" dirty="0"/>
              <a:t>Red</a:t>
            </a:r>
          </a:p>
          <a:p>
            <a:pPr marL="285750" indent="-285750">
              <a:buFont typeface="Arial" panose="020B0604020202020204" pitchFamily="34" charset="0"/>
              <a:buChar char="•"/>
            </a:pPr>
            <a:r>
              <a:rPr lang="es-AR" sz="1400" dirty="0"/>
              <a:t>Jerárquico</a:t>
            </a:r>
          </a:p>
          <a:p>
            <a:pPr marL="285750" indent="-285750">
              <a:buFont typeface="Arial" panose="020B0604020202020204" pitchFamily="34" charset="0"/>
              <a:buChar char="•"/>
            </a:pPr>
            <a:r>
              <a:rPr lang="es-AR" sz="1400" dirty="0"/>
              <a:t>Relacional</a:t>
            </a:r>
          </a:p>
          <a:p>
            <a:pPr marL="285750" indent="-285750">
              <a:buFont typeface="Arial" panose="020B0604020202020204" pitchFamily="34" charset="0"/>
              <a:buChar char="•"/>
            </a:pPr>
            <a:r>
              <a:rPr lang="es-AR" sz="1400" dirty="0"/>
              <a:t>Objetual</a:t>
            </a:r>
          </a:p>
          <a:p>
            <a:pPr marL="285750" indent="-285750">
              <a:buFont typeface="Arial" panose="020B0604020202020204" pitchFamily="34" charset="0"/>
              <a:buChar char="•"/>
            </a:pPr>
            <a:r>
              <a:rPr lang="es-AR" sz="1400" dirty="0"/>
              <a:t>Objeto-Relacional</a:t>
            </a:r>
          </a:p>
        </p:txBody>
      </p:sp>
      <p:sp>
        <p:nvSpPr>
          <p:cNvPr id="39" name="Rectángulo 38">
            <a:extLst>
              <a:ext uri="{FF2B5EF4-FFF2-40B4-BE49-F238E27FC236}">
                <a16:creationId xmlns="" xmlns:a16="http://schemas.microsoft.com/office/drawing/2014/main" id="{E1A7398B-3F5E-4620-95B9-529156163741}"/>
              </a:ext>
            </a:extLst>
          </p:cNvPr>
          <p:cNvSpPr/>
          <p:nvPr/>
        </p:nvSpPr>
        <p:spPr>
          <a:xfrm>
            <a:off x="852638" y="5017606"/>
            <a:ext cx="1821222" cy="132419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s-AR" sz="1400" dirty="0"/>
              <a:t>Oracle</a:t>
            </a:r>
          </a:p>
          <a:p>
            <a:pPr marL="285750" indent="-285750">
              <a:buFont typeface="Arial" panose="020B0604020202020204" pitchFamily="34" charset="0"/>
              <a:buChar char="•"/>
            </a:pPr>
            <a:r>
              <a:rPr lang="es-AR" sz="1400" dirty="0"/>
              <a:t>MySQL</a:t>
            </a:r>
          </a:p>
          <a:p>
            <a:pPr marL="285750" indent="-285750">
              <a:buFont typeface="Arial" panose="020B0604020202020204" pitchFamily="34" charset="0"/>
              <a:buChar char="•"/>
            </a:pPr>
            <a:r>
              <a:rPr lang="es-AR" sz="1400" dirty="0"/>
              <a:t>SQL Server</a:t>
            </a:r>
          </a:p>
          <a:p>
            <a:pPr marL="285750" indent="-285750">
              <a:buFont typeface="Arial" panose="020B0604020202020204" pitchFamily="34" charset="0"/>
              <a:buChar char="•"/>
            </a:pPr>
            <a:r>
              <a:rPr lang="es-AR" sz="1400" dirty="0"/>
              <a:t>IBM DB2</a:t>
            </a:r>
          </a:p>
          <a:p>
            <a:pPr marL="285750" indent="-285750">
              <a:buFont typeface="Arial" panose="020B0604020202020204" pitchFamily="34" charset="0"/>
              <a:buChar char="•"/>
            </a:pPr>
            <a:r>
              <a:rPr lang="es-AR" sz="1400" dirty="0"/>
              <a:t>…</a:t>
            </a:r>
          </a:p>
        </p:txBody>
      </p:sp>
      <p:sp>
        <p:nvSpPr>
          <p:cNvPr id="40" name="Line 24">
            <a:extLst>
              <a:ext uri="{FF2B5EF4-FFF2-40B4-BE49-F238E27FC236}">
                <a16:creationId xmlns="" xmlns:a16="http://schemas.microsoft.com/office/drawing/2014/main" id="{D491BF23-C83C-408A-B990-E30CF77E1AED}"/>
              </a:ext>
            </a:extLst>
          </p:cNvPr>
          <p:cNvSpPr>
            <a:spLocks noChangeShapeType="1"/>
          </p:cNvSpPr>
          <p:nvPr/>
        </p:nvSpPr>
        <p:spPr bwMode="auto">
          <a:xfrm flipH="1" flipV="1">
            <a:off x="2674935" y="5660230"/>
            <a:ext cx="730204" cy="88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 name="Flecha: hacia abajo 3">
            <a:extLst>
              <a:ext uri="{FF2B5EF4-FFF2-40B4-BE49-F238E27FC236}">
                <a16:creationId xmlns="" xmlns:a16="http://schemas.microsoft.com/office/drawing/2014/main" id="{FA6B6612-92C1-4E63-8295-78CE2F565EEA}"/>
              </a:ext>
            </a:extLst>
          </p:cNvPr>
          <p:cNvSpPr/>
          <p:nvPr/>
        </p:nvSpPr>
        <p:spPr>
          <a:xfrm>
            <a:off x="5723186" y="1736099"/>
            <a:ext cx="359116" cy="275041"/>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42" name="Flecha: hacia abajo 41">
            <a:extLst>
              <a:ext uri="{FF2B5EF4-FFF2-40B4-BE49-F238E27FC236}">
                <a16:creationId xmlns="" xmlns:a16="http://schemas.microsoft.com/office/drawing/2014/main" id="{01E8A6D5-9B4A-4D5A-8E38-02020ADC8696}"/>
              </a:ext>
            </a:extLst>
          </p:cNvPr>
          <p:cNvSpPr/>
          <p:nvPr/>
        </p:nvSpPr>
        <p:spPr>
          <a:xfrm>
            <a:off x="5723186" y="3254902"/>
            <a:ext cx="359116" cy="275041"/>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43" name="Flecha: hacia abajo 42">
            <a:extLst>
              <a:ext uri="{FF2B5EF4-FFF2-40B4-BE49-F238E27FC236}">
                <a16:creationId xmlns="" xmlns:a16="http://schemas.microsoft.com/office/drawing/2014/main" id="{0C18A4B7-03F0-46DB-9C19-E49283689C9D}"/>
              </a:ext>
            </a:extLst>
          </p:cNvPr>
          <p:cNvSpPr/>
          <p:nvPr/>
        </p:nvSpPr>
        <p:spPr>
          <a:xfrm>
            <a:off x="5728447" y="4773705"/>
            <a:ext cx="359116" cy="275041"/>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450551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Modelo Conceptual</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Un modelo conceptual, en BD, es una descripción de alto nivel de la estructura de la BD, independiente del SGBD que se vaya a usar</a:t>
            </a:r>
          </a:p>
          <a:p>
            <a:r>
              <a:rPr lang="es-MX" altLang="es-ES" sz="1800" dirty="0"/>
              <a:t>El diseño de un modelo conceptual parte de la especificación de requisitos</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400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Modelo Conceptual</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El propósito del modelo conceptual es describir la estructura de los datos de la BD, en vez de las estructuras de almacenamiento que se requerirán para manejar dichos datos</a:t>
            </a:r>
          </a:p>
          <a:p>
            <a:r>
              <a:rPr lang="es-MX" altLang="es-ES" sz="1800" dirty="0"/>
              <a:t>Se expresa mediante un lenguaje de alto nivel</a:t>
            </a:r>
          </a:p>
          <a:p>
            <a:r>
              <a:rPr lang="es-MX" altLang="es-ES" sz="1800" dirty="0"/>
              <a:t>Es un modelo de datos que describe un conjunto de conceptos de una realidad y cómo se relacionan entre ellos</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549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Modelo Conceptual</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altLang="es-ES" sz="1800" dirty="0"/>
              <a:t>Características deseables:</a:t>
            </a:r>
          </a:p>
          <a:p>
            <a:r>
              <a:rPr lang="es-MX" altLang="es-ES" sz="1800" dirty="0"/>
              <a:t>Expresividad: Representación de gran variedad de restricciones</a:t>
            </a:r>
          </a:p>
          <a:p>
            <a:r>
              <a:rPr lang="es-MX" altLang="es-ES" sz="1800" dirty="0"/>
              <a:t>Simplicidad: Usualmente es fácil de comprender por los usuarios</a:t>
            </a:r>
          </a:p>
          <a:p>
            <a:r>
              <a:rPr lang="es-MX" altLang="es-ES" sz="1800" dirty="0" err="1"/>
              <a:t>Minimalidad</a:t>
            </a:r>
            <a:r>
              <a:rPr lang="es-MX" altLang="es-ES" sz="1800" dirty="0"/>
              <a:t>: Un concepto no se puede expresar con otros conceptos</a:t>
            </a:r>
          </a:p>
          <a:p>
            <a:r>
              <a:rPr lang="es-MX" altLang="es-ES" sz="1800" dirty="0"/>
              <a:t>Formalidad: Conceptos con interpretación única, precisa y bien definida</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463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es-ES_tradnl" altLang="es-ES" sz="4000" dirty="0"/>
              <a:t>Modelo Conceptual</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es-ES" sz="1800" dirty="0"/>
              <a:t>Los modelos conceptuales más usados para BD son</a:t>
            </a:r>
          </a:p>
          <a:p>
            <a:pPr lvl="1"/>
            <a:r>
              <a:rPr lang="es-ES" altLang="es-ES" sz="1800" dirty="0"/>
              <a:t>Entidad Relación (E-R)  El más usado y base del curso</a:t>
            </a:r>
          </a:p>
          <a:p>
            <a:pPr lvl="1"/>
            <a:r>
              <a:rPr lang="es-ES" altLang="es-ES" sz="1800" dirty="0"/>
              <a:t>Semántico</a:t>
            </a:r>
          </a:p>
          <a:p>
            <a:pPr lvl="1"/>
            <a:r>
              <a:rPr lang="es-ES" altLang="es-ES" sz="1800" dirty="0"/>
              <a:t>Diagrama de clases de UML </a:t>
            </a:r>
            <a:endParaRPr lang="es-MX" altLang="es-ES" sz="1800" dirty="0"/>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0105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Modelo Lógico</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es-ES" sz="1800" dirty="0"/>
              <a:t>Un modelo lógico en BD es una descripción de la estructura de la BD</a:t>
            </a:r>
          </a:p>
          <a:p>
            <a:r>
              <a:rPr lang="es-ES" altLang="es-ES" sz="1800" dirty="0"/>
              <a:t>Puede ser procesado por un SGBD</a:t>
            </a:r>
          </a:p>
          <a:p>
            <a:r>
              <a:rPr lang="es-ES" altLang="es-ES" sz="1800" dirty="0"/>
              <a:t>El diseño de un modelo lógico parte de un modelo conceptual</a:t>
            </a:r>
          </a:p>
          <a:p>
            <a:r>
              <a:rPr lang="es-ES" altLang="es-ES" sz="1800" dirty="0"/>
              <a:t>Sigue siendo un lenguaje de alto nivel pero más detallado que el modelo conceptual</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0868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Modelo Lógico</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4023584"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es-ES" sz="1800" dirty="0"/>
              <a:t>Los modelos lógicos más usados son:</a:t>
            </a:r>
          </a:p>
          <a:p>
            <a:r>
              <a:rPr lang="es-ES" altLang="es-ES" sz="1800" dirty="0"/>
              <a:t>Relacional </a:t>
            </a:r>
            <a:endParaRPr lang="es-ES" altLang="es-ES" sz="1800" dirty="0" smtClean="0"/>
          </a:p>
          <a:p>
            <a:pPr lvl="1"/>
            <a:r>
              <a:rPr lang="es-ES" altLang="es-ES" sz="1400" dirty="0" smtClean="0"/>
              <a:t> </a:t>
            </a:r>
            <a:r>
              <a:rPr lang="es-ES" altLang="es-ES" sz="1400" dirty="0"/>
              <a:t>El más usado y base del curso</a:t>
            </a:r>
          </a:p>
          <a:p>
            <a:r>
              <a:rPr lang="es-ES" altLang="es-ES" sz="1800" dirty="0"/>
              <a:t>Objeto – Relacional</a:t>
            </a:r>
          </a:p>
          <a:p>
            <a:r>
              <a:rPr lang="es-ES" altLang="es-ES" sz="1800" dirty="0"/>
              <a:t>Objetual puro</a:t>
            </a:r>
          </a:p>
          <a:p>
            <a:r>
              <a:rPr lang="es-ES" altLang="es-ES" sz="1800" dirty="0"/>
              <a:t>Anteriores (primitivos):</a:t>
            </a:r>
          </a:p>
          <a:p>
            <a:r>
              <a:rPr lang="es-ES" altLang="es-ES" sz="1800" dirty="0"/>
              <a:t>Red </a:t>
            </a:r>
          </a:p>
          <a:p>
            <a:r>
              <a:rPr lang="es-ES" altLang="es-ES" sz="1800" dirty="0"/>
              <a:t>Jerárquico </a:t>
            </a:r>
            <a:endParaRPr lang="es-ES" altLang="es-ES" sz="1800" dirty="0" smtClean="0"/>
          </a:p>
          <a:p>
            <a:pPr lvl="1"/>
            <a:r>
              <a:rPr lang="es-ES" altLang="es-ES" sz="1400" dirty="0" smtClean="0"/>
              <a:t> </a:t>
            </a:r>
            <a:r>
              <a:rPr lang="es-ES" altLang="es-ES" sz="1400" dirty="0"/>
              <a:t>Similitud con la organización jerárquica de los documentos XML…</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974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Modelo Lógico</a:t>
            </a:r>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es-ES" sz="1800" dirty="0"/>
              <a:t>La elección del modelo lógico depende de la clase de modelo soportado por el tipo de SGBD, NO de un SGBD específico (es decir, el diseño del modelo lógico se efectúa igual para todos los SGBD relacionales porque todos soportan el modelo relacional)</a:t>
            </a:r>
          </a:p>
          <a:p>
            <a:r>
              <a:rPr lang="es-ES" altLang="es-ES" sz="1800" dirty="0"/>
              <a:t>El modelo lógico está entre el modelo conceptual y el modelo físico ** </a:t>
            </a:r>
          </a:p>
          <a:p>
            <a:r>
              <a:rPr lang="es-ES" altLang="es-ES" sz="1800" dirty="0"/>
              <a:t>Sin embargo, en algunos SGBD la especificación del modelo lógico queda fusionada con elementos del modelo físico.</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518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B33746AE-9298-12B9-1D1A-635FAE796340}"/>
              </a:ext>
            </a:extLst>
          </p:cNvPr>
          <p:cNvSpPr txBox="1">
            <a:spLocks noChangeArrowheads="1"/>
          </p:cNvSpPr>
          <p:nvPr/>
        </p:nvSpPr>
        <p:spPr>
          <a:xfrm>
            <a:off x="376519" y="2895599"/>
            <a:ext cx="3589427" cy="27737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pPr algn="r"/>
            <a:r>
              <a:rPr lang="es-ES_tradnl" altLang="es-ES" sz="4000" dirty="0"/>
              <a:t>Modelo </a:t>
            </a:r>
            <a:r>
              <a:rPr lang="es-ES_tradnl" altLang="es-ES" sz="4000" dirty="0" smtClean="0"/>
              <a:t>Físico</a:t>
            </a:r>
            <a:endParaRPr lang="es-ES_tradnl" altLang="es-ES" sz="4000" dirty="0"/>
          </a:p>
        </p:txBody>
      </p:sp>
      <p:sp>
        <p:nvSpPr>
          <p:cNvPr id="5" name="Rectangle 3">
            <a:extLst>
              <a:ext uri="{FF2B5EF4-FFF2-40B4-BE49-F238E27FC236}">
                <a16:creationId xmlns="" xmlns:a16="http://schemas.microsoft.com/office/drawing/2014/main" id="{755C2461-9338-C639-8A71-035F8390963D}"/>
              </a:ext>
            </a:extLst>
          </p:cNvPr>
          <p:cNvSpPr txBox="1">
            <a:spLocks noChangeArrowheads="1"/>
          </p:cNvSpPr>
          <p:nvPr/>
        </p:nvSpPr>
        <p:spPr>
          <a:xfrm>
            <a:off x="4690110" y="1004047"/>
            <a:ext cx="3303006" cy="492692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es-ES" sz="1800" dirty="0"/>
              <a:t>Un modelo físico es una descripción de la implantación de una BD en disco</a:t>
            </a:r>
          </a:p>
          <a:p>
            <a:r>
              <a:rPr lang="es-ES" altLang="es-ES" sz="1800" dirty="0"/>
              <a:t>Describe las estructuras de almacenamiento y las técnicas para </a:t>
            </a:r>
            <a:r>
              <a:rPr lang="es-ES" altLang="es-ES" sz="1800" dirty="0" err="1"/>
              <a:t>accesar</a:t>
            </a:r>
            <a:r>
              <a:rPr lang="es-ES" altLang="es-ES" sz="1800" dirty="0"/>
              <a:t> los datos</a:t>
            </a:r>
          </a:p>
          <a:p>
            <a:r>
              <a:rPr lang="es-ES" altLang="es-ES" sz="1800" dirty="0"/>
              <a:t>El diseño de un modelo físico depende de un SGBD específico</a:t>
            </a:r>
          </a:p>
        </p:txBody>
      </p:sp>
      <p:cxnSp>
        <p:nvCxnSpPr>
          <p:cNvPr id="6" name="Conector recto 5">
            <a:extLst>
              <a:ext uri="{FF2B5EF4-FFF2-40B4-BE49-F238E27FC236}">
                <a16:creationId xmlns="" xmlns:a16="http://schemas.microsoft.com/office/drawing/2014/main" id="{63FA3A0E-AF3B-CC04-1385-671DE4CDA80C}"/>
              </a:ext>
            </a:extLst>
          </p:cNvPr>
          <p:cNvCxnSpPr/>
          <p:nvPr/>
        </p:nvCxnSpPr>
        <p:spPr>
          <a:xfrm flipV="1">
            <a:off x="4222376" y="749367"/>
            <a:ext cx="0"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0017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a:extLst>
              <a:ext uri="{FF2B5EF4-FFF2-40B4-BE49-F238E27FC236}">
                <a16:creationId xmlns="" xmlns:a16="http://schemas.microsoft.com/office/drawing/2014/main" id="{7BD96518-34C3-43F1-BAFD-401C630BC56A}"/>
              </a:ext>
            </a:extLst>
          </p:cNvPr>
          <p:cNvSpPr>
            <a:spLocks noGrp="1" noChangeArrowheads="1"/>
          </p:cNvSpPr>
          <p:nvPr>
            <p:ph idx="1"/>
          </p:nvPr>
        </p:nvSpPr>
        <p:spPr>
          <a:xfrm>
            <a:off x="707457" y="2050181"/>
            <a:ext cx="7807893" cy="4126782"/>
          </a:xfrm>
        </p:spPr>
        <p:txBody>
          <a:bodyPr>
            <a:normAutofit/>
          </a:bodyPr>
          <a:lstStyle/>
          <a:p>
            <a:r>
              <a:rPr lang="es-MX" altLang="es-ES" dirty="0"/>
              <a:t>Se presentarán los modelos conceptuales </a:t>
            </a:r>
          </a:p>
          <a:p>
            <a:pPr>
              <a:buFontTx/>
              <a:buNone/>
            </a:pPr>
            <a:r>
              <a:rPr lang="es-MX" altLang="es-ES" i="1" dirty="0"/>
              <a:t>	</a:t>
            </a:r>
            <a:r>
              <a:rPr lang="es-MX" altLang="es-ES" dirty="0"/>
              <a:t>E-R y semántico</a:t>
            </a:r>
          </a:p>
          <a:p>
            <a:r>
              <a:rPr lang="es-MX" altLang="es-ES" dirty="0"/>
              <a:t>Como modelo lógico se presentará el </a:t>
            </a:r>
            <a:r>
              <a:rPr lang="es-MX" altLang="es-ES" i="1" dirty="0"/>
              <a:t>relacional</a:t>
            </a:r>
          </a:p>
          <a:p>
            <a:r>
              <a:rPr lang="es-MX" altLang="es-ES" dirty="0"/>
              <a:t>Para el modelo Físico, usaremos MySQL. </a:t>
            </a:r>
          </a:p>
          <a:p>
            <a:r>
              <a:rPr lang="es-MX" altLang="es-ES" dirty="0"/>
              <a:t>Se comienza con el modelo E-R…</a:t>
            </a:r>
          </a:p>
          <a:p>
            <a:pPr>
              <a:buFontTx/>
              <a:buNone/>
            </a:pPr>
            <a:endParaRPr lang="es-ES" altLang="es-ES" dirty="0"/>
          </a:p>
        </p:txBody>
      </p:sp>
      <p:sp>
        <p:nvSpPr>
          <p:cNvPr id="15" name="Rectangle 6">
            <a:extLst>
              <a:ext uri="{FF2B5EF4-FFF2-40B4-BE49-F238E27FC236}">
                <a16:creationId xmlns="" xmlns:a16="http://schemas.microsoft.com/office/drawing/2014/main" id="{B065237C-F398-48E9-842C-05BF9D11FA42}"/>
              </a:ext>
            </a:extLst>
          </p:cNvPr>
          <p:cNvSpPr>
            <a:spLocks noGrp="1" noChangeArrowheads="1"/>
          </p:cNvSpPr>
          <p:nvPr>
            <p:ph type="title"/>
          </p:nvPr>
        </p:nvSpPr>
        <p:spPr>
          <a:xfrm>
            <a:off x="707457" y="712268"/>
            <a:ext cx="7807893" cy="1193533"/>
          </a:xfrm>
        </p:spPr>
        <p:txBody>
          <a:bodyPr lIns="92075" tIns="46038" rIns="92075" bIns="46038">
            <a:normAutofit/>
          </a:bodyPr>
          <a:lstStyle/>
          <a:p>
            <a:r>
              <a:rPr lang="es-ES_tradnl" altLang="es-ES" dirty="0">
                <a:solidFill>
                  <a:srgbClr val="FFFFFF"/>
                </a:solidFill>
              </a:rPr>
              <a:t>En esta Materia</a:t>
            </a:r>
          </a:p>
        </p:txBody>
      </p:sp>
    </p:spTree>
    <p:extLst>
      <p:ext uri="{BB962C8B-B14F-4D97-AF65-F5344CB8AC3E}">
        <p14:creationId xmlns:p14="http://schemas.microsoft.com/office/powerpoint/2010/main" val="24500710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1275</Words>
  <Application>Microsoft Office PowerPoint</Application>
  <PresentationFormat>Presentación en pantalla (4:3)</PresentationFormat>
  <Paragraphs>257</Paragraphs>
  <Slides>29</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Arial</vt:lpstr>
      <vt:lpstr>Arial Nova</vt:lpstr>
      <vt:lpstr>Calibri</vt:lpstr>
      <vt:lpstr>Calibri Light</vt:lpstr>
      <vt:lpstr>Times New Roman</vt:lpstr>
      <vt:lpstr>Wingdings</vt:lpstr>
      <vt:lpstr>Tema de Office</vt:lpstr>
      <vt:lpstr>Presentación de PowerPoint</vt:lpstr>
      <vt:lpstr>Niveles de Abstracción de una Base de Datos</vt:lpstr>
      <vt:lpstr>Arquitectura ANSI/SPARC</vt:lpstr>
      <vt:lpstr>Arquitectura ANSI/SPARC</vt:lpstr>
      <vt:lpstr>Presentación de PowerPoint</vt:lpstr>
      <vt:lpstr>Nivel de visión Externo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Independencia lógica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En esta Materia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patricia</dc:creator>
  <cp:lastModifiedBy>patricia</cp:lastModifiedBy>
  <cp:revision>5</cp:revision>
  <dcterms:created xsi:type="dcterms:W3CDTF">2023-02-21T03:44:53Z</dcterms:created>
  <dcterms:modified xsi:type="dcterms:W3CDTF">2024-03-19T19:23:23Z</dcterms:modified>
</cp:coreProperties>
</file>