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6" r:id="rId2"/>
    <p:sldId id="263" r:id="rId3"/>
    <p:sldId id="262" r:id="rId4"/>
    <p:sldId id="264" r:id="rId5"/>
    <p:sldId id="265" r:id="rId6"/>
    <p:sldId id="271" r:id="rId7"/>
    <p:sldId id="272" r:id="rId8"/>
    <p:sldId id="269" r:id="rId9"/>
    <p:sldId id="270" r:id="rId10"/>
    <p:sldId id="256" r:id="rId11"/>
    <p:sldId id="257" r:id="rId12"/>
    <p:sldId id="267" r:id="rId13"/>
    <p:sldId id="268" r:id="rId14"/>
    <p:sldId id="258" r:id="rId15"/>
    <p:sldId id="259" r:id="rId16"/>
    <p:sldId id="260" r:id="rId17"/>
    <p:sldId id="261" r:id="rId18"/>
  </p:sldIdLst>
  <p:sldSz cx="9359900" cy="71993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868" autoAdjust="0"/>
    <p:restoredTop sz="94660"/>
  </p:normalViewPr>
  <p:slideViewPr>
    <p:cSldViewPr snapToGrid="0">
      <p:cViewPr varScale="1">
        <p:scale>
          <a:sx n="65" d="100"/>
          <a:sy n="65" d="100"/>
        </p:scale>
        <p:origin x="21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01993" y="1178222"/>
            <a:ext cx="7955915" cy="2506427"/>
          </a:xfrm>
        </p:spPr>
        <p:txBody>
          <a:bodyPr anchor="b"/>
          <a:lstStyle>
            <a:lvl1pPr algn="ctr">
              <a:defRPr sz="6142"/>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69988" y="3781306"/>
            <a:ext cx="7019925" cy="1738167"/>
          </a:xfrm>
        </p:spPr>
        <p:txBody>
          <a:bodyPr/>
          <a:lstStyle>
            <a:lvl1pPr marL="0" indent="0" algn="ctr">
              <a:buNone/>
              <a:defRPr sz="2457"/>
            </a:lvl1pPr>
            <a:lvl2pPr marL="467990" indent="0" algn="ctr">
              <a:buNone/>
              <a:defRPr sz="2047"/>
            </a:lvl2pPr>
            <a:lvl3pPr marL="935980" indent="0" algn="ctr">
              <a:buNone/>
              <a:defRPr sz="1842"/>
            </a:lvl3pPr>
            <a:lvl4pPr marL="1403970" indent="0" algn="ctr">
              <a:buNone/>
              <a:defRPr sz="1638"/>
            </a:lvl4pPr>
            <a:lvl5pPr marL="1871960" indent="0" algn="ctr">
              <a:buNone/>
              <a:defRPr sz="1638"/>
            </a:lvl5pPr>
            <a:lvl6pPr marL="2339950" indent="0" algn="ctr">
              <a:buNone/>
              <a:defRPr sz="1638"/>
            </a:lvl6pPr>
            <a:lvl7pPr marL="2807940" indent="0" algn="ctr">
              <a:buNone/>
              <a:defRPr sz="1638"/>
            </a:lvl7pPr>
            <a:lvl8pPr marL="3275929" indent="0" algn="ctr">
              <a:buNone/>
              <a:defRPr sz="1638"/>
            </a:lvl8pPr>
            <a:lvl9pPr marL="3743919" indent="0" algn="ctr">
              <a:buNone/>
              <a:defRPr sz="1638"/>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ADC3A5C-1E20-4E7A-B7F8-F7498A843FB2}" type="datetimeFigureOut">
              <a:rPr lang="es-AR" smtClean="0"/>
              <a:t>16/5/2024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3272023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ADC3A5C-1E20-4E7A-B7F8-F7498A843FB2}" type="datetimeFigureOut">
              <a:rPr lang="es-AR" smtClean="0"/>
              <a:t>16/5/2024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3101418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38619" y="1794831"/>
            <a:ext cx="8072914" cy="2994714"/>
          </a:xfrm>
        </p:spPr>
        <p:txBody>
          <a:bodyPr anchor="b"/>
          <a:lstStyle>
            <a:lvl1pPr>
              <a:defRPr sz="6142"/>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8619" y="4817876"/>
            <a:ext cx="8072914" cy="1574849"/>
          </a:xfrm>
        </p:spPr>
        <p:txBody>
          <a:bodyPr/>
          <a:lstStyle>
            <a:lvl1pPr marL="0" indent="0">
              <a:buNone/>
              <a:defRPr sz="2457">
                <a:solidFill>
                  <a:schemeClr val="tx1"/>
                </a:solidFill>
              </a:defRPr>
            </a:lvl1pPr>
            <a:lvl2pPr marL="467990" indent="0">
              <a:buNone/>
              <a:defRPr sz="2047">
                <a:solidFill>
                  <a:schemeClr val="tx1">
                    <a:tint val="75000"/>
                  </a:schemeClr>
                </a:solidFill>
              </a:defRPr>
            </a:lvl2pPr>
            <a:lvl3pPr marL="935980" indent="0">
              <a:buNone/>
              <a:defRPr sz="1842">
                <a:solidFill>
                  <a:schemeClr val="tx1">
                    <a:tint val="75000"/>
                  </a:schemeClr>
                </a:solidFill>
              </a:defRPr>
            </a:lvl3pPr>
            <a:lvl4pPr marL="1403970" indent="0">
              <a:buNone/>
              <a:defRPr sz="1638">
                <a:solidFill>
                  <a:schemeClr val="tx1">
                    <a:tint val="75000"/>
                  </a:schemeClr>
                </a:solidFill>
              </a:defRPr>
            </a:lvl4pPr>
            <a:lvl5pPr marL="1871960" indent="0">
              <a:buNone/>
              <a:defRPr sz="1638">
                <a:solidFill>
                  <a:schemeClr val="tx1">
                    <a:tint val="75000"/>
                  </a:schemeClr>
                </a:solidFill>
              </a:defRPr>
            </a:lvl5pPr>
            <a:lvl6pPr marL="2339950" indent="0">
              <a:buNone/>
              <a:defRPr sz="1638">
                <a:solidFill>
                  <a:schemeClr val="tx1">
                    <a:tint val="75000"/>
                  </a:schemeClr>
                </a:solidFill>
              </a:defRPr>
            </a:lvl6pPr>
            <a:lvl7pPr marL="2807940" indent="0">
              <a:buNone/>
              <a:defRPr sz="1638">
                <a:solidFill>
                  <a:schemeClr val="tx1">
                    <a:tint val="75000"/>
                  </a:schemeClr>
                </a:solidFill>
              </a:defRPr>
            </a:lvl7pPr>
            <a:lvl8pPr marL="3275929" indent="0">
              <a:buNone/>
              <a:defRPr sz="1638">
                <a:solidFill>
                  <a:schemeClr val="tx1">
                    <a:tint val="75000"/>
                  </a:schemeClr>
                </a:solidFill>
              </a:defRPr>
            </a:lvl8pPr>
            <a:lvl9pPr marL="3743919" indent="0">
              <a:buNone/>
              <a:defRPr sz="1638">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ADC3A5C-1E20-4E7A-B7F8-F7498A843FB2}" type="datetimeFigureOut">
              <a:rPr lang="es-AR" smtClean="0"/>
              <a:t>16/5/2024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2363767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43493" y="1916484"/>
            <a:ext cx="3977958" cy="45678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738449" y="1916484"/>
            <a:ext cx="3977958" cy="456789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ADC3A5C-1E20-4E7A-B7F8-F7498A843FB2}" type="datetimeFigureOut">
              <a:rPr lang="es-AR" smtClean="0"/>
              <a:t>16/5/2024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2929896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44712" y="383299"/>
            <a:ext cx="8072914" cy="1391534"/>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44713" y="1764832"/>
            <a:ext cx="3959676" cy="864917"/>
          </a:xfrm>
        </p:spPr>
        <p:txBody>
          <a:bodyPr anchor="b"/>
          <a:lstStyle>
            <a:lvl1pPr marL="0" indent="0">
              <a:buNone/>
              <a:defRPr sz="2457" b="1"/>
            </a:lvl1pPr>
            <a:lvl2pPr marL="467990" indent="0">
              <a:buNone/>
              <a:defRPr sz="2047" b="1"/>
            </a:lvl2pPr>
            <a:lvl3pPr marL="935980" indent="0">
              <a:buNone/>
              <a:defRPr sz="1842" b="1"/>
            </a:lvl3pPr>
            <a:lvl4pPr marL="1403970" indent="0">
              <a:buNone/>
              <a:defRPr sz="1638" b="1"/>
            </a:lvl4pPr>
            <a:lvl5pPr marL="1871960" indent="0">
              <a:buNone/>
              <a:defRPr sz="1638" b="1"/>
            </a:lvl5pPr>
            <a:lvl6pPr marL="2339950" indent="0">
              <a:buNone/>
              <a:defRPr sz="1638" b="1"/>
            </a:lvl6pPr>
            <a:lvl7pPr marL="2807940" indent="0">
              <a:buNone/>
              <a:defRPr sz="1638" b="1"/>
            </a:lvl7pPr>
            <a:lvl8pPr marL="3275929" indent="0">
              <a:buNone/>
              <a:defRPr sz="1638" b="1"/>
            </a:lvl8pPr>
            <a:lvl9pPr marL="3743919" indent="0">
              <a:buNone/>
              <a:defRPr sz="1638" b="1"/>
            </a:lvl9pPr>
          </a:lstStyle>
          <a:p>
            <a:pPr lvl="0"/>
            <a:r>
              <a:rPr lang="es-ES"/>
              <a:t>Haga clic para modificar los estilos de texto del patrón</a:t>
            </a:r>
          </a:p>
        </p:txBody>
      </p:sp>
      <p:sp>
        <p:nvSpPr>
          <p:cNvPr id="4" name="Content Placeholder 3"/>
          <p:cNvSpPr>
            <a:spLocks noGrp="1"/>
          </p:cNvSpPr>
          <p:nvPr>
            <p:ph sz="half" idx="2"/>
          </p:nvPr>
        </p:nvSpPr>
        <p:spPr>
          <a:xfrm>
            <a:off x="644713" y="2629749"/>
            <a:ext cx="3959676" cy="386796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738450" y="1764832"/>
            <a:ext cx="3979177" cy="864917"/>
          </a:xfrm>
        </p:spPr>
        <p:txBody>
          <a:bodyPr anchor="b"/>
          <a:lstStyle>
            <a:lvl1pPr marL="0" indent="0">
              <a:buNone/>
              <a:defRPr sz="2457" b="1"/>
            </a:lvl1pPr>
            <a:lvl2pPr marL="467990" indent="0">
              <a:buNone/>
              <a:defRPr sz="2047" b="1"/>
            </a:lvl2pPr>
            <a:lvl3pPr marL="935980" indent="0">
              <a:buNone/>
              <a:defRPr sz="1842" b="1"/>
            </a:lvl3pPr>
            <a:lvl4pPr marL="1403970" indent="0">
              <a:buNone/>
              <a:defRPr sz="1638" b="1"/>
            </a:lvl4pPr>
            <a:lvl5pPr marL="1871960" indent="0">
              <a:buNone/>
              <a:defRPr sz="1638" b="1"/>
            </a:lvl5pPr>
            <a:lvl6pPr marL="2339950" indent="0">
              <a:buNone/>
              <a:defRPr sz="1638" b="1"/>
            </a:lvl6pPr>
            <a:lvl7pPr marL="2807940" indent="0">
              <a:buNone/>
              <a:defRPr sz="1638" b="1"/>
            </a:lvl7pPr>
            <a:lvl8pPr marL="3275929" indent="0">
              <a:buNone/>
              <a:defRPr sz="1638" b="1"/>
            </a:lvl8pPr>
            <a:lvl9pPr marL="3743919" indent="0">
              <a:buNone/>
              <a:defRPr sz="1638" b="1"/>
            </a:lvl9pPr>
          </a:lstStyle>
          <a:p>
            <a:pPr lvl="0"/>
            <a:r>
              <a:rPr lang="es-ES"/>
              <a:t>Haga clic para modificar los estilos de texto del patrón</a:t>
            </a:r>
          </a:p>
        </p:txBody>
      </p:sp>
      <p:sp>
        <p:nvSpPr>
          <p:cNvPr id="6" name="Content Placeholder 5"/>
          <p:cNvSpPr>
            <a:spLocks noGrp="1"/>
          </p:cNvSpPr>
          <p:nvPr>
            <p:ph sz="quarter" idx="4"/>
          </p:nvPr>
        </p:nvSpPr>
        <p:spPr>
          <a:xfrm>
            <a:off x="4738450" y="2629749"/>
            <a:ext cx="3979177" cy="386796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ADC3A5C-1E20-4E7A-B7F8-F7498A843FB2}" type="datetimeFigureOut">
              <a:rPr lang="es-AR" smtClean="0"/>
              <a:t>16/5/2024</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2585193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ADC3A5C-1E20-4E7A-B7F8-F7498A843FB2}" type="datetimeFigureOut">
              <a:rPr lang="es-AR" smtClean="0"/>
              <a:t>16/5/2024</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423746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DC3A5C-1E20-4E7A-B7F8-F7498A843FB2}" type="datetimeFigureOut">
              <a:rPr lang="es-AR" smtClean="0"/>
              <a:t>16/5/2024</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1361886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44712" y="479954"/>
            <a:ext cx="3018811" cy="1679840"/>
          </a:xfrm>
        </p:spPr>
        <p:txBody>
          <a:bodyPr anchor="b"/>
          <a:lstStyle>
            <a:lvl1pPr>
              <a:defRPr sz="3276"/>
            </a:lvl1pPr>
          </a:lstStyle>
          <a:p>
            <a:r>
              <a:rPr lang="es-ES"/>
              <a:t>Haga clic para modificar el estilo de título del patrón</a:t>
            </a:r>
            <a:endParaRPr lang="en-US" dirty="0"/>
          </a:p>
        </p:txBody>
      </p:sp>
      <p:sp>
        <p:nvSpPr>
          <p:cNvPr id="3" name="Content Placeholder 2"/>
          <p:cNvSpPr>
            <a:spLocks noGrp="1"/>
          </p:cNvSpPr>
          <p:nvPr>
            <p:ph idx="1"/>
          </p:nvPr>
        </p:nvSpPr>
        <p:spPr>
          <a:xfrm>
            <a:off x="3979177" y="1036570"/>
            <a:ext cx="4738449" cy="5116178"/>
          </a:xfrm>
        </p:spPr>
        <p:txBody>
          <a:bodyPr/>
          <a:lstStyle>
            <a:lvl1pPr>
              <a:defRPr sz="3276"/>
            </a:lvl1pPr>
            <a:lvl2pPr>
              <a:defRPr sz="2866"/>
            </a:lvl2pPr>
            <a:lvl3pPr>
              <a:defRPr sz="2457"/>
            </a:lvl3pPr>
            <a:lvl4pPr>
              <a:defRPr sz="2047"/>
            </a:lvl4pPr>
            <a:lvl5pPr>
              <a:defRPr sz="2047"/>
            </a:lvl5pPr>
            <a:lvl6pPr>
              <a:defRPr sz="2047"/>
            </a:lvl6pPr>
            <a:lvl7pPr>
              <a:defRPr sz="2047"/>
            </a:lvl7pPr>
            <a:lvl8pPr>
              <a:defRPr sz="2047"/>
            </a:lvl8pPr>
            <a:lvl9pPr>
              <a:defRPr sz="204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44712" y="2159794"/>
            <a:ext cx="3018811" cy="4001285"/>
          </a:xfrm>
        </p:spPr>
        <p:txBody>
          <a:bodyPr/>
          <a:lstStyle>
            <a:lvl1pPr marL="0" indent="0">
              <a:buNone/>
              <a:defRPr sz="1638"/>
            </a:lvl1pPr>
            <a:lvl2pPr marL="467990" indent="0">
              <a:buNone/>
              <a:defRPr sz="1433"/>
            </a:lvl2pPr>
            <a:lvl3pPr marL="935980" indent="0">
              <a:buNone/>
              <a:defRPr sz="1228"/>
            </a:lvl3pPr>
            <a:lvl4pPr marL="1403970" indent="0">
              <a:buNone/>
              <a:defRPr sz="1024"/>
            </a:lvl4pPr>
            <a:lvl5pPr marL="1871960" indent="0">
              <a:buNone/>
              <a:defRPr sz="1024"/>
            </a:lvl5pPr>
            <a:lvl6pPr marL="2339950" indent="0">
              <a:buNone/>
              <a:defRPr sz="1024"/>
            </a:lvl6pPr>
            <a:lvl7pPr marL="2807940" indent="0">
              <a:buNone/>
              <a:defRPr sz="1024"/>
            </a:lvl7pPr>
            <a:lvl8pPr marL="3275929" indent="0">
              <a:buNone/>
              <a:defRPr sz="1024"/>
            </a:lvl8pPr>
            <a:lvl9pPr marL="3743919" indent="0">
              <a:buNone/>
              <a:defRPr sz="102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ADC3A5C-1E20-4E7A-B7F8-F7498A843FB2}" type="datetimeFigureOut">
              <a:rPr lang="es-AR" smtClean="0"/>
              <a:t>16/5/2024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1857124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44712" y="479954"/>
            <a:ext cx="3018811" cy="1679840"/>
          </a:xfrm>
        </p:spPr>
        <p:txBody>
          <a:bodyPr anchor="b"/>
          <a:lstStyle>
            <a:lvl1pPr>
              <a:defRPr sz="3276"/>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979177" y="1036570"/>
            <a:ext cx="4738449" cy="5116178"/>
          </a:xfrm>
        </p:spPr>
        <p:txBody>
          <a:bodyPr anchor="t"/>
          <a:lstStyle>
            <a:lvl1pPr marL="0" indent="0">
              <a:buNone/>
              <a:defRPr sz="3276"/>
            </a:lvl1pPr>
            <a:lvl2pPr marL="467990" indent="0">
              <a:buNone/>
              <a:defRPr sz="2866"/>
            </a:lvl2pPr>
            <a:lvl3pPr marL="935980" indent="0">
              <a:buNone/>
              <a:defRPr sz="2457"/>
            </a:lvl3pPr>
            <a:lvl4pPr marL="1403970" indent="0">
              <a:buNone/>
              <a:defRPr sz="2047"/>
            </a:lvl4pPr>
            <a:lvl5pPr marL="1871960" indent="0">
              <a:buNone/>
              <a:defRPr sz="2047"/>
            </a:lvl5pPr>
            <a:lvl6pPr marL="2339950" indent="0">
              <a:buNone/>
              <a:defRPr sz="2047"/>
            </a:lvl6pPr>
            <a:lvl7pPr marL="2807940" indent="0">
              <a:buNone/>
              <a:defRPr sz="2047"/>
            </a:lvl7pPr>
            <a:lvl8pPr marL="3275929" indent="0">
              <a:buNone/>
              <a:defRPr sz="2047"/>
            </a:lvl8pPr>
            <a:lvl9pPr marL="3743919" indent="0">
              <a:buNone/>
              <a:defRPr sz="204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44712" y="2159794"/>
            <a:ext cx="3018811" cy="4001285"/>
          </a:xfrm>
        </p:spPr>
        <p:txBody>
          <a:bodyPr/>
          <a:lstStyle>
            <a:lvl1pPr marL="0" indent="0">
              <a:buNone/>
              <a:defRPr sz="1638"/>
            </a:lvl1pPr>
            <a:lvl2pPr marL="467990" indent="0">
              <a:buNone/>
              <a:defRPr sz="1433"/>
            </a:lvl2pPr>
            <a:lvl3pPr marL="935980" indent="0">
              <a:buNone/>
              <a:defRPr sz="1228"/>
            </a:lvl3pPr>
            <a:lvl4pPr marL="1403970" indent="0">
              <a:buNone/>
              <a:defRPr sz="1024"/>
            </a:lvl4pPr>
            <a:lvl5pPr marL="1871960" indent="0">
              <a:buNone/>
              <a:defRPr sz="1024"/>
            </a:lvl5pPr>
            <a:lvl6pPr marL="2339950" indent="0">
              <a:buNone/>
              <a:defRPr sz="1024"/>
            </a:lvl6pPr>
            <a:lvl7pPr marL="2807940" indent="0">
              <a:buNone/>
              <a:defRPr sz="1024"/>
            </a:lvl7pPr>
            <a:lvl8pPr marL="3275929" indent="0">
              <a:buNone/>
              <a:defRPr sz="1024"/>
            </a:lvl8pPr>
            <a:lvl9pPr marL="3743919" indent="0">
              <a:buNone/>
              <a:defRPr sz="102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ADC3A5C-1E20-4E7A-B7F8-F7498A843FB2}" type="datetimeFigureOut">
              <a:rPr lang="es-AR" smtClean="0"/>
              <a:t>16/5/2024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3280908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ADC3A5C-1E20-4E7A-B7F8-F7498A843FB2}" type="datetimeFigureOut">
              <a:rPr lang="es-AR" smtClean="0"/>
              <a:t>16/5/2024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2748380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8179" y="383297"/>
            <a:ext cx="2018228" cy="610108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43493" y="383297"/>
            <a:ext cx="5937687" cy="610108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ADC3A5C-1E20-4E7A-B7F8-F7498A843FB2}" type="datetimeFigureOut">
              <a:rPr lang="es-AR" smtClean="0"/>
              <a:t>16/5/2024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52D7EB3-C2C0-4D0F-BCB7-46E1A2C2FA0B}" type="slidenum">
              <a:rPr lang="es-AR" smtClean="0"/>
              <a:t>‹Nº›</a:t>
            </a:fld>
            <a:endParaRPr lang="es-AR"/>
          </a:p>
        </p:txBody>
      </p:sp>
    </p:spTree>
    <p:extLst>
      <p:ext uri="{BB962C8B-B14F-4D97-AF65-F5344CB8AC3E}">
        <p14:creationId xmlns:p14="http://schemas.microsoft.com/office/powerpoint/2010/main" val="3572878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3493" y="383299"/>
            <a:ext cx="8072914" cy="139153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43493" y="1916484"/>
            <a:ext cx="8072914" cy="456789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43493" y="6672698"/>
            <a:ext cx="2105978" cy="383297"/>
          </a:xfrm>
          <a:prstGeom prst="rect">
            <a:avLst/>
          </a:prstGeom>
        </p:spPr>
        <p:txBody>
          <a:bodyPr vert="horz" lIns="91440" tIns="45720" rIns="91440" bIns="45720" rtlCol="0" anchor="ctr"/>
          <a:lstStyle>
            <a:lvl1pPr algn="l">
              <a:defRPr sz="1228">
                <a:solidFill>
                  <a:schemeClr val="tx1">
                    <a:tint val="75000"/>
                  </a:schemeClr>
                </a:solidFill>
              </a:defRPr>
            </a:lvl1pPr>
          </a:lstStyle>
          <a:p>
            <a:fld id="{AADC3A5C-1E20-4E7A-B7F8-F7498A843FB2}" type="datetimeFigureOut">
              <a:rPr lang="es-AR" smtClean="0"/>
              <a:t>16/5/2024</a:t>
            </a:fld>
            <a:endParaRPr lang="es-AR"/>
          </a:p>
        </p:txBody>
      </p:sp>
      <p:sp>
        <p:nvSpPr>
          <p:cNvPr id="5" name="Footer Placeholder 4"/>
          <p:cNvSpPr>
            <a:spLocks noGrp="1"/>
          </p:cNvSpPr>
          <p:nvPr>
            <p:ph type="ftr" sz="quarter" idx="3"/>
          </p:nvPr>
        </p:nvSpPr>
        <p:spPr>
          <a:xfrm>
            <a:off x="3100467" y="6672698"/>
            <a:ext cx="3158966" cy="383297"/>
          </a:xfrm>
          <a:prstGeom prst="rect">
            <a:avLst/>
          </a:prstGeom>
        </p:spPr>
        <p:txBody>
          <a:bodyPr vert="horz" lIns="91440" tIns="45720" rIns="91440" bIns="45720" rtlCol="0" anchor="ctr"/>
          <a:lstStyle>
            <a:lvl1pPr algn="ctr">
              <a:defRPr sz="1228">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610429" y="6672698"/>
            <a:ext cx="2105978" cy="383297"/>
          </a:xfrm>
          <a:prstGeom prst="rect">
            <a:avLst/>
          </a:prstGeom>
        </p:spPr>
        <p:txBody>
          <a:bodyPr vert="horz" lIns="91440" tIns="45720" rIns="91440" bIns="45720" rtlCol="0" anchor="ctr"/>
          <a:lstStyle>
            <a:lvl1pPr algn="r">
              <a:defRPr sz="1228">
                <a:solidFill>
                  <a:schemeClr val="tx1">
                    <a:tint val="75000"/>
                  </a:schemeClr>
                </a:solidFill>
              </a:defRPr>
            </a:lvl1pPr>
          </a:lstStyle>
          <a:p>
            <a:fld id="{F52D7EB3-C2C0-4D0F-BCB7-46E1A2C2FA0B}" type="slidenum">
              <a:rPr lang="es-AR" smtClean="0"/>
              <a:t>‹Nº›</a:t>
            </a:fld>
            <a:endParaRPr lang="es-AR"/>
          </a:p>
        </p:txBody>
      </p:sp>
    </p:spTree>
    <p:extLst>
      <p:ext uri="{BB962C8B-B14F-4D97-AF65-F5344CB8AC3E}">
        <p14:creationId xmlns:p14="http://schemas.microsoft.com/office/powerpoint/2010/main" val="24669589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35980" rtl="0" eaLnBrk="1" latinLnBrk="0" hangingPunct="1">
        <a:lnSpc>
          <a:spcPct val="90000"/>
        </a:lnSpc>
        <a:spcBef>
          <a:spcPct val="0"/>
        </a:spcBef>
        <a:buNone/>
        <a:defRPr sz="4504" kern="1200">
          <a:solidFill>
            <a:schemeClr val="tx1"/>
          </a:solidFill>
          <a:latin typeface="+mj-lt"/>
          <a:ea typeface="+mj-ea"/>
          <a:cs typeface="+mj-cs"/>
        </a:defRPr>
      </a:lvl1pPr>
    </p:titleStyle>
    <p:bodyStyle>
      <a:lvl1pPr marL="233995" indent="-233995" algn="l" defTabSz="935980" rtl="0" eaLnBrk="1" latinLnBrk="0" hangingPunct="1">
        <a:lnSpc>
          <a:spcPct val="90000"/>
        </a:lnSpc>
        <a:spcBef>
          <a:spcPts val="1024"/>
        </a:spcBef>
        <a:buFont typeface="Arial" panose="020B0604020202020204" pitchFamily="34" charset="0"/>
        <a:buChar char="•"/>
        <a:defRPr sz="2866" kern="1200">
          <a:solidFill>
            <a:schemeClr val="tx1"/>
          </a:solidFill>
          <a:latin typeface="+mn-lt"/>
          <a:ea typeface="+mn-ea"/>
          <a:cs typeface="+mn-cs"/>
        </a:defRPr>
      </a:lvl1pPr>
      <a:lvl2pPr marL="701985" indent="-233995" algn="l" defTabSz="935980" rtl="0" eaLnBrk="1" latinLnBrk="0" hangingPunct="1">
        <a:lnSpc>
          <a:spcPct val="90000"/>
        </a:lnSpc>
        <a:spcBef>
          <a:spcPts val="512"/>
        </a:spcBef>
        <a:buFont typeface="Arial" panose="020B0604020202020204" pitchFamily="34" charset="0"/>
        <a:buChar char="•"/>
        <a:defRPr sz="2457" kern="1200">
          <a:solidFill>
            <a:schemeClr val="tx1"/>
          </a:solidFill>
          <a:latin typeface="+mn-lt"/>
          <a:ea typeface="+mn-ea"/>
          <a:cs typeface="+mn-cs"/>
        </a:defRPr>
      </a:lvl2pPr>
      <a:lvl3pPr marL="1169975" indent="-233995" algn="l" defTabSz="935980" rtl="0" eaLnBrk="1" latinLnBrk="0" hangingPunct="1">
        <a:lnSpc>
          <a:spcPct val="90000"/>
        </a:lnSpc>
        <a:spcBef>
          <a:spcPts val="512"/>
        </a:spcBef>
        <a:buFont typeface="Arial" panose="020B0604020202020204" pitchFamily="34" charset="0"/>
        <a:buChar char="•"/>
        <a:defRPr sz="2047" kern="1200">
          <a:solidFill>
            <a:schemeClr val="tx1"/>
          </a:solidFill>
          <a:latin typeface="+mn-lt"/>
          <a:ea typeface="+mn-ea"/>
          <a:cs typeface="+mn-cs"/>
        </a:defRPr>
      </a:lvl3pPr>
      <a:lvl4pPr marL="1637965" indent="-233995" algn="l" defTabSz="935980" rtl="0" eaLnBrk="1" latinLnBrk="0" hangingPunct="1">
        <a:lnSpc>
          <a:spcPct val="90000"/>
        </a:lnSpc>
        <a:spcBef>
          <a:spcPts val="512"/>
        </a:spcBef>
        <a:buFont typeface="Arial" panose="020B0604020202020204" pitchFamily="34" charset="0"/>
        <a:buChar char="•"/>
        <a:defRPr sz="1842" kern="1200">
          <a:solidFill>
            <a:schemeClr val="tx1"/>
          </a:solidFill>
          <a:latin typeface="+mn-lt"/>
          <a:ea typeface="+mn-ea"/>
          <a:cs typeface="+mn-cs"/>
        </a:defRPr>
      </a:lvl4pPr>
      <a:lvl5pPr marL="2105955" indent="-233995" algn="l" defTabSz="935980" rtl="0" eaLnBrk="1" latinLnBrk="0" hangingPunct="1">
        <a:lnSpc>
          <a:spcPct val="90000"/>
        </a:lnSpc>
        <a:spcBef>
          <a:spcPts val="512"/>
        </a:spcBef>
        <a:buFont typeface="Arial" panose="020B0604020202020204" pitchFamily="34" charset="0"/>
        <a:buChar char="•"/>
        <a:defRPr sz="1842" kern="1200">
          <a:solidFill>
            <a:schemeClr val="tx1"/>
          </a:solidFill>
          <a:latin typeface="+mn-lt"/>
          <a:ea typeface="+mn-ea"/>
          <a:cs typeface="+mn-cs"/>
        </a:defRPr>
      </a:lvl5pPr>
      <a:lvl6pPr marL="2573945" indent="-233995" algn="l" defTabSz="935980" rtl="0" eaLnBrk="1" latinLnBrk="0" hangingPunct="1">
        <a:lnSpc>
          <a:spcPct val="90000"/>
        </a:lnSpc>
        <a:spcBef>
          <a:spcPts val="512"/>
        </a:spcBef>
        <a:buFont typeface="Arial" panose="020B0604020202020204" pitchFamily="34" charset="0"/>
        <a:buChar char="•"/>
        <a:defRPr sz="1842" kern="1200">
          <a:solidFill>
            <a:schemeClr val="tx1"/>
          </a:solidFill>
          <a:latin typeface="+mn-lt"/>
          <a:ea typeface="+mn-ea"/>
          <a:cs typeface="+mn-cs"/>
        </a:defRPr>
      </a:lvl6pPr>
      <a:lvl7pPr marL="3041934" indent="-233995" algn="l" defTabSz="935980" rtl="0" eaLnBrk="1" latinLnBrk="0" hangingPunct="1">
        <a:lnSpc>
          <a:spcPct val="90000"/>
        </a:lnSpc>
        <a:spcBef>
          <a:spcPts val="512"/>
        </a:spcBef>
        <a:buFont typeface="Arial" panose="020B0604020202020204" pitchFamily="34" charset="0"/>
        <a:buChar char="•"/>
        <a:defRPr sz="1842" kern="1200">
          <a:solidFill>
            <a:schemeClr val="tx1"/>
          </a:solidFill>
          <a:latin typeface="+mn-lt"/>
          <a:ea typeface="+mn-ea"/>
          <a:cs typeface="+mn-cs"/>
        </a:defRPr>
      </a:lvl7pPr>
      <a:lvl8pPr marL="3509924" indent="-233995" algn="l" defTabSz="935980" rtl="0" eaLnBrk="1" latinLnBrk="0" hangingPunct="1">
        <a:lnSpc>
          <a:spcPct val="90000"/>
        </a:lnSpc>
        <a:spcBef>
          <a:spcPts val="512"/>
        </a:spcBef>
        <a:buFont typeface="Arial" panose="020B0604020202020204" pitchFamily="34" charset="0"/>
        <a:buChar char="•"/>
        <a:defRPr sz="1842" kern="1200">
          <a:solidFill>
            <a:schemeClr val="tx1"/>
          </a:solidFill>
          <a:latin typeface="+mn-lt"/>
          <a:ea typeface="+mn-ea"/>
          <a:cs typeface="+mn-cs"/>
        </a:defRPr>
      </a:lvl8pPr>
      <a:lvl9pPr marL="3977914" indent="-233995" algn="l" defTabSz="935980" rtl="0" eaLnBrk="1" latinLnBrk="0" hangingPunct="1">
        <a:lnSpc>
          <a:spcPct val="90000"/>
        </a:lnSpc>
        <a:spcBef>
          <a:spcPts val="512"/>
        </a:spcBef>
        <a:buFont typeface="Arial" panose="020B0604020202020204" pitchFamily="34" charset="0"/>
        <a:buChar char="•"/>
        <a:defRPr sz="1842" kern="1200">
          <a:solidFill>
            <a:schemeClr val="tx1"/>
          </a:solidFill>
          <a:latin typeface="+mn-lt"/>
          <a:ea typeface="+mn-ea"/>
          <a:cs typeface="+mn-cs"/>
        </a:defRPr>
      </a:lvl9pPr>
    </p:bodyStyle>
    <p:otherStyle>
      <a:defPPr>
        <a:defRPr lang="en-US"/>
      </a:defPPr>
      <a:lvl1pPr marL="0" algn="l" defTabSz="935980" rtl="0" eaLnBrk="1" latinLnBrk="0" hangingPunct="1">
        <a:defRPr sz="1842" kern="1200">
          <a:solidFill>
            <a:schemeClr val="tx1"/>
          </a:solidFill>
          <a:latin typeface="+mn-lt"/>
          <a:ea typeface="+mn-ea"/>
          <a:cs typeface="+mn-cs"/>
        </a:defRPr>
      </a:lvl1pPr>
      <a:lvl2pPr marL="467990" algn="l" defTabSz="935980" rtl="0" eaLnBrk="1" latinLnBrk="0" hangingPunct="1">
        <a:defRPr sz="1842" kern="1200">
          <a:solidFill>
            <a:schemeClr val="tx1"/>
          </a:solidFill>
          <a:latin typeface="+mn-lt"/>
          <a:ea typeface="+mn-ea"/>
          <a:cs typeface="+mn-cs"/>
        </a:defRPr>
      </a:lvl2pPr>
      <a:lvl3pPr marL="935980" algn="l" defTabSz="935980" rtl="0" eaLnBrk="1" latinLnBrk="0" hangingPunct="1">
        <a:defRPr sz="1842" kern="1200">
          <a:solidFill>
            <a:schemeClr val="tx1"/>
          </a:solidFill>
          <a:latin typeface="+mn-lt"/>
          <a:ea typeface="+mn-ea"/>
          <a:cs typeface="+mn-cs"/>
        </a:defRPr>
      </a:lvl3pPr>
      <a:lvl4pPr marL="1403970" algn="l" defTabSz="935980" rtl="0" eaLnBrk="1" latinLnBrk="0" hangingPunct="1">
        <a:defRPr sz="1842" kern="1200">
          <a:solidFill>
            <a:schemeClr val="tx1"/>
          </a:solidFill>
          <a:latin typeface="+mn-lt"/>
          <a:ea typeface="+mn-ea"/>
          <a:cs typeface="+mn-cs"/>
        </a:defRPr>
      </a:lvl4pPr>
      <a:lvl5pPr marL="1871960" algn="l" defTabSz="935980" rtl="0" eaLnBrk="1" latinLnBrk="0" hangingPunct="1">
        <a:defRPr sz="1842" kern="1200">
          <a:solidFill>
            <a:schemeClr val="tx1"/>
          </a:solidFill>
          <a:latin typeface="+mn-lt"/>
          <a:ea typeface="+mn-ea"/>
          <a:cs typeface="+mn-cs"/>
        </a:defRPr>
      </a:lvl5pPr>
      <a:lvl6pPr marL="2339950" algn="l" defTabSz="935980" rtl="0" eaLnBrk="1" latinLnBrk="0" hangingPunct="1">
        <a:defRPr sz="1842" kern="1200">
          <a:solidFill>
            <a:schemeClr val="tx1"/>
          </a:solidFill>
          <a:latin typeface="+mn-lt"/>
          <a:ea typeface="+mn-ea"/>
          <a:cs typeface="+mn-cs"/>
        </a:defRPr>
      </a:lvl6pPr>
      <a:lvl7pPr marL="2807940" algn="l" defTabSz="935980" rtl="0" eaLnBrk="1" latinLnBrk="0" hangingPunct="1">
        <a:defRPr sz="1842" kern="1200">
          <a:solidFill>
            <a:schemeClr val="tx1"/>
          </a:solidFill>
          <a:latin typeface="+mn-lt"/>
          <a:ea typeface="+mn-ea"/>
          <a:cs typeface="+mn-cs"/>
        </a:defRPr>
      </a:lvl7pPr>
      <a:lvl8pPr marL="3275929" algn="l" defTabSz="935980" rtl="0" eaLnBrk="1" latinLnBrk="0" hangingPunct="1">
        <a:defRPr sz="1842" kern="1200">
          <a:solidFill>
            <a:schemeClr val="tx1"/>
          </a:solidFill>
          <a:latin typeface="+mn-lt"/>
          <a:ea typeface="+mn-ea"/>
          <a:cs typeface="+mn-cs"/>
        </a:defRPr>
      </a:lvl8pPr>
      <a:lvl9pPr marL="3743919" algn="l" defTabSz="935980" rtl="0" eaLnBrk="1" latinLnBrk="0" hangingPunct="1">
        <a:defRPr sz="184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p:cNvSpPr>
            <a:spLocks noGrp="1"/>
          </p:cNvSpPr>
          <p:nvPr>
            <p:ph type="title"/>
          </p:nvPr>
        </p:nvSpPr>
        <p:spPr>
          <a:xfrm>
            <a:off x="1097090" y="3375071"/>
            <a:ext cx="6020036" cy="1017646"/>
          </a:xfrm>
        </p:spPr>
        <p:txBody>
          <a:bodyPr/>
          <a:lstStyle/>
          <a:p>
            <a:r>
              <a:rPr lang="es-AR" b="1" dirty="0" err="1"/>
              <a:t>Triggers</a:t>
            </a:r>
            <a:r>
              <a:rPr lang="es-AR" b="1" dirty="0"/>
              <a:t> y Vistas</a:t>
            </a:r>
          </a:p>
        </p:txBody>
      </p:sp>
    </p:spTree>
    <p:extLst>
      <p:ext uri="{BB962C8B-B14F-4D97-AF65-F5344CB8AC3E}">
        <p14:creationId xmlns:p14="http://schemas.microsoft.com/office/powerpoint/2010/main" val="243064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96008" y="2197510"/>
            <a:ext cx="8485759" cy="3038168"/>
          </a:xfrm>
        </p:spPr>
        <p:txBody>
          <a:bodyPr>
            <a:normAutofit/>
          </a:bodyPr>
          <a:lstStyle/>
          <a:p>
            <a:pPr algn="just"/>
            <a:r>
              <a:rPr lang="es-AR" dirty="0"/>
              <a:t>Es un objeto procedimental asociado a una tabla.</a:t>
            </a:r>
          </a:p>
          <a:p>
            <a:pPr algn="just"/>
            <a:endParaRPr lang="es-AR" dirty="0"/>
          </a:p>
          <a:p>
            <a:pPr algn="just"/>
            <a:r>
              <a:rPr lang="es-AR" dirty="0"/>
              <a:t>Se ejecuta cuando se pretende realizar una determinada operación sobre dicha tabla.</a:t>
            </a:r>
          </a:p>
          <a:p>
            <a:pPr algn="just"/>
            <a:endParaRPr lang="es-AR" dirty="0"/>
          </a:p>
          <a:p>
            <a:pPr algn="just"/>
            <a:r>
              <a:rPr lang="es-AR" dirty="0"/>
              <a:t>Está construido por bloques PL/SQL y sentencias SQL.</a:t>
            </a:r>
          </a:p>
          <a:p>
            <a:pPr algn="just"/>
            <a:endParaRPr lang="es-AR" dirty="0"/>
          </a:p>
          <a:p>
            <a:pPr marL="0" indent="0">
              <a:buNone/>
            </a:pPr>
            <a:endParaRPr lang="es-AR" dirty="0"/>
          </a:p>
        </p:txBody>
      </p:sp>
      <p:sp>
        <p:nvSpPr>
          <p:cNvPr id="5" name="Título 4">
            <a:extLst>
              <a:ext uri="{FF2B5EF4-FFF2-40B4-BE49-F238E27FC236}">
                <a16:creationId xmlns:a16="http://schemas.microsoft.com/office/drawing/2014/main" id="{9200E73A-5131-C29F-4005-813148A6630C}"/>
              </a:ext>
            </a:extLst>
          </p:cNvPr>
          <p:cNvSpPr>
            <a:spLocks noGrp="1"/>
          </p:cNvSpPr>
          <p:nvPr>
            <p:ph type="title"/>
          </p:nvPr>
        </p:nvSpPr>
        <p:spPr>
          <a:xfrm>
            <a:off x="496008" y="914401"/>
            <a:ext cx="8485759" cy="442452"/>
          </a:xfrm>
          <a:solidFill>
            <a:srgbClr val="0070C0"/>
          </a:solidFill>
        </p:spPr>
        <p:txBody>
          <a:bodyPr>
            <a:normAutofit fontScale="90000"/>
          </a:bodyPr>
          <a:lstStyle/>
          <a:p>
            <a:r>
              <a:rPr lang="es-ES" b="1" dirty="0">
                <a:solidFill>
                  <a:schemeClr val="bg1"/>
                </a:solidFill>
              </a:rPr>
              <a:t>Que es un </a:t>
            </a:r>
            <a:r>
              <a:rPr lang="es-ES" b="1" dirty="0" err="1">
                <a:solidFill>
                  <a:schemeClr val="bg1"/>
                </a:solidFill>
              </a:rPr>
              <a:t>Trigger</a:t>
            </a:r>
            <a:endParaRPr lang="es-AR" b="1" dirty="0">
              <a:solidFill>
                <a:schemeClr val="bg1"/>
              </a:solidFill>
            </a:endParaRPr>
          </a:p>
        </p:txBody>
      </p:sp>
    </p:spTree>
    <p:extLst>
      <p:ext uri="{BB962C8B-B14F-4D97-AF65-F5344CB8AC3E}">
        <p14:creationId xmlns:p14="http://schemas.microsoft.com/office/powerpoint/2010/main" val="1088589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294968" y="930197"/>
            <a:ext cx="8672051" cy="485648"/>
          </a:xfrm>
          <a:prstGeom prst="rect">
            <a:avLst/>
          </a:prstGeom>
        </p:spPr>
        <p:txBody>
          <a:bodyPr vert="horz" lIns="70199" tIns="35100" rIns="70199" bIns="3510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35980"/>
            <a:r>
              <a:rPr lang="es-AR" sz="4100" dirty="0"/>
              <a:t>Ámbitos de aplicación de </a:t>
            </a:r>
            <a:r>
              <a:rPr lang="es-AR" sz="4100" dirty="0" err="1"/>
              <a:t>triggers</a:t>
            </a:r>
            <a:r>
              <a:rPr lang="es-AR" sz="4100" dirty="0"/>
              <a:t>:</a:t>
            </a:r>
          </a:p>
        </p:txBody>
      </p:sp>
      <p:sp>
        <p:nvSpPr>
          <p:cNvPr id="5" name="Marcador de contenido 2"/>
          <p:cNvSpPr txBox="1">
            <a:spLocks/>
          </p:cNvSpPr>
          <p:nvPr/>
        </p:nvSpPr>
        <p:spPr>
          <a:xfrm>
            <a:off x="294968" y="1533833"/>
            <a:ext cx="8672051" cy="4428300"/>
          </a:xfrm>
          <a:prstGeom prst="rect">
            <a:avLst/>
          </a:prstGeom>
        </p:spPr>
        <p:txBody>
          <a:bodyPr vert="horz" lIns="70199" tIns="35100" rIns="70199" bIns="351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AR" sz="2400" b="1" dirty="0"/>
              <a:t>AUDITORIA</a:t>
            </a:r>
          </a:p>
          <a:p>
            <a:pPr marL="307119" lvl="1" indent="0" algn="just">
              <a:buNone/>
            </a:pPr>
            <a:r>
              <a:rPr lang="es-AR" dirty="0"/>
              <a:t>Los </a:t>
            </a:r>
            <a:r>
              <a:rPr lang="es-AR" dirty="0" err="1"/>
              <a:t>triggers</a:t>
            </a:r>
            <a:r>
              <a:rPr lang="es-AR" dirty="0"/>
              <a:t> se usan para llenar tablas de auditoría, en donde se registren ciertos tipos de transacciones o accesos hacia tablas.</a:t>
            </a:r>
          </a:p>
          <a:p>
            <a:pPr marL="0" indent="0">
              <a:buNone/>
            </a:pPr>
            <a:r>
              <a:rPr lang="es-AR" sz="2400" b="1" dirty="0"/>
              <a:t>REGLAS DE NEGOCIO</a:t>
            </a:r>
          </a:p>
          <a:p>
            <a:pPr marL="307119" lvl="1" indent="0" algn="just">
              <a:buNone/>
            </a:pPr>
            <a:r>
              <a:rPr lang="es-AR" dirty="0"/>
              <a:t>Cuando ciertas reglas de negocio son muy elaboradoras y necesitan sean expresadas a nivel base de datos, es necesario que además de reglas y restricciones se utilicen </a:t>
            </a:r>
            <a:r>
              <a:rPr lang="es-AR" dirty="0" err="1"/>
              <a:t>triggers</a:t>
            </a:r>
            <a:r>
              <a:rPr lang="es-AR" dirty="0"/>
              <a:t>.</a:t>
            </a:r>
          </a:p>
          <a:p>
            <a:pPr marL="0" indent="0">
              <a:buNone/>
            </a:pPr>
            <a:r>
              <a:rPr lang="es-AR" sz="2400" b="1" dirty="0"/>
              <a:t>VALIDACIÓN DE DATOS</a:t>
            </a:r>
          </a:p>
          <a:p>
            <a:pPr marL="307119" lvl="1" indent="0" algn="just">
              <a:buNone/>
            </a:pPr>
            <a:r>
              <a:rPr lang="es-AR" dirty="0"/>
              <a:t>Los </a:t>
            </a:r>
            <a:r>
              <a:rPr lang="es-AR" dirty="0" err="1"/>
              <a:t>triggers</a:t>
            </a:r>
            <a:r>
              <a:rPr lang="es-AR" dirty="0"/>
              <a:t> pueden controlar ciertas acciones, por ejemplo: pueden rechazar o modificar ciertos valores que no cumplan determinadas reglas, para prevenir que datos inválidos sean insertados en la base.</a:t>
            </a:r>
          </a:p>
        </p:txBody>
      </p:sp>
    </p:spTree>
    <p:extLst>
      <p:ext uri="{BB962C8B-B14F-4D97-AF65-F5344CB8AC3E}">
        <p14:creationId xmlns:p14="http://schemas.microsoft.com/office/powerpoint/2010/main" val="2311774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76538" y="899651"/>
            <a:ext cx="8678972" cy="5471651"/>
          </a:xfrm>
        </p:spPr>
        <p:txBody>
          <a:bodyPr>
            <a:normAutofit/>
          </a:bodyPr>
          <a:lstStyle/>
          <a:p>
            <a:pPr marL="0" indent="0" algn="just">
              <a:buNone/>
            </a:pPr>
            <a:r>
              <a:rPr lang="es-AR" sz="2000" dirty="0">
                <a:solidFill>
                  <a:srgbClr val="00B050"/>
                </a:solidFill>
              </a:rPr>
              <a:t>SEGURIDAD</a:t>
            </a:r>
          </a:p>
          <a:p>
            <a:pPr marL="307119" lvl="1" indent="0" algn="just">
              <a:buNone/>
            </a:pPr>
            <a:r>
              <a:rPr lang="es-AR" sz="2000" dirty="0"/>
              <a:t>• Refuerzan las reglas de seguridad de una aplicación.</a:t>
            </a:r>
          </a:p>
          <a:p>
            <a:pPr marL="307119" lvl="1" indent="0" algn="just">
              <a:buNone/>
            </a:pPr>
            <a:r>
              <a:rPr lang="es-AR" sz="2000" dirty="0"/>
              <a:t>• Integridad de los datos mejorada.</a:t>
            </a:r>
          </a:p>
          <a:p>
            <a:pPr marL="307119" lvl="1" indent="0" algn="just">
              <a:buNone/>
            </a:pPr>
            <a:r>
              <a:rPr lang="es-AR" sz="2000" dirty="0"/>
              <a:t>• Aseguran que las operaciones relacionadas se realizan juntas de forma  implícita.</a:t>
            </a:r>
          </a:p>
          <a:p>
            <a:pPr marL="307119" lvl="1" indent="0" algn="just">
              <a:buNone/>
            </a:pPr>
            <a:r>
              <a:rPr lang="es-AR" sz="2000" dirty="0"/>
              <a:t>• Ofrece un mayor control sobre la Base de Datos.</a:t>
            </a:r>
          </a:p>
          <a:p>
            <a:pPr marL="0" indent="0" algn="just">
              <a:buNone/>
            </a:pPr>
            <a:endParaRPr lang="es-AR" sz="2000" dirty="0">
              <a:solidFill>
                <a:srgbClr val="FF0000"/>
              </a:solidFill>
            </a:endParaRPr>
          </a:p>
          <a:p>
            <a:pPr marL="0" indent="0" algn="just">
              <a:buNone/>
            </a:pPr>
            <a:r>
              <a:rPr lang="es-AR" sz="2000" dirty="0">
                <a:solidFill>
                  <a:srgbClr val="FF0000"/>
                </a:solidFill>
              </a:rPr>
              <a:t>DESVENTAJAS</a:t>
            </a:r>
          </a:p>
          <a:p>
            <a:pPr marL="307119" lvl="1" indent="0" algn="just">
              <a:buNone/>
            </a:pPr>
            <a:r>
              <a:rPr lang="es-AR" sz="2000" dirty="0"/>
              <a:t>• Hay que programarlos para cada DBMS.</a:t>
            </a:r>
          </a:p>
          <a:p>
            <a:pPr marL="307119" lvl="1" indent="0" algn="just">
              <a:buNone/>
            </a:pPr>
            <a:r>
              <a:rPr lang="es-AR" sz="2000" dirty="0"/>
              <a:t>• Un </a:t>
            </a:r>
            <a:r>
              <a:rPr lang="es-AR" sz="2000" dirty="0" err="1"/>
              <a:t>Trigger</a:t>
            </a:r>
            <a:r>
              <a:rPr lang="es-AR" sz="2000" dirty="0"/>
              <a:t> nunca se llama directamente.</a:t>
            </a:r>
          </a:p>
          <a:p>
            <a:pPr marL="307119" lvl="1" indent="0" algn="just">
              <a:buNone/>
            </a:pPr>
            <a:r>
              <a:rPr lang="es-AR" sz="2000" dirty="0"/>
              <a:t>• Por funcionalidad, no hay que poner en uno solo las funciones de INSERT,</a:t>
            </a:r>
          </a:p>
          <a:p>
            <a:pPr marL="307119" lvl="1" indent="0" algn="just">
              <a:buNone/>
            </a:pPr>
            <a:r>
              <a:rPr lang="es-AR" sz="2000" dirty="0"/>
              <a:t>UPDATE y DELETE.</a:t>
            </a:r>
          </a:p>
          <a:p>
            <a:pPr marL="307119" lvl="1" indent="0" algn="just">
              <a:buNone/>
            </a:pPr>
            <a:r>
              <a:rPr lang="es-AR" sz="2000" dirty="0"/>
              <a:t>• Utilizar moderadamente los </a:t>
            </a:r>
            <a:r>
              <a:rPr lang="es-AR" sz="2000" dirty="0" err="1"/>
              <a:t>triggers</a:t>
            </a:r>
            <a:r>
              <a:rPr lang="es-AR" sz="2000" dirty="0"/>
              <a:t>.</a:t>
            </a:r>
          </a:p>
          <a:p>
            <a:endParaRPr lang="es-AR" dirty="0"/>
          </a:p>
        </p:txBody>
      </p:sp>
    </p:spTree>
    <p:extLst>
      <p:ext uri="{BB962C8B-B14F-4D97-AF65-F5344CB8AC3E}">
        <p14:creationId xmlns:p14="http://schemas.microsoft.com/office/powerpoint/2010/main" val="2051872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39213" y="825910"/>
            <a:ext cx="8627806" cy="427704"/>
          </a:xfrm>
          <a:solidFill>
            <a:srgbClr val="0070C0"/>
          </a:solidFill>
        </p:spPr>
        <p:txBody>
          <a:bodyPr>
            <a:normAutofit fontScale="90000"/>
          </a:bodyPr>
          <a:lstStyle/>
          <a:p>
            <a:r>
              <a:rPr lang="es-AR" sz="3500" b="1" dirty="0">
                <a:solidFill>
                  <a:schemeClr val="bg1"/>
                </a:solidFill>
              </a:rPr>
              <a:t>Definición de un </a:t>
            </a:r>
            <a:r>
              <a:rPr lang="es-AR" sz="3500" b="1" dirty="0" err="1">
                <a:solidFill>
                  <a:schemeClr val="bg1"/>
                </a:solidFill>
              </a:rPr>
              <a:t>trigger</a:t>
            </a:r>
            <a:endParaRPr lang="es-AR" sz="3500" b="1" dirty="0">
              <a:solidFill>
                <a:schemeClr val="bg1"/>
              </a:solidFill>
            </a:endParaRPr>
          </a:p>
        </p:txBody>
      </p:sp>
      <p:sp>
        <p:nvSpPr>
          <p:cNvPr id="4" name="Marcador de contenido 2"/>
          <p:cNvSpPr>
            <a:spLocks noGrp="1"/>
          </p:cNvSpPr>
          <p:nvPr>
            <p:ph idx="1"/>
          </p:nvPr>
        </p:nvSpPr>
        <p:spPr>
          <a:xfrm>
            <a:off x="643493" y="1415845"/>
            <a:ext cx="8072914" cy="5068537"/>
          </a:xfrm>
        </p:spPr>
        <p:txBody>
          <a:bodyPr>
            <a:normAutofit fontScale="92500" lnSpcReduction="10000"/>
          </a:bodyPr>
          <a:lstStyle/>
          <a:p>
            <a:pPr algn="just"/>
            <a:r>
              <a:rPr lang="es-AR" dirty="0"/>
              <a:t>Para definir los </a:t>
            </a:r>
            <a:r>
              <a:rPr lang="es-AR" dirty="0" err="1"/>
              <a:t>triggers</a:t>
            </a:r>
            <a:r>
              <a:rPr lang="es-AR" dirty="0"/>
              <a:t> se utiliza el comando SQL:</a:t>
            </a:r>
          </a:p>
          <a:p>
            <a:pPr marL="0" indent="0" algn="just">
              <a:buNone/>
            </a:pPr>
            <a:r>
              <a:rPr lang="es-AR" dirty="0"/>
              <a:t>	</a:t>
            </a:r>
            <a:r>
              <a:rPr lang="es-AR" b="1" dirty="0"/>
              <a:t>CREATE OR REPLACE TRIGGER</a:t>
            </a:r>
          </a:p>
          <a:p>
            <a:pPr marL="0" indent="0" algn="just">
              <a:buNone/>
            </a:pPr>
            <a:r>
              <a:rPr lang="es-AR" dirty="0">
                <a:highlight>
                  <a:srgbClr val="C0C0C0"/>
                </a:highlight>
              </a:rPr>
              <a:t>La definición de un </a:t>
            </a:r>
            <a:r>
              <a:rPr lang="es-AR" dirty="0" err="1">
                <a:highlight>
                  <a:srgbClr val="C0C0C0"/>
                </a:highlight>
              </a:rPr>
              <a:t>trigger</a:t>
            </a:r>
            <a:r>
              <a:rPr lang="es-AR" dirty="0">
                <a:highlight>
                  <a:srgbClr val="C0C0C0"/>
                </a:highlight>
              </a:rPr>
              <a:t> tiene tres partes:</a:t>
            </a:r>
          </a:p>
          <a:p>
            <a:pPr algn="just"/>
            <a:r>
              <a:rPr lang="es-AR" b="1" dirty="0"/>
              <a:t>Evento</a:t>
            </a:r>
            <a:r>
              <a:rPr lang="es-AR" dirty="0"/>
              <a:t>:</a:t>
            </a:r>
          </a:p>
          <a:p>
            <a:pPr marL="350992" lvl="1" indent="0" algn="just">
              <a:buNone/>
            </a:pPr>
            <a:r>
              <a:rPr lang="es-AR" dirty="0"/>
              <a:t>Se especifica el comando DML de SQL que dispara el </a:t>
            </a:r>
            <a:r>
              <a:rPr lang="es-AR" dirty="0" err="1"/>
              <a:t>Trigger</a:t>
            </a:r>
            <a:r>
              <a:rPr lang="es-AR" dirty="0"/>
              <a:t>:</a:t>
            </a:r>
          </a:p>
          <a:p>
            <a:pPr marL="350992" lvl="1" indent="0" algn="just">
              <a:buNone/>
            </a:pPr>
            <a:r>
              <a:rPr lang="es-AR" b="1" dirty="0"/>
              <a:t> </a:t>
            </a:r>
            <a:r>
              <a:rPr lang="es-AR" b="1" dirty="0" err="1"/>
              <a:t>Delete</a:t>
            </a:r>
            <a:r>
              <a:rPr lang="es-AR" b="1" dirty="0"/>
              <a:t>, </a:t>
            </a:r>
            <a:r>
              <a:rPr lang="es-AR" b="1" dirty="0" err="1"/>
              <a:t>Insert</a:t>
            </a:r>
            <a:r>
              <a:rPr lang="es-AR" b="1" dirty="0"/>
              <a:t> </a:t>
            </a:r>
            <a:r>
              <a:rPr lang="es-AR" dirty="0"/>
              <a:t>o </a:t>
            </a:r>
            <a:r>
              <a:rPr lang="es-AR" b="1" dirty="0" err="1"/>
              <a:t>Update</a:t>
            </a:r>
            <a:endParaRPr lang="es-AR" b="1" dirty="0"/>
          </a:p>
          <a:p>
            <a:pPr algn="just"/>
            <a:r>
              <a:rPr lang="es-AR" b="1" dirty="0"/>
              <a:t>Condición:</a:t>
            </a:r>
          </a:p>
          <a:p>
            <a:pPr lvl="1" algn="just"/>
            <a:r>
              <a:rPr lang="es-AR" b="1" dirty="0"/>
              <a:t>BEFORE</a:t>
            </a:r>
            <a:r>
              <a:rPr lang="es-AR" dirty="0"/>
              <a:t>, antes de ejecutar el evento.</a:t>
            </a:r>
          </a:p>
          <a:p>
            <a:pPr lvl="1" algn="just"/>
            <a:r>
              <a:rPr lang="es-AR" b="1" dirty="0"/>
              <a:t>AFTER</a:t>
            </a:r>
            <a:r>
              <a:rPr lang="es-AR" dirty="0"/>
              <a:t>, después de ejecutar el evento.</a:t>
            </a:r>
          </a:p>
          <a:p>
            <a:pPr algn="just"/>
            <a:r>
              <a:rPr lang="es-AR" b="1" dirty="0"/>
              <a:t>Acción:</a:t>
            </a:r>
          </a:p>
          <a:p>
            <a:pPr lvl="1" algn="just"/>
            <a:r>
              <a:rPr lang="es-AR" dirty="0"/>
              <a:t>Se define mediante comandos y sentencias SQL y PL/SQL, la tarea específica que realiza el </a:t>
            </a:r>
            <a:r>
              <a:rPr lang="es-AR" dirty="0" err="1"/>
              <a:t>Trigger</a:t>
            </a:r>
            <a:r>
              <a:rPr lang="es-AR" dirty="0"/>
              <a:t>.</a:t>
            </a:r>
          </a:p>
        </p:txBody>
      </p:sp>
    </p:spTree>
    <p:extLst>
      <p:ext uri="{BB962C8B-B14F-4D97-AF65-F5344CB8AC3E}">
        <p14:creationId xmlns:p14="http://schemas.microsoft.com/office/powerpoint/2010/main" val="2306921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09538" y="897808"/>
            <a:ext cx="8540823" cy="459044"/>
          </a:xfrm>
          <a:solidFill>
            <a:srgbClr val="0070C0"/>
          </a:solidFill>
        </p:spPr>
        <p:txBody>
          <a:bodyPr>
            <a:noAutofit/>
          </a:bodyPr>
          <a:lstStyle/>
          <a:p>
            <a:pPr algn="l"/>
            <a:r>
              <a:rPr lang="es-AR" sz="2800" b="1" dirty="0">
                <a:solidFill>
                  <a:schemeClr val="bg1"/>
                </a:solidFill>
              </a:rPr>
              <a:t>Sintaxis de un </a:t>
            </a:r>
            <a:r>
              <a:rPr lang="es-AR" sz="2800" b="1" dirty="0" err="1">
                <a:solidFill>
                  <a:schemeClr val="bg1"/>
                </a:solidFill>
              </a:rPr>
              <a:t>trigger</a:t>
            </a:r>
            <a:endParaRPr lang="es-AR" sz="2800" b="1" dirty="0">
              <a:solidFill>
                <a:schemeClr val="bg1"/>
              </a:solidFill>
            </a:endParaRPr>
          </a:p>
        </p:txBody>
      </p:sp>
      <p:sp>
        <p:nvSpPr>
          <p:cNvPr id="3" name="Marcador de contenido 2"/>
          <p:cNvSpPr>
            <a:spLocks noGrp="1"/>
          </p:cNvSpPr>
          <p:nvPr>
            <p:ph idx="1"/>
          </p:nvPr>
        </p:nvSpPr>
        <p:spPr>
          <a:xfrm>
            <a:off x="409538" y="1592826"/>
            <a:ext cx="8540823" cy="3952567"/>
          </a:xfrm>
        </p:spPr>
        <p:txBody>
          <a:bodyPr>
            <a:noAutofit/>
          </a:bodyPr>
          <a:lstStyle/>
          <a:p>
            <a:pPr marL="0" indent="0">
              <a:buNone/>
            </a:pPr>
            <a:r>
              <a:rPr lang="en-US" sz="2000" b="1" dirty="0"/>
              <a:t>CREATE [OR REPLACE] TRIGGER </a:t>
            </a:r>
            <a:r>
              <a:rPr lang="en-US" sz="2000" dirty="0"/>
              <a:t>&lt;</a:t>
            </a:r>
            <a:r>
              <a:rPr lang="en-US" sz="2000" dirty="0" err="1"/>
              <a:t>nombre_trigger</a:t>
            </a:r>
            <a:r>
              <a:rPr lang="en-US" sz="2000" dirty="0"/>
              <a:t>&gt;</a:t>
            </a:r>
          </a:p>
          <a:p>
            <a:pPr marL="0" indent="0">
              <a:buNone/>
            </a:pPr>
            <a:r>
              <a:rPr lang="es-AR" sz="2000" dirty="0"/>
              <a:t>{</a:t>
            </a:r>
            <a:r>
              <a:rPr lang="es-AR" sz="2000" b="1" dirty="0"/>
              <a:t>BEFORE|AFTER</a:t>
            </a:r>
            <a:r>
              <a:rPr lang="es-AR" sz="2000" dirty="0"/>
              <a:t>}</a:t>
            </a:r>
          </a:p>
          <a:p>
            <a:pPr marL="0" indent="0">
              <a:buNone/>
            </a:pPr>
            <a:r>
              <a:rPr lang="es-AR" sz="2000" dirty="0"/>
              <a:t>{DELETE|INSERT|UPDATE [OF &lt;col1&gt;, ..., &lt;</a:t>
            </a:r>
            <a:r>
              <a:rPr lang="es-AR" sz="2000" dirty="0" err="1"/>
              <a:t>colN</a:t>
            </a:r>
            <a:r>
              <a:rPr lang="es-AR" sz="2000" dirty="0"/>
              <a:t>&gt;]</a:t>
            </a:r>
          </a:p>
          <a:p>
            <a:pPr marL="0" indent="0">
              <a:buNone/>
            </a:pPr>
            <a:r>
              <a:rPr lang="es-AR" sz="2000" b="1" dirty="0"/>
              <a:t>ON </a:t>
            </a:r>
            <a:r>
              <a:rPr lang="es-AR" sz="2000" dirty="0" err="1"/>
              <a:t>table</a:t>
            </a:r>
            <a:r>
              <a:rPr lang="es-AR" sz="2000" dirty="0"/>
              <a:t> &lt;</a:t>
            </a:r>
            <a:r>
              <a:rPr lang="es-AR" sz="2000" dirty="0" err="1"/>
              <a:t>nombre_tabla</a:t>
            </a:r>
            <a:r>
              <a:rPr lang="es-AR" sz="2000" dirty="0"/>
              <a:t>&gt;</a:t>
            </a:r>
          </a:p>
          <a:p>
            <a:pPr marL="0" indent="0">
              <a:buNone/>
            </a:pPr>
            <a:r>
              <a:rPr lang="en-US" sz="2000" dirty="0"/>
              <a:t>[</a:t>
            </a:r>
            <a:r>
              <a:rPr lang="en-US" sz="2000" b="1" dirty="0"/>
              <a:t>FOR EACH ROW </a:t>
            </a:r>
            <a:r>
              <a:rPr lang="en-US" sz="2000" dirty="0"/>
              <a:t>[WHEN (&lt;</a:t>
            </a:r>
            <a:r>
              <a:rPr lang="en-US" sz="2000" dirty="0" err="1"/>
              <a:t>condicion</a:t>
            </a:r>
            <a:r>
              <a:rPr lang="en-US" sz="2000" dirty="0"/>
              <a:t>&gt;)]]</a:t>
            </a:r>
          </a:p>
          <a:p>
            <a:pPr marL="307119" lvl="1" indent="0">
              <a:buNone/>
            </a:pPr>
            <a:r>
              <a:rPr lang="en-US" sz="2000" dirty="0"/>
              <a:t>Declare </a:t>
            </a:r>
          </a:p>
          <a:p>
            <a:pPr marL="614237" lvl="2" indent="0">
              <a:buNone/>
            </a:pPr>
            <a:r>
              <a:rPr lang="en-US" sz="2000" dirty="0"/>
              <a:t>Begin</a:t>
            </a:r>
          </a:p>
          <a:p>
            <a:pPr marL="614237" lvl="2" indent="0">
              <a:buNone/>
            </a:pPr>
            <a:r>
              <a:rPr lang="en-US" sz="2000" dirty="0"/>
              <a:t>…….</a:t>
            </a:r>
          </a:p>
          <a:p>
            <a:pPr marL="614237" lvl="2" indent="0">
              <a:buNone/>
            </a:pPr>
            <a:r>
              <a:rPr lang="en-US" sz="2000" dirty="0"/>
              <a:t>…….</a:t>
            </a:r>
          </a:p>
          <a:p>
            <a:pPr marL="614237" lvl="2" indent="0">
              <a:buNone/>
            </a:pPr>
            <a:r>
              <a:rPr lang="en-US" sz="2000" dirty="0"/>
              <a:t>End;</a:t>
            </a:r>
            <a:endParaRPr lang="es-AR" sz="2000" dirty="0"/>
          </a:p>
        </p:txBody>
      </p:sp>
    </p:spTree>
    <p:extLst>
      <p:ext uri="{BB962C8B-B14F-4D97-AF65-F5344CB8AC3E}">
        <p14:creationId xmlns:p14="http://schemas.microsoft.com/office/powerpoint/2010/main" val="773900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p:cNvSpPr>
            <a:spLocks noGrp="1"/>
          </p:cNvSpPr>
          <p:nvPr>
            <p:ph idx="1"/>
          </p:nvPr>
        </p:nvSpPr>
        <p:spPr>
          <a:xfrm>
            <a:off x="575187" y="1002890"/>
            <a:ext cx="8273845" cy="4868215"/>
          </a:xfrm>
        </p:spPr>
        <p:txBody>
          <a:bodyPr>
            <a:normAutofit lnSpcReduction="10000"/>
          </a:bodyPr>
          <a:lstStyle/>
          <a:p>
            <a:pPr marL="0" indent="0">
              <a:buNone/>
            </a:pPr>
            <a:r>
              <a:rPr lang="es-AR" dirty="0"/>
              <a:t>Las columnas de una tabla asociada con un disparador pueden referenciarse empleando los alias OLD  y NEW</a:t>
            </a:r>
            <a:br>
              <a:rPr lang="es-AR" dirty="0"/>
            </a:br>
            <a:endParaRPr lang="es-AR" dirty="0"/>
          </a:p>
          <a:p>
            <a:pPr algn="just"/>
            <a:r>
              <a:rPr lang="es-AR" dirty="0" err="1"/>
              <a:t>OLD.nombre_col</a:t>
            </a:r>
            <a:r>
              <a:rPr lang="es-AR" dirty="0"/>
              <a:t> hace referencia a una columna de una fila existente, antes de ser actualizada o borrada. </a:t>
            </a:r>
          </a:p>
          <a:p>
            <a:pPr algn="just"/>
            <a:r>
              <a:rPr lang="es-AR" dirty="0" err="1"/>
              <a:t>NEW.nombre_col</a:t>
            </a:r>
            <a:r>
              <a:rPr lang="es-AR" dirty="0">
                <a:solidFill>
                  <a:srgbClr val="000000"/>
                </a:solidFill>
                <a:latin typeface="Arial" panose="020B0604020202020204" pitchFamily="34" charset="0"/>
              </a:rPr>
              <a:t> </a:t>
            </a:r>
            <a:r>
              <a:rPr lang="es-AR" dirty="0"/>
              <a:t>hace referencia a una columna en una nueva fila a punto de ser insertada, o en una fila existente luego de que fue actualizada.</a:t>
            </a:r>
            <a:br>
              <a:rPr lang="es-AR" dirty="0"/>
            </a:br>
            <a:endParaRPr lang="es-AR" dirty="0"/>
          </a:p>
          <a:p>
            <a:pPr algn="just"/>
            <a:r>
              <a:rPr lang="es-AR" sz="1382" dirty="0"/>
              <a:t>Ejemplo. Compara si el salario ha aumentado en más del 25% de salario     antiguo:</a:t>
            </a:r>
          </a:p>
          <a:p>
            <a:pPr marL="0" indent="0">
              <a:buNone/>
            </a:pPr>
            <a:r>
              <a:rPr lang="es-AR" dirty="0"/>
              <a:t>  		</a:t>
            </a:r>
            <a:r>
              <a:rPr lang="es-AR" sz="1996" b="1" dirty="0" err="1"/>
              <a:t>NEW</a:t>
            </a:r>
            <a:r>
              <a:rPr lang="es-AR" sz="1996" dirty="0" err="1"/>
              <a:t>.salario</a:t>
            </a:r>
            <a:r>
              <a:rPr lang="es-AR" sz="1996" dirty="0"/>
              <a:t> &gt; (</a:t>
            </a:r>
            <a:r>
              <a:rPr lang="es-AR" sz="1996" b="1" dirty="0" err="1"/>
              <a:t>OLD</a:t>
            </a:r>
            <a:r>
              <a:rPr lang="es-AR" sz="1996" dirty="0" err="1"/>
              <a:t>.salario</a:t>
            </a:r>
            <a:r>
              <a:rPr lang="es-AR" sz="1996" dirty="0"/>
              <a:t>*1.25)</a:t>
            </a:r>
          </a:p>
        </p:txBody>
      </p:sp>
    </p:spTree>
    <p:extLst>
      <p:ext uri="{BB962C8B-B14F-4D97-AF65-F5344CB8AC3E}">
        <p14:creationId xmlns:p14="http://schemas.microsoft.com/office/powerpoint/2010/main" val="478804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p:cNvSpPr>
            <a:spLocks noGrp="1"/>
          </p:cNvSpPr>
          <p:nvPr>
            <p:ph idx="1"/>
          </p:nvPr>
        </p:nvSpPr>
        <p:spPr>
          <a:xfrm>
            <a:off x="457201" y="855405"/>
            <a:ext cx="8509818" cy="5589639"/>
          </a:xfrm>
        </p:spPr>
        <p:txBody>
          <a:bodyPr>
            <a:normAutofit fontScale="85000" lnSpcReduction="20000"/>
          </a:bodyPr>
          <a:lstStyle/>
          <a:p>
            <a:pPr marL="307119" lvl="1" indent="0">
              <a:buNone/>
            </a:pPr>
            <a:r>
              <a:rPr lang="en-US" dirty="0"/>
              <a:t>EJEMPLOS CON TRIGGERS</a:t>
            </a:r>
          </a:p>
          <a:p>
            <a:pPr marL="307119" lvl="1" indent="0">
              <a:buNone/>
            </a:pPr>
            <a:endParaRPr lang="en-US" sz="1900" dirty="0"/>
          </a:p>
          <a:p>
            <a:pPr marL="307119" lvl="1" indent="0">
              <a:buNone/>
            </a:pPr>
            <a:r>
              <a:rPr lang="en-US" sz="1900" dirty="0"/>
              <a:t>ACTUALIZA LA CANTIDAD CADA VEZ QUE SE INSERTAUN REGISTRO EN LA TABLA ALUMNO</a:t>
            </a:r>
          </a:p>
          <a:p>
            <a:pPr marL="307119" lvl="1" indent="0">
              <a:buNone/>
            </a:pPr>
            <a:endParaRPr lang="en-US" dirty="0"/>
          </a:p>
          <a:p>
            <a:pPr marL="307119" lvl="1" indent="0">
              <a:buNone/>
            </a:pPr>
            <a:r>
              <a:rPr lang="en-US" dirty="0"/>
              <a:t>create table total(</a:t>
            </a:r>
            <a:endParaRPr lang="es-AR" dirty="0"/>
          </a:p>
          <a:p>
            <a:pPr marL="307119" lvl="1" indent="0">
              <a:buNone/>
            </a:pPr>
            <a:r>
              <a:rPr lang="en-US" dirty="0" err="1"/>
              <a:t>cant_prof</a:t>
            </a:r>
            <a:r>
              <a:rPr lang="en-US" dirty="0"/>
              <a:t> </a:t>
            </a:r>
            <a:r>
              <a:rPr lang="en-US" dirty="0" err="1"/>
              <a:t>int</a:t>
            </a:r>
            <a:r>
              <a:rPr lang="en-US" dirty="0"/>
              <a:t>,</a:t>
            </a:r>
            <a:endParaRPr lang="es-AR" dirty="0"/>
          </a:p>
          <a:p>
            <a:pPr marL="307119" lvl="1" indent="0">
              <a:buNone/>
            </a:pPr>
            <a:r>
              <a:rPr lang="en-US" dirty="0" err="1"/>
              <a:t>cant_alu</a:t>
            </a:r>
            <a:r>
              <a:rPr lang="en-US" dirty="0"/>
              <a:t> </a:t>
            </a:r>
            <a:r>
              <a:rPr lang="en-US" dirty="0" err="1"/>
              <a:t>int</a:t>
            </a:r>
            <a:r>
              <a:rPr lang="en-US" dirty="0"/>
              <a:t>)</a:t>
            </a:r>
            <a:endParaRPr lang="es-AR" dirty="0"/>
          </a:p>
          <a:p>
            <a:pPr marL="307119" lvl="1" indent="0">
              <a:buNone/>
            </a:pPr>
            <a:r>
              <a:rPr lang="en-US" dirty="0"/>
              <a:t> </a:t>
            </a:r>
            <a:endParaRPr lang="es-AR" dirty="0"/>
          </a:p>
          <a:p>
            <a:pPr marL="307119" lvl="1" indent="0">
              <a:buNone/>
            </a:pPr>
            <a:r>
              <a:rPr lang="en-US" dirty="0"/>
              <a:t>-- TRIGGER PARA INSERT</a:t>
            </a:r>
            <a:endParaRPr lang="es-AR" dirty="0"/>
          </a:p>
          <a:p>
            <a:pPr marL="307119" lvl="1" indent="0">
              <a:buNone/>
            </a:pPr>
            <a:r>
              <a:rPr lang="en-US" dirty="0"/>
              <a:t>DELIMITER//</a:t>
            </a:r>
            <a:endParaRPr lang="es-AR" dirty="0"/>
          </a:p>
          <a:p>
            <a:pPr marL="307119" lvl="1" indent="0">
              <a:buNone/>
            </a:pPr>
            <a:r>
              <a:rPr lang="en-US" dirty="0"/>
              <a:t>CREATE TRIGGER ACTUALIZA</a:t>
            </a:r>
            <a:r>
              <a:rPr lang="es-AR" dirty="0"/>
              <a:t> </a:t>
            </a:r>
            <a:r>
              <a:rPr lang="en-US" dirty="0"/>
              <a:t>AFTER INSERT ON ALUMNO</a:t>
            </a:r>
            <a:endParaRPr lang="es-AR" dirty="0"/>
          </a:p>
          <a:p>
            <a:pPr marL="307119" lvl="1" indent="0">
              <a:buNone/>
            </a:pPr>
            <a:r>
              <a:rPr lang="en-US" dirty="0"/>
              <a:t>FOR EACH ROW</a:t>
            </a:r>
            <a:endParaRPr lang="es-AR" dirty="0"/>
          </a:p>
          <a:p>
            <a:pPr marL="307119" lvl="1" indent="0">
              <a:buNone/>
            </a:pPr>
            <a:r>
              <a:rPr lang="en-US" dirty="0"/>
              <a:t>BEGIN</a:t>
            </a:r>
            <a:endParaRPr lang="es-AR" dirty="0"/>
          </a:p>
          <a:p>
            <a:pPr marL="614237" lvl="2" indent="0">
              <a:buNone/>
            </a:pPr>
            <a:r>
              <a:rPr lang="en-US" dirty="0"/>
              <a:t>UPDATE TOTAL</a:t>
            </a:r>
            <a:endParaRPr lang="es-AR" dirty="0"/>
          </a:p>
          <a:p>
            <a:pPr marL="614237" lvl="2" indent="0">
              <a:buNone/>
            </a:pPr>
            <a:r>
              <a:rPr lang="en-US" sz="2000" dirty="0"/>
              <a:t>SET </a:t>
            </a:r>
            <a:r>
              <a:rPr lang="en-US" sz="2000" dirty="0" err="1"/>
              <a:t>cant_alu</a:t>
            </a:r>
            <a:r>
              <a:rPr lang="en-US" sz="2000" dirty="0"/>
              <a:t>=cant_alu+1;</a:t>
            </a:r>
            <a:endParaRPr lang="es-AR" sz="2000" dirty="0"/>
          </a:p>
          <a:p>
            <a:pPr marL="307119" lvl="1" indent="0">
              <a:buNone/>
            </a:pPr>
            <a:r>
              <a:rPr lang="es-AR" dirty="0"/>
              <a:t>END//</a:t>
            </a:r>
          </a:p>
          <a:p>
            <a:pPr marL="307119" lvl="1" indent="0">
              <a:buNone/>
            </a:pPr>
            <a:r>
              <a:rPr lang="es-AR" dirty="0"/>
              <a:t>DELIMITER;</a:t>
            </a:r>
          </a:p>
          <a:p>
            <a:pPr marL="307119" lvl="1" indent="0">
              <a:buNone/>
            </a:pPr>
            <a:r>
              <a:rPr lang="es-AR" dirty="0"/>
              <a:t> </a:t>
            </a:r>
          </a:p>
          <a:p>
            <a:pPr marL="307119" lvl="1" indent="0">
              <a:buNone/>
            </a:pPr>
            <a:r>
              <a:rPr lang="es-AR" dirty="0"/>
              <a:t> </a:t>
            </a:r>
          </a:p>
          <a:p>
            <a:endParaRPr lang="es-AR" dirty="0"/>
          </a:p>
        </p:txBody>
      </p:sp>
    </p:spTree>
    <p:extLst>
      <p:ext uri="{BB962C8B-B14F-4D97-AF65-F5344CB8AC3E}">
        <p14:creationId xmlns:p14="http://schemas.microsoft.com/office/powerpoint/2010/main" val="538770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89513" y="1471178"/>
            <a:ext cx="6464131" cy="4034101"/>
          </a:xfrm>
        </p:spPr>
        <p:txBody>
          <a:bodyPr>
            <a:normAutofit fontScale="85000" lnSpcReduction="20000"/>
          </a:bodyPr>
          <a:lstStyle/>
          <a:p>
            <a:pPr marL="307119" lvl="1" indent="0">
              <a:buNone/>
            </a:pPr>
            <a:r>
              <a:rPr lang="es-AR" dirty="0"/>
              <a:t>CONTROLA QUE NO SE INGRESE UNA EDAD NEGATIVA</a:t>
            </a:r>
          </a:p>
          <a:p>
            <a:pPr marL="307119" lvl="1" indent="0">
              <a:buNone/>
            </a:pPr>
            <a:endParaRPr lang="es-AR" dirty="0"/>
          </a:p>
          <a:p>
            <a:pPr marL="307119" lvl="1" indent="0">
              <a:buNone/>
            </a:pPr>
            <a:r>
              <a:rPr lang="es-AR" dirty="0" err="1"/>
              <a:t>Delimiter</a:t>
            </a:r>
            <a:r>
              <a:rPr lang="es-AR" dirty="0"/>
              <a:t>$$</a:t>
            </a:r>
          </a:p>
          <a:p>
            <a:pPr marL="307119" lvl="1" indent="0">
              <a:buNone/>
            </a:pPr>
            <a:r>
              <a:rPr lang="es-AR" dirty="0" err="1"/>
              <a:t>create</a:t>
            </a:r>
            <a:r>
              <a:rPr lang="es-AR" dirty="0"/>
              <a:t> </a:t>
            </a:r>
            <a:r>
              <a:rPr lang="es-AR" dirty="0" err="1"/>
              <a:t>trigger</a:t>
            </a:r>
            <a:r>
              <a:rPr lang="es-AR" dirty="0"/>
              <a:t> </a:t>
            </a:r>
            <a:r>
              <a:rPr lang="es-AR" dirty="0" err="1"/>
              <a:t>controla_edada</a:t>
            </a:r>
            <a:endParaRPr lang="es-AR" dirty="0"/>
          </a:p>
          <a:p>
            <a:pPr marL="307119" lvl="1" indent="0">
              <a:buNone/>
            </a:pPr>
            <a:r>
              <a:rPr lang="es-AR" dirty="0"/>
              <a:t>BEFORE UPDATE </a:t>
            </a:r>
            <a:r>
              <a:rPr lang="es-AR" dirty="0" err="1"/>
              <a:t>on</a:t>
            </a:r>
            <a:r>
              <a:rPr lang="es-AR" dirty="0"/>
              <a:t> alumno</a:t>
            </a:r>
          </a:p>
          <a:p>
            <a:pPr marL="307119" lvl="1" indent="0">
              <a:buNone/>
            </a:pPr>
            <a:r>
              <a:rPr lang="en-US" dirty="0"/>
              <a:t>for each row </a:t>
            </a:r>
          </a:p>
          <a:p>
            <a:pPr marL="307119" lvl="1" indent="0">
              <a:buNone/>
            </a:pPr>
            <a:r>
              <a:rPr lang="en-US" dirty="0"/>
              <a:t>BEGIN</a:t>
            </a:r>
            <a:endParaRPr lang="es-AR" dirty="0"/>
          </a:p>
          <a:p>
            <a:pPr marL="307119" lvl="1" indent="0">
              <a:buNone/>
            </a:pPr>
            <a:r>
              <a:rPr lang="en-US" dirty="0"/>
              <a:t>-- La </a:t>
            </a:r>
            <a:r>
              <a:rPr lang="en-US" dirty="0" err="1"/>
              <a:t>edad</a:t>
            </a:r>
            <a:r>
              <a:rPr lang="en-US" dirty="0"/>
              <a:t> </a:t>
            </a:r>
            <a:r>
              <a:rPr lang="en-US" dirty="0" err="1"/>
              <a:t>es</a:t>
            </a:r>
            <a:r>
              <a:rPr lang="en-US" dirty="0"/>
              <a:t> </a:t>
            </a:r>
            <a:r>
              <a:rPr lang="en-US" dirty="0" err="1"/>
              <a:t>negativa</a:t>
            </a:r>
            <a:r>
              <a:rPr lang="en-US" dirty="0"/>
              <a:t>?</a:t>
            </a:r>
            <a:endParaRPr lang="es-AR" dirty="0"/>
          </a:p>
          <a:p>
            <a:pPr marL="307119" lvl="1" indent="0">
              <a:buNone/>
            </a:pPr>
            <a:r>
              <a:rPr lang="en-US" dirty="0"/>
              <a:t>IF </a:t>
            </a:r>
            <a:r>
              <a:rPr lang="en-US" dirty="0" err="1"/>
              <a:t>NEW.edad</a:t>
            </a:r>
            <a:r>
              <a:rPr lang="en-US" dirty="0"/>
              <a:t>&lt;0 THEN</a:t>
            </a:r>
            <a:endParaRPr lang="es-AR" dirty="0"/>
          </a:p>
          <a:p>
            <a:pPr marL="614237" lvl="2" indent="0">
              <a:buNone/>
            </a:pPr>
            <a:r>
              <a:rPr lang="en-US" dirty="0"/>
              <a:t>SET </a:t>
            </a:r>
            <a:r>
              <a:rPr lang="en-US" dirty="0" err="1"/>
              <a:t>NEW.edad</a:t>
            </a:r>
            <a:r>
              <a:rPr lang="en-US" dirty="0"/>
              <a:t> = NULL;</a:t>
            </a:r>
            <a:endParaRPr lang="es-AR" dirty="0"/>
          </a:p>
          <a:p>
            <a:pPr marL="307119" lvl="1" indent="0">
              <a:buNone/>
            </a:pPr>
            <a:r>
              <a:rPr lang="en-US" dirty="0"/>
              <a:t>END IF;</a:t>
            </a:r>
            <a:endParaRPr lang="es-AR" dirty="0"/>
          </a:p>
          <a:p>
            <a:pPr marL="307119" lvl="1" indent="0">
              <a:buNone/>
            </a:pPr>
            <a:r>
              <a:rPr lang="es-AR" dirty="0"/>
              <a:t>END;</a:t>
            </a:r>
          </a:p>
          <a:p>
            <a:pPr marL="307119" lvl="1" indent="0">
              <a:buNone/>
            </a:pPr>
            <a:r>
              <a:rPr lang="es-AR" dirty="0" err="1"/>
              <a:t>Delimiter</a:t>
            </a:r>
            <a:r>
              <a:rPr lang="es-AR" dirty="0"/>
              <a:t>;</a:t>
            </a:r>
          </a:p>
          <a:p>
            <a:pPr marL="307119" lvl="1" indent="0">
              <a:buNone/>
            </a:pPr>
            <a:endParaRPr lang="es-AR" dirty="0"/>
          </a:p>
          <a:p>
            <a:endParaRPr lang="es-AR" dirty="0"/>
          </a:p>
        </p:txBody>
      </p:sp>
    </p:spTree>
    <p:extLst>
      <p:ext uri="{BB962C8B-B14F-4D97-AF65-F5344CB8AC3E}">
        <p14:creationId xmlns:p14="http://schemas.microsoft.com/office/powerpoint/2010/main" val="3233706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01993" y="2772697"/>
            <a:ext cx="7955915" cy="911952"/>
          </a:xfrm>
          <a:solidFill>
            <a:srgbClr val="0070C0"/>
          </a:solidFill>
        </p:spPr>
        <p:txBody>
          <a:bodyPr>
            <a:normAutofit fontScale="90000"/>
          </a:bodyPr>
          <a:lstStyle/>
          <a:p>
            <a:r>
              <a:rPr lang="es-AR" b="1" dirty="0">
                <a:solidFill>
                  <a:schemeClr val="bg1"/>
                </a:solidFill>
              </a:rPr>
              <a:t>VISTAS</a:t>
            </a:r>
          </a:p>
        </p:txBody>
      </p:sp>
    </p:spTree>
    <p:extLst>
      <p:ext uri="{BB962C8B-B14F-4D97-AF65-F5344CB8AC3E}">
        <p14:creationId xmlns:p14="http://schemas.microsoft.com/office/powerpoint/2010/main" val="4075565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50996" y="988141"/>
            <a:ext cx="8689765" cy="457201"/>
          </a:xfrm>
          <a:solidFill>
            <a:srgbClr val="0070C0"/>
          </a:solidFill>
        </p:spPr>
        <p:txBody>
          <a:bodyPr>
            <a:noAutofit/>
          </a:bodyPr>
          <a:lstStyle/>
          <a:p>
            <a:r>
              <a:rPr lang="es-AR" sz="3200" b="1" dirty="0">
                <a:solidFill>
                  <a:schemeClr val="bg1"/>
                </a:solidFill>
              </a:rPr>
              <a:t>Que son las vistas?</a:t>
            </a:r>
          </a:p>
        </p:txBody>
      </p:sp>
      <p:sp>
        <p:nvSpPr>
          <p:cNvPr id="4" name="2 Marcador de contenido"/>
          <p:cNvSpPr txBox="1">
            <a:spLocks/>
          </p:cNvSpPr>
          <p:nvPr/>
        </p:nvSpPr>
        <p:spPr>
          <a:xfrm>
            <a:off x="350996" y="1592826"/>
            <a:ext cx="8498036" cy="4387179"/>
          </a:xfrm>
          <a:prstGeom prst="rect">
            <a:avLst/>
          </a:prstGeom>
        </p:spPr>
        <p:txBody>
          <a:bodyPr vert="horz" lIns="70199" tIns="35100" rIns="70199" bIns="3510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MX" sz="2150" dirty="0"/>
              <a:t>Una vista es una tabla virtual cuyo contenido está definido por una consulta. </a:t>
            </a:r>
          </a:p>
          <a:p>
            <a:pPr marL="0" indent="0" algn="just">
              <a:buNone/>
            </a:pPr>
            <a:endParaRPr lang="es-MX" sz="2150" dirty="0"/>
          </a:p>
          <a:p>
            <a:pPr algn="just"/>
            <a:r>
              <a:rPr lang="es-MX" sz="2150" dirty="0"/>
              <a:t>Al igual que una tabla real, una vista consta de un conjunto de columnas y filas de datos con un nombre.</a:t>
            </a:r>
          </a:p>
          <a:p>
            <a:pPr marL="0" indent="0" algn="just">
              <a:buNone/>
            </a:pPr>
            <a:endParaRPr lang="es-MX" sz="2150" dirty="0"/>
          </a:p>
          <a:p>
            <a:pPr algn="just"/>
            <a:r>
              <a:rPr lang="es-MX" sz="2150" dirty="0"/>
              <a:t>Las filas y las columnas de datos proceden de tablas a las que se hace referencia en la consulta que define la vista y se producen de forma dinámica cuando se hace referencia a la vista.</a:t>
            </a:r>
          </a:p>
          <a:p>
            <a:pPr algn="just"/>
            <a:endParaRPr lang="es-MX" sz="2150" dirty="0"/>
          </a:p>
          <a:p>
            <a:pPr algn="just"/>
            <a:r>
              <a:rPr lang="es-MX" sz="2150" dirty="0"/>
              <a:t>Una vista actúa como filtro de las tablas subyacentes a las que se hace referencia en ella.</a:t>
            </a:r>
          </a:p>
        </p:txBody>
      </p:sp>
    </p:spTree>
    <p:extLst>
      <p:ext uri="{BB962C8B-B14F-4D97-AF65-F5344CB8AC3E}">
        <p14:creationId xmlns:p14="http://schemas.microsoft.com/office/powerpoint/2010/main" val="440792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3493" y="1247494"/>
            <a:ext cx="8072914" cy="461232"/>
          </a:xfrm>
        </p:spPr>
        <p:txBody>
          <a:bodyPr>
            <a:normAutofit fontScale="90000"/>
          </a:bodyPr>
          <a:lstStyle/>
          <a:p>
            <a:r>
              <a:rPr lang="es-AR" dirty="0"/>
              <a:t>Ejemplo:</a:t>
            </a:r>
          </a:p>
        </p:txBody>
      </p:sp>
      <p:pic>
        <p:nvPicPr>
          <p:cNvPr id="4" name="Imagen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94" y="1777937"/>
            <a:ext cx="7464026" cy="4069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1266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1801" y="819791"/>
            <a:ext cx="8716297" cy="419074"/>
          </a:xfrm>
          <a:solidFill>
            <a:srgbClr val="0070C0"/>
          </a:solidFill>
        </p:spPr>
        <p:txBody>
          <a:bodyPr>
            <a:noAutofit/>
          </a:bodyPr>
          <a:lstStyle/>
          <a:p>
            <a:r>
              <a:rPr lang="es-MX" sz="3600" b="1" dirty="0">
                <a:solidFill>
                  <a:schemeClr val="bg1"/>
                </a:solidFill>
              </a:rPr>
              <a:t>Escenarios de utilización</a:t>
            </a:r>
            <a:endParaRPr lang="es-AR" sz="3600" b="1" dirty="0">
              <a:solidFill>
                <a:schemeClr val="bg1"/>
              </a:solidFill>
            </a:endParaRPr>
          </a:p>
        </p:txBody>
      </p:sp>
      <p:sp>
        <p:nvSpPr>
          <p:cNvPr id="3" name="Marcador de contenido 2"/>
          <p:cNvSpPr>
            <a:spLocks noGrp="1"/>
          </p:cNvSpPr>
          <p:nvPr>
            <p:ph idx="1"/>
          </p:nvPr>
        </p:nvSpPr>
        <p:spPr>
          <a:xfrm>
            <a:off x="321801" y="1430594"/>
            <a:ext cx="8716296" cy="5053788"/>
          </a:xfrm>
        </p:spPr>
        <p:txBody>
          <a:bodyPr>
            <a:normAutofit fontScale="85000" lnSpcReduction="20000"/>
          </a:bodyPr>
          <a:lstStyle/>
          <a:p>
            <a:pPr algn="just"/>
            <a:r>
              <a:rPr lang="es-MX" dirty="0">
                <a:highlight>
                  <a:srgbClr val="FFFF00"/>
                </a:highlight>
              </a:rPr>
              <a:t>Suelen utilizarse para centrar, simplificar y personalizar la percepción de la base de datos para cada usuario. Los datos innecesarios o sensibles pueden quedar fuera de la vista.</a:t>
            </a:r>
          </a:p>
          <a:p>
            <a:pPr algn="just"/>
            <a:endParaRPr lang="es-MX" dirty="0"/>
          </a:p>
          <a:p>
            <a:pPr algn="just"/>
            <a:r>
              <a:rPr lang="es-MX" dirty="0">
                <a:highlight>
                  <a:srgbClr val="FFFF00"/>
                </a:highlight>
              </a:rPr>
              <a:t>Pueden emplearse como mecanismos de seguridad</a:t>
            </a:r>
            <a:r>
              <a:rPr lang="es-MX" dirty="0"/>
              <a:t>, que permiten a los usuarios obtener acceso a los datos por medio de la vista, pero no les conceden el permiso de obtener acceso directo a las tablas base subyacentes de la vista.</a:t>
            </a:r>
          </a:p>
          <a:p>
            <a:pPr algn="just"/>
            <a:endParaRPr lang="es-MX" dirty="0"/>
          </a:p>
          <a:p>
            <a:pPr algn="just"/>
            <a:r>
              <a:rPr lang="es-MX" dirty="0">
                <a:highlight>
                  <a:srgbClr val="FFFF00"/>
                </a:highlight>
              </a:rPr>
              <a:t>Permiten simplificar la forma en que los usuarios trabajan con los datos</a:t>
            </a:r>
            <a:r>
              <a:rPr lang="es-MX" dirty="0"/>
              <a:t>. Es posible crear como vista una consulta compleja que se utilice para la elaboración de informes y que realice </a:t>
            </a:r>
            <a:r>
              <a:rPr lang="es-MX" dirty="0" err="1"/>
              <a:t>subconsultas</a:t>
            </a:r>
            <a:r>
              <a:rPr lang="es-MX" dirty="0"/>
              <a:t>, combinaciones externas y agregaciones para recuperar datos de un grupo de tablas. La vista simplifica el acceso a los datos ya que evita la necesidad de escribir o enviar la consulta subyacente cada vez que se genera el informe; en lugar de eso, se realiza una consulta en la vista.</a:t>
            </a:r>
          </a:p>
          <a:p>
            <a:endParaRPr lang="es-AR" dirty="0"/>
          </a:p>
        </p:txBody>
      </p:sp>
    </p:spTree>
    <p:extLst>
      <p:ext uri="{BB962C8B-B14F-4D97-AF65-F5344CB8AC3E}">
        <p14:creationId xmlns:p14="http://schemas.microsoft.com/office/powerpoint/2010/main" val="2402112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83458" y="796412"/>
            <a:ext cx="8554065" cy="476975"/>
          </a:xfrm>
          <a:solidFill>
            <a:srgbClr val="0070C0"/>
          </a:solidFill>
        </p:spPr>
        <p:txBody>
          <a:bodyPr>
            <a:normAutofit fontScale="90000"/>
          </a:bodyPr>
          <a:lstStyle/>
          <a:p>
            <a:r>
              <a:rPr lang="es-AR" b="1" dirty="0">
                <a:solidFill>
                  <a:schemeClr val="bg1"/>
                </a:solidFill>
              </a:rPr>
              <a:t>Ventajas de crear vistas en </a:t>
            </a:r>
            <a:r>
              <a:rPr lang="es-AR" b="1" dirty="0" err="1">
                <a:solidFill>
                  <a:schemeClr val="bg1"/>
                </a:solidFill>
              </a:rPr>
              <a:t>MySQL</a:t>
            </a:r>
            <a:endParaRPr lang="es-AR" b="1" dirty="0">
              <a:solidFill>
                <a:schemeClr val="bg1"/>
              </a:solidFill>
            </a:endParaRPr>
          </a:p>
        </p:txBody>
      </p:sp>
      <p:sp>
        <p:nvSpPr>
          <p:cNvPr id="3" name="Marcador de contenido 2"/>
          <p:cNvSpPr>
            <a:spLocks noGrp="1"/>
          </p:cNvSpPr>
          <p:nvPr>
            <p:ph idx="1"/>
          </p:nvPr>
        </p:nvSpPr>
        <p:spPr>
          <a:xfrm>
            <a:off x="383458" y="1504335"/>
            <a:ext cx="8554065" cy="5029200"/>
          </a:xfrm>
        </p:spPr>
        <p:txBody>
          <a:bodyPr>
            <a:normAutofit fontScale="77500" lnSpcReduction="20000"/>
          </a:bodyPr>
          <a:lstStyle/>
          <a:p>
            <a:pPr marL="0" indent="0" algn="just">
              <a:buNone/>
            </a:pPr>
            <a:r>
              <a:rPr lang="es-AR" dirty="0"/>
              <a:t>Algunas de crear vistas son:</a:t>
            </a:r>
          </a:p>
          <a:p>
            <a:pPr algn="just"/>
            <a:r>
              <a:rPr lang="es-AR" b="1" dirty="0">
                <a:solidFill>
                  <a:schemeClr val="accent1">
                    <a:lumMod val="75000"/>
                  </a:schemeClr>
                </a:solidFill>
              </a:rPr>
              <a:t>Control de accesos:</a:t>
            </a:r>
            <a:r>
              <a:rPr lang="es-AR" dirty="0"/>
              <a:t> de una tabla real, se puede escoger qué información específicamente se desea compartir con otros usuarios. De este modo, ellos no tendrán acceso al resto de los datos de la tabla, solo a las VIEWS.</a:t>
            </a:r>
          </a:p>
          <a:p>
            <a:pPr algn="just"/>
            <a:r>
              <a:rPr lang="es-AR" b="1" dirty="0">
                <a:solidFill>
                  <a:schemeClr val="accent1">
                    <a:lumMod val="75000"/>
                  </a:schemeClr>
                </a:solidFill>
              </a:rPr>
              <a:t>Mejora del rendimiento:</a:t>
            </a:r>
            <a:r>
              <a:rPr lang="es-AR" dirty="0"/>
              <a:t> se pueden crear </a:t>
            </a:r>
            <a:r>
              <a:rPr lang="es-AR" i="1" dirty="0" err="1"/>
              <a:t>queries</a:t>
            </a:r>
            <a:r>
              <a:rPr lang="es-AR" i="1" dirty="0"/>
              <a:t> </a:t>
            </a:r>
            <a:r>
              <a:rPr lang="es-AR" dirty="0"/>
              <a:t>(consultas) a partir de vistas que han sido extraídas de SELECT complejas. Esto evita tener que ejecutar </a:t>
            </a:r>
            <a:r>
              <a:rPr lang="es-AR" i="1" dirty="0" err="1"/>
              <a:t>queries</a:t>
            </a:r>
            <a:endParaRPr lang="es-AR" dirty="0"/>
          </a:p>
          <a:p>
            <a:pPr algn="just"/>
            <a:r>
              <a:rPr lang="es-AR" b="1" dirty="0">
                <a:solidFill>
                  <a:schemeClr val="accent1">
                    <a:lumMod val="75000"/>
                  </a:schemeClr>
                </a:solidFill>
              </a:rPr>
              <a:t>Pruebas seguras:</a:t>
            </a:r>
            <a:r>
              <a:rPr lang="es-AR" b="1" dirty="0"/>
              <a:t> </a:t>
            </a:r>
            <a:r>
              <a:rPr lang="es-AR" dirty="0"/>
              <a:t>las vistas ofrecen un entorno de tablas de prueba para que los desarrolladores no afecten la información real.</a:t>
            </a:r>
          </a:p>
          <a:p>
            <a:pPr algn="just"/>
            <a:r>
              <a:rPr lang="es-AR" b="1" dirty="0">
                <a:solidFill>
                  <a:schemeClr val="accent1">
                    <a:lumMod val="75000"/>
                  </a:schemeClr>
                </a:solidFill>
              </a:rPr>
              <a:t>Reusabilidad de consultas:</a:t>
            </a:r>
            <a:r>
              <a:rPr lang="es-AR" b="1" dirty="0"/>
              <a:t> </a:t>
            </a:r>
            <a:r>
              <a:rPr lang="es-AR" dirty="0"/>
              <a:t>gracias a las vistas, no se deben crear consultas complejas que requieran uniones de manera repetida.</a:t>
            </a:r>
          </a:p>
          <a:p>
            <a:pPr algn="just"/>
            <a:r>
              <a:rPr lang="es-AR" b="1" dirty="0">
                <a:solidFill>
                  <a:schemeClr val="accent1">
                    <a:lumMod val="75000"/>
                  </a:schemeClr>
                </a:solidFill>
              </a:rPr>
              <a:t>Mantenimiento de la integridad: </a:t>
            </a:r>
            <a:r>
              <a:rPr lang="es-AR" dirty="0"/>
              <a:t>al crear aplicaciones y usar las VIEWS en vez de las tablas reales se garantiza que dichas aplicaciones no se rompan cuando se realicen cambios en la estructura de la base de datos.</a:t>
            </a:r>
          </a:p>
        </p:txBody>
      </p:sp>
    </p:spTree>
    <p:extLst>
      <p:ext uri="{BB962C8B-B14F-4D97-AF65-F5344CB8AC3E}">
        <p14:creationId xmlns:p14="http://schemas.microsoft.com/office/powerpoint/2010/main" val="1373218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4465" y="796413"/>
            <a:ext cx="8731045" cy="1725561"/>
          </a:xfrm>
          <a:solidFill>
            <a:srgbClr val="0070C0"/>
          </a:solidFill>
        </p:spPr>
        <p:txBody>
          <a:bodyPr>
            <a:normAutofit fontScale="90000"/>
          </a:bodyPr>
          <a:lstStyle/>
          <a:p>
            <a:pPr fontAlgn="base"/>
            <a:br>
              <a:rPr lang="es-AR" sz="3600" b="1" dirty="0">
                <a:solidFill>
                  <a:schemeClr val="bg1"/>
                </a:solidFill>
              </a:rPr>
            </a:br>
            <a:r>
              <a:rPr lang="es-AR" sz="3600" b="1" dirty="0">
                <a:solidFill>
                  <a:schemeClr val="bg1"/>
                </a:solidFill>
              </a:rPr>
              <a:t>Creación de vistas</a:t>
            </a:r>
            <a:br>
              <a:rPr lang="es-AR" sz="3600" b="1" dirty="0">
                <a:solidFill>
                  <a:srgbClr val="00B050"/>
                </a:solidFill>
              </a:rPr>
            </a:br>
            <a:r>
              <a:rPr lang="es-AR" sz="3600" dirty="0"/>
              <a:t>La sintaxis básica utilizada para crear una vista en MySQL.</a:t>
            </a:r>
            <a:br>
              <a:rPr lang="es-AR" dirty="0"/>
            </a:br>
            <a:endParaRPr lang="es-AR" dirty="0"/>
          </a:p>
        </p:txBody>
      </p:sp>
      <p:sp>
        <p:nvSpPr>
          <p:cNvPr id="12" name="Marcador de contenido 11"/>
          <p:cNvSpPr>
            <a:spLocks noGrp="1"/>
          </p:cNvSpPr>
          <p:nvPr>
            <p:ph idx="1"/>
          </p:nvPr>
        </p:nvSpPr>
        <p:spPr>
          <a:xfrm>
            <a:off x="324464" y="2713703"/>
            <a:ext cx="8731045" cy="3026109"/>
          </a:xfrm>
        </p:spPr>
        <p:txBody>
          <a:bodyPr>
            <a:normAutofit fontScale="77500" lnSpcReduction="20000"/>
          </a:bodyPr>
          <a:lstStyle/>
          <a:p>
            <a:pPr marL="0" indent="0">
              <a:buNone/>
            </a:pPr>
            <a:r>
              <a:rPr lang="en-US" dirty="0">
                <a:solidFill>
                  <a:srgbClr val="800080"/>
                </a:solidFill>
                <a:effectLst/>
                <a:latin typeface="inherit"/>
              </a:rPr>
              <a:t>CREATE</a:t>
            </a:r>
            <a:r>
              <a:rPr lang="en-US" dirty="0">
                <a:solidFill>
                  <a:srgbClr val="006FE0"/>
                </a:solidFill>
                <a:effectLst/>
                <a:latin typeface="inherit"/>
              </a:rPr>
              <a:t> </a:t>
            </a:r>
            <a:r>
              <a:rPr lang="en-US" dirty="0">
                <a:solidFill>
                  <a:srgbClr val="800080"/>
                </a:solidFill>
                <a:effectLst/>
                <a:latin typeface="inherit"/>
              </a:rPr>
              <a:t>VIEW</a:t>
            </a:r>
            <a:r>
              <a:rPr lang="en-US" dirty="0">
                <a:solidFill>
                  <a:srgbClr val="006FE0"/>
                </a:solidFill>
                <a:effectLst/>
                <a:latin typeface="inherit"/>
              </a:rPr>
              <a:t> `</a:t>
            </a:r>
            <a:r>
              <a:rPr lang="en-US" dirty="0" err="1">
                <a:solidFill>
                  <a:srgbClr val="006FE0"/>
                </a:solidFill>
                <a:effectLst/>
                <a:latin typeface="inherit"/>
              </a:rPr>
              <a:t>view_name</a:t>
            </a:r>
            <a:r>
              <a:rPr lang="en-US" dirty="0">
                <a:solidFill>
                  <a:srgbClr val="006FE0"/>
                </a:solidFill>
                <a:effectLst/>
                <a:latin typeface="inherit"/>
              </a:rPr>
              <a:t>` </a:t>
            </a:r>
            <a:r>
              <a:rPr lang="en-US" dirty="0">
                <a:solidFill>
                  <a:srgbClr val="800080"/>
                </a:solidFill>
                <a:effectLst/>
                <a:latin typeface="inherit"/>
              </a:rPr>
              <a:t>AS</a:t>
            </a:r>
            <a:r>
              <a:rPr lang="en-US" dirty="0">
                <a:solidFill>
                  <a:srgbClr val="006FE0"/>
                </a:solidFill>
                <a:effectLst/>
                <a:latin typeface="inherit"/>
              </a:rPr>
              <a:t> </a:t>
            </a:r>
            <a:r>
              <a:rPr lang="en-US" dirty="0">
                <a:solidFill>
                  <a:srgbClr val="800080"/>
                </a:solidFill>
                <a:effectLst/>
                <a:latin typeface="inherit"/>
              </a:rPr>
              <a:t>SELECT</a:t>
            </a:r>
            <a:r>
              <a:rPr lang="en-US" dirty="0">
                <a:solidFill>
                  <a:srgbClr val="006FE0"/>
                </a:solidFill>
                <a:effectLst/>
                <a:latin typeface="inherit"/>
              </a:rPr>
              <a:t>;</a:t>
            </a:r>
          </a:p>
          <a:p>
            <a:pPr marL="0" indent="0">
              <a:buNone/>
            </a:pPr>
            <a:endParaRPr lang="en-US" dirty="0">
              <a:solidFill>
                <a:srgbClr val="006FE0"/>
              </a:solidFill>
              <a:effectLst/>
              <a:latin typeface="inherit"/>
            </a:endParaRPr>
          </a:p>
          <a:p>
            <a:pPr marL="0" indent="0" algn="just" eaLnBrk="0" fontAlgn="base" hangingPunct="0">
              <a:lnSpc>
                <a:spcPct val="100000"/>
              </a:lnSpc>
              <a:spcBef>
                <a:spcPct val="0"/>
              </a:spcBef>
              <a:spcAft>
                <a:spcPct val="0"/>
              </a:spcAft>
              <a:buNone/>
            </a:pPr>
            <a:r>
              <a:rPr lang="es-AR" dirty="0"/>
              <a:t>DÓNDE</a:t>
            </a:r>
          </a:p>
          <a:p>
            <a:pPr marL="0" indent="0" algn="just" eaLnBrk="0" fontAlgn="base" hangingPunct="0">
              <a:lnSpc>
                <a:spcPct val="100000"/>
              </a:lnSpc>
              <a:spcBef>
                <a:spcPct val="0"/>
              </a:spcBef>
              <a:spcAft>
                <a:spcPct val="0"/>
              </a:spcAft>
              <a:buNone/>
            </a:pPr>
            <a:endParaRPr lang="es-AR" dirty="0"/>
          </a:p>
          <a:p>
            <a:pPr marL="0" indent="0" algn="just" eaLnBrk="0" fontAlgn="base" hangingPunct="0">
              <a:lnSpc>
                <a:spcPct val="100000"/>
              </a:lnSpc>
              <a:spcBef>
                <a:spcPct val="0"/>
              </a:spcBef>
              <a:spcAft>
                <a:spcPct val="0"/>
              </a:spcAft>
              <a:buFontTx/>
              <a:buChar char="•"/>
            </a:pPr>
            <a:r>
              <a:rPr lang="es-AR" dirty="0"/>
              <a:t>“CREATE VIEW </a:t>
            </a:r>
            <a:r>
              <a:rPr lang="es-AR" dirty="0" err="1"/>
              <a:t>view_name</a:t>
            </a:r>
            <a:r>
              <a:rPr lang="es-AR" dirty="0"/>
              <a:t> “ le dice al servidor MySQL que cree un objeto de vista en la base de datos llamado </a:t>
            </a:r>
            <a:r>
              <a:rPr lang="es-AR" dirty="0" err="1"/>
              <a:t>view_name</a:t>
            </a:r>
            <a:endParaRPr lang="es-AR" dirty="0"/>
          </a:p>
          <a:p>
            <a:pPr marL="0" indent="0" algn="just" eaLnBrk="0" fontAlgn="base" hangingPunct="0">
              <a:lnSpc>
                <a:spcPct val="100000"/>
              </a:lnSpc>
              <a:spcBef>
                <a:spcPct val="0"/>
              </a:spcBef>
              <a:spcAft>
                <a:spcPct val="0"/>
              </a:spcAft>
              <a:buNone/>
            </a:pPr>
            <a:endParaRPr lang="es-AR" dirty="0"/>
          </a:p>
          <a:p>
            <a:pPr marL="0" indent="0" algn="just" eaLnBrk="0" fontAlgn="base" hangingPunct="0">
              <a:lnSpc>
                <a:spcPct val="100000"/>
              </a:lnSpc>
              <a:spcBef>
                <a:spcPct val="0"/>
              </a:spcBef>
              <a:spcAft>
                <a:spcPct val="0"/>
              </a:spcAft>
              <a:buFontTx/>
              <a:buChar char="•"/>
            </a:pPr>
            <a:r>
              <a:rPr lang="es-AR" dirty="0"/>
              <a:t>“AS SELECT </a:t>
            </a:r>
            <a:r>
              <a:rPr lang="es-AR" dirty="0" err="1"/>
              <a:t>statement</a:t>
            </a:r>
            <a:r>
              <a:rPr lang="es-AR" dirty="0"/>
              <a:t>” son las sentencias SQL que se empaquetarán en las vistas. Puede ser una instrucción SELECT que puede contener datos de una tabla o varias tablas.</a:t>
            </a:r>
          </a:p>
          <a:p>
            <a:endParaRPr lang="en-US" dirty="0">
              <a:solidFill>
                <a:srgbClr val="006FE0"/>
              </a:solidFill>
              <a:effectLst/>
              <a:latin typeface="inherit"/>
            </a:endParaRPr>
          </a:p>
          <a:p>
            <a:endParaRPr lang="es-AR" dirty="0"/>
          </a:p>
        </p:txBody>
      </p:sp>
    </p:spTree>
    <p:extLst>
      <p:ext uri="{BB962C8B-B14F-4D97-AF65-F5344CB8AC3E}">
        <p14:creationId xmlns:p14="http://schemas.microsoft.com/office/powerpoint/2010/main" val="4287444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53960" y="914399"/>
            <a:ext cx="8568813" cy="403233"/>
          </a:xfrm>
          <a:solidFill>
            <a:srgbClr val="0070C0"/>
          </a:solidFill>
        </p:spPr>
        <p:txBody>
          <a:bodyPr>
            <a:normAutofit fontScale="90000"/>
          </a:bodyPr>
          <a:lstStyle/>
          <a:p>
            <a:r>
              <a:rPr lang="es-AR" sz="3071" b="1" dirty="0">
                <a:solidFill>
                  <a:schemeClr val="bg1"/>
                </a:solidFill>
              </a:rPr>
              <a:t>Eliminación de Vistas</a:t>
            </a:r>
          </a:p>
        </p:txBody>
      </p:sp>
      <p:sp>
        <p:nvSpPr>
          <p:cNvPr id="3" name="Marcador de contenido 2"/>
          <p:cNvSpPr>
            <a:spLocks noGrp="1"/>
          </p:cNvSpPr>
          <p:nvPr>
            <p:ph idx="1"/>
          </p:nvPr>
        </p:nvSpPr>
        <p:spPr>
          <a:xfrm>
            <a:off x="471948" y="1916485"/>
            <a:ext cx="8450825" cy="1800110"/>
          </a:xfrm>
        </p:spPr>
        <p:txBody>
          <a:bodyPr/>
          <a:lstStyle/>
          <a:p>
            <a:pPr marL="0" indent="0" fontAlgn="base">
              <a:buNone/>
            </a:pPr>
            <a:r>
              <a:rPr lang="es-AR" dirty="0">
                <a:solidFill>
                  <a:srgbClr val="800080"/>
                </a:solidFill>
                <a:effectLst/>
                <a:latin typeface="inherit"/>
              </a:rPr>
              <a:t>DROP</a:t>
            </a:r>
            <a:r>
              <a:rPr lang="es-AR" dirty="0">
                <a:solidFill>
                  <a:srgbClr val="006FE0"/>
                </a:solidFill>
                <a:effectLst/>
                <a:latin typeface="inherit"/>
              </a:rPr>
              <a:t> </a:t>
            </a:r>
            <a:r>
              <a:rPr lang="es-AR" dirty="0">
                <a:solidFill>
                  <a:srgbClr val="800080"/>
                </a:solidFill>
                <a:effectLst/>
                <a:latin typeface="inherit"/>
              </a:rPr>
              <a:t>VIEW</a:t>
            </a:r>
            <a:r>
              <a:rPr lang="es-AR" dirty="0">
                <a:solidFill>
                  <a:srgbClr val="006FE0"/>
                </a:solidFill>
                <a:effectLst/>
                <a:latin typeface="inherit"/>
              </a:rPr>
              <a:t> `</a:t>
            </a:r>
            <a:r>
              <a:rPr lang="en-US" dirty="0">
                <a:solidFill>
                  <a:srgbClr val="006FE0"/>
                </a:solidFill>
                <a:effectLst/>
                <a:latin typeface="inherit"/>
              </a:rPr>
              <a:t> </a:t>
            </a:r>
            <a:r>
              <a:rPr lang="en-US" dirty="0" err="1">
                <a:solidFill>
                  <a:srgbClr val="006FE0"/>
                </a:solidFill>
                <a:effectLst/>
                <a:latin typeface="inherit"/>
              </a:rPr>
              <a:t>view_name</a:t>
            </a:r>
            <a:r>
              <a:rPr lang="en-US" dirty="0">
                <a:solidFill>
                  <a:srgbClr val="006FE0"/>
                </a:solidFill>
                <a:effectLst/>
                <a:latin typeface="inherit"/>
              </a:rPr>
              <a:t> </a:t>
            </a:r>
            <a:r>
              <a:rPr lang="es-AR" dirty="0">
                <a:solidFill>
                  <a:srgbClr val="006FE0"/>
                </a:solidFill>
                <a:effectLst/>
                <a:latin typeface="inherit"/>
              </a:rPr>
              <a:t>`;</a:t>
            </a:r>
          </a:p>
          <a:p>
            <a:pPr marL="0" lvl="0" indent="0" fontAlgn="base">
              <a:buNone/>
            </a:pPr>
            <a:r>
              <a:rPr lang="es-AR" dirty="0"/>
              <a:t>El comando DROP se puede utilizar para eliminar una vista de la base de datos que ya no es necesaria. La sintaxis básica para descartar una vista es la siguiente.</a:t>
            </a:r>
          </a:p>
          <a:p>
            <a:pPr marL="0" indent="0">
              <a:buNone/>
            </a:pPr>
            <a:endParaRPr lang="es-AR" dirty="0"/>
          </a:p>
        </p:txBody>
      </p:sp>
    </p:spTree>
    <p:extLst>
      <p:ext uri="{BB962C8B-B14F-4D97-AF65-F5344CB8AC3E}">
        <p14:creationId xmlns:p14="http://schemas.microsoft.com/office/powerpoint/2010/main" val="79710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24464" y="781665"/>
            <a:ext cx="8524567" cy="5589638"/>
          </a:xfrm>
        </p:spPr>
        <p:txBody>
          <a:bodyPr>
            <a:normAutofit fontScale="92500" lnSpcReduction="10000"/>
          </a:bodyPr>
          <a:lstStyle/>
          <a:p>
            <a:pPr marL="0" indent="0" algn="just" fontAlgn="base">
              <a:buNone/>
            </a:pPr>
            <a:r>
              <a:rPr lang="es-AR" b="1" dirty="0">
                <a:solidFill>
                  <a:srgbClr val="0070C0"/>
                </a:solidFill>
              </a:rPr>
              <a:t>Resumen</a:t>
            </a:r>
          </a:p>
          <a:p>
            <a:pPr algn="just" fontAlgn="base"/>
            <a:r>
              <a:rPr lang="es-AR" dirty="0"/>
              <a:t>Las vistas son tablas virtuales; no contienen los datos que se devuelven. Los datos se almacenan en las tablas a las que se hace referencia en la instrucción SELECT.</a:t>
            </a:r>
          </a:p>
          <a:p>
            <a:pPr algn="just" fontAlgn="base"/>
            <a:r>
              <a:rPr lang="es-AR" dirty="0"/>
              <a:t>Las vistas mejoran la seguridad de la base de datos al mostrar solo los datos previstos a los usuarios autorizados. Ellos esconden datos confidenciales.</a:t>
            </a:r>
          </a:p>
          <a:p>
            <a:pPr algn="just" fontAlgn="base"/>
            <a:r>
              <a:rPr lang="es-AR" dirty="0"/>
              <a:t>Las vistas facilitan ya que no tiene que escribir consultas complejas una y otra vez.</a:t>
            </a:r>
          </a:p>
          <a:p>
            <a:pPr algn="just" fontAlgn="base"/>
            <a:r>
              <a:rPr lang="es-AR" dirty="0"/>
              <a:t>Es posible usar INSERT, UPDATE y DELETE en una VISTA. Estas operaciones cambiarán las tablas subyacentes de la VISTA. La única consideración es que VIEW debe contener todas las columnas NOT NULL de las tablas a las que hace referencia. Idealmente, no debería usar VIEWS para actualizar.</a:t>
            </a:r>
          </a:p>
          <a:p>
            <a:pPr algn="just"/>
            <a:endParaRPr lang="es-AR" dirty="0"/>
          </a:p>
        </p:txBody>
      </p:sp>
    </p:spTree>
    <p:extLst>
      <p:ext uri="{BB962C8B-B14F-4D97-AF65-F5344CB8AC3E}">
        <p14:creationId xmlns:p14="http://schemas.microsoft.com/office/powerpoint/2010/main" val="420187312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248</TotalTime>
  <Words>1278</Words>
  <Application>Microsoft Office PowerPoint</Application>
  <PresentationFormat>Personalizado</PresentationFormat>
  <Paragraphs>125</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inherit</vt:lpstr>
      <vt:lpstr>Tema de Office</vt:lpstr>
      <vt:lpstr>Triggers y Vistas</vt:lpstr>
      <vt:lpstr>Que es un Trigger</vt:lpstr>
      <vt:lpstr>Presentación de PowerPoint</vt:lpstr>
      <vt:lpstr>Presentación de PowerPoint</vt:lpstr>
      <vt:lpstr>Definición de un trigger</vt:lpstr>
      <vt:lpstr>Sintaxis de un trigger</vt:lpstr>
      <vt:lpstr>Presentación de PowerPoint</vt:lpstr>
      <vt:lpstr>Presentación de PowerPoint</vt:lpstr>
      <vt:lpstr>Presentación de PowerPoint</vt:lpstr>
      <vt:lpstr>VISTAS</vt:lpstr>
      <vt:lpstr>Que son las vistas?</vt:lpstr>
      <vt:lpstr>Ejemplo:</vt:lpstr>
      <vt:lpstr>Escenarios de utilización</vt:lpstr>
      <vt:lpstr>Ventajas de crear vistas en MySQL</vt:lpstr>
      <vt:lpstr> Creación de vistas La sintaxis básica utilizada para crear una vista en MySQL. </vt:lpstr>
      <vt:lpstr>Eliminación de Vistas</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VISTAS</dc:title>
  <dc:creator>HP</dc:creator>
  <cp:lastModifiedBy>Patricia Neumann</cp:lastModifiedBy>
  <cp:revision>19</cp:revision>
  <dcterms:created xsi:type="dcterms:W3CDTF">2020-04-13T13:00:17Z</dcterms:created>
  <dcterms:modified xsi:type="dcterms:W3CDTF">2024-05-16T15:36:42Z</dcterms:modified>
</cp:coreProperties>
</file>