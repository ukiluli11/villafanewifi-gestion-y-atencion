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14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07B6D0-7587-45AF-9267-B42096E727CF}" type="datetimeFigureOut">
              <a:rPr lang="es-AR" smtClean="0"/>
              <a:t>10/4/2025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43B2D8-92A4-4B0E-97BE-D423C1EB824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33164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Marcador de imagen de diapositiva 1">
            <a:extLst>
              <a:ext uri="{FF2B5EF4-FFF2-40B4-BE49-F238E27FC236}">
                <a16:creationId xmlns:a16="http://schemas.microsoft.com/office/drawing/2014/main" id="{3734F456-557D-F03E-F5C1-DCB1A0556B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Marcador de notas 2">
            <a:extLst>
              <a:ext uri="{FF2B5EF4-FFF2-40B4-BE49-F238E27FC236}">
                <a16:creationId xmlns:a16="http://schemas.microsoft.com/office/drawing/2014/main" id="{24AA46E0-E38D-783B-27C4-70526DA7FC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s-AR" altLang="es-AR"/>
          </a:p>
        </p:txBody>
      </p:sp>
    </p:spTree>
    <p:extLst>
      <p:ext uri="{BB962C8B-B14F-4D97-AF65-F5344CB8AC3E}">
        <p14:creationId xmlns:p14="http://schemas.microsoft.com/office/powerpoint/2010/main" val="2001008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AC2DB-3657-4E98-9B1D-5F60434DF7E2}" type="datetimeFigureOut">
              <a:rPr lang="es-AR" smtClean="0"/>
              <a:t>10/4/2025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5D823-0C15-4AC5-B82F-A521189D0AA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35194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AC2DB-3657-4E98-9B1D-5F60434DF7E2}" type="datetimeFigureOut">
              <a:rPr lang="es-AR" smtClean="0"/>
              <a:t>10/4/2025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5D823-0C15-4AC5-B82F-A521189D0AA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14602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AC2DB-3657-4E98-9B1D-5F60434DF7E2}" type="datetimeFigureOut">
              <a:rPr lang="es-AR" smtClean="0"/>
              <a:t>10/4/2025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5D823-0C15-4AC5-B82F-A521189D0AA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16874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AC2DB-3657-4E98-9B1D-5F60434DF7E2}" type="datetimeFigureOut">
              <a:rPr lang="es-AR" smtClean="0"/>
              <a:t>10/4/2025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5D823-0C15-4AC5-B82F-A521189D0AA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04452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AC2DB-3657-4E98-9B1D-5F60434DF7E2}" type="datetimeFigureOut">
              <a:rPr lang="es-AR" smtClean="0"/>
              <a:t>10/4/2025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5D823-0C15-4AC5-B82F-A521189D0AA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30967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AC2DB-3657-4E98-9B1D-5F60434DF7E2}" type="datetimeFigureOut">
              <a:rPr lang="es-AR" smtClean="0"/>
              <a:t>10/4/2025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5D823-0C15-4AC5-B82F-A521189D0AA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668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AC2DB-3657-4E98-9B1D-5F60434DF7E2}" type="datetimeFigureOut">
              <a:rPr lang="es-AR" smtClean="0"/>
              <a:t>10/4/2025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5D823-0C15-4AC5-B82F-A521189D0AA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91607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AC2DB-3657-4E98-9B1D-5F60434DF7E2}" type="datetimeFigureOut">
              <a:rPr lang="es-AR" smtClean="0"/>
              <a:t>10/4/2025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5D823-0C15-4AC5-B82F-A521189D0AA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17551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AC2DB-3657-4E98-9B1D-5F60434DF7E2}" type="datetimeFigureOut">
              <a:rPr lang="es-AR" smtClean="0"/>
              <a:t>10/4/2025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5D823-0C15-4AC5-B82F-A521189D0AA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08283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AC2DB-3657-4E98-9B1D-5F60434DF7E2}" type="datetimeFigureOut">
              <a:rPr lang="es-AR" smtClean="0"/>
              <a:t>10/4/2025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5D823-0C15-4AC5-B82F-A521189D0AA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5595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AC2DB-3657-4E98-9B1D-5F60434DF7E2}" type="datetimeFigureOut">
              <a:rPr lang="es-AR" smtClean="0"/>
              <a:t>10/4/2025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5D823-0C15-4AC5-B82F-A521189D0AA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823486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5BBFC35-66F5-47F2-BF65-C0462EB68C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813F79E-06CD-4558-9A10-C64661ABEA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MX"/>
              <a:t>FACULTAD DE INGENIERIA Y TECNOLOGIA - BASE DE DATOS - SEDE CENTRAL</a:t>
            </a: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022C39D-19F4-44D0-98C9-4AE5A75DEB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9BC0863-1E74-44EE-8350-197761BA73E4}" type="slidenum">
              <a:rPr lang="en-US" altLang="es-AR"/>
              <a:pPr/>
              <a:t>‹Nº›</a:t>
            </a:fld>
            <a:endParaRPr lang="en-US" altLang="es-AR"/>
          </a:p>
        </p:txBody>
      </p:sp>
    </p:spTree>
    <p:extLst>
      <p:ext uri="{BB962C8B-B14F-4D97-AF65-F5344CB8AC3E}">
        <p14:creationId xmlns:p14="http://schemas.microsoft.com/office/powerpoint/2010/main" val="923111646"/>
      </p:ext>
    </p:extLst>
  </p:cSld>
  <p:clrMapOvr>
    <a:masterClrMapping/>
  </p:clrMapOvr>
  <p:transition>
    <p:strips dir="rd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ítulo y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abla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s-ES_tradnl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3A1DC44-E40F-F872-3DCA-A5750D14BA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75B139D-375D-96F0-2072-1ABE790BF81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AR"/>
              <a:t>FACULTAD DE INGENIERIA Y TECNOLOGIA - BASE DE DATOS - SEDE CENTRAL</a:t>
            </a:r>
            <a:endParaRPr lang="es-ES_tradnl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44AECA9-F670-3A96-C6E7-CFC97951B0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5D309C-8995-46C8-937C-72B85038DB80}" type="slidenum">
              <a:rPr lang="es-ES_tradnl" altLang="es-AR"/>
              <a:pPr/>
              <a:t>‹Nº›</a:t>
            </a:fld>
            <a:endParaRPr lang="es-ES_tradnl" altLang="es-AR"/>
          </a:p>
        </p:txBody>
      </p:sp>
    </p:spTree>
    <p:extLst>
      <p:ext uri="{BB962C8B-B14F-4D97-AF65-F5344CB8AC3E}">
        <p14:creationId xmlns:p14="http://schemas.microsoft.com/office/powerpoint/2010/main" val="917154849"/>
      </p:ext>
    </p:extLst>
  </p:cSld>
  <p:clrMapOvr>
    <a:masterClrMapping/>
  </p:clrMapOvr>
  <p:transition spd="med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CAC2DB-3657-4E98-9B1D-5F60434DF7E2}" type="datetimeFigureOut">
              <a:rPr lang="es-AR" smtClean="0"/>
              <a:t>10/4/2025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B5D823-0C15-4AC5-B82F-A521189D0AA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08195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7"/>
          <p:cNvSpPr txBox="1"/>
          <p:nvPr/>
        </p:nvSpPr>
        <p:spPr>
          <a:xfrm>
            <a:off x="758078" y="3194196"/>
            <a:ext cx="79438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A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3200" dirty="0"/>
              <a:t>Base de Datos I</a:t>
            </a:r>
          </a:p>
          <a:p>
            <a:pPr algn="ctr"/>
            <a:r>
              <a:rPr lang="es-AR" sz="3200" dirty="0"/>
              <a:t>Modelo Relacional</a:t>
            </a:r>
          </a:p>
        </p:txBody>
      </p:sp>
      <p:sp>
        <p:nvSpPr>
          <p:cNvPr id="7" name="CuadroTexto 1"/>
          <p:cNvSpPr txBox="1"/>
          <p:nvPr/>
        </p:nvSpPr>
        <p:spPr>
          <a:xfrm>
            <a:off x="1915366" y="4465496"/>
            <a:ext cx="5600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A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2800" dirty="0"/>
              <a:t>Lic. en Sistemas de </a:t>
            </a:r>
            <a:r>
              <a:rPr lang="es-AR" sz="2800" dirty="0" err="1"/>
              <a:t>infromación</a:t>
            </a:r>
            <a:endParaRPr lang="es-AR" sz="2800" dirty="0"/>
          </a:p>
        </p:txBody>
      </p:sp>
      <p:pic>
        <p:nvPicPr>
          <p:cNvPr id="8" name="Marcador de contenido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7525" y="742918"/>
            <a:ext cx="3028950" cy="2249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335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D0311EC-6F57-B174-1BB8-CA0CE60150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5227" y="753034"/>
            <a:ext cx="7772400" cy="914401"/>
          </a:xfrm>
          <a:solidFill>
            <a:srgbClr val="0070C0"/>
          </a:solidFill>
        </p:spPr>
        <p:txBody>
          <a:bodyPr>
            <a:normAutofit/>
          </a:bodyPr>
          <a:lstStyle/>
          <a:p>
            <a:r>
              <a:rPr lang="es-ES_tradnl" altLang="es-ES" sz="40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Antecedentes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E8FF5363-5BC3-86E4-6B8B-2EBB7C4CA4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9700" y="1942272"/>
            <a:ext cx="8388350" cy="4074215"/>
          </a:xfrm>
        </p:spPr>
        <p:txBody>
          <a:bodyPr>
            <a:normAutofit/>
          </a:bodyPr>
          <a:lstStyle/>
          <a:p>
            <a:pPr algn="just"/>
            <a:r>
              <a:rPr lang="es-ES_tradnl" altLang="es-ES" sz="2400" dirty="0">
                <a:latin typeface="+mn-lt"/>
                <a:cs typeface="Arial" panose="020B0604020202020204" pitchFamily="34" charset="0"/>
              </a:rPr>
              <a:t>El artículo que inició todo:</a:t>
            </a:r>
          </a:p>
          <a:p>
            <a:pPr algn="just">
              <a:buFontTx/>
              <a:buNone/>
            </a:pPr>
            <a:r>
              <a:rPr lang="es-ES_tradnl" altLang="es-ES" sz="2400" dirty="0">
                <a:latin typeface="+mn-lt"/>
                <a:cs typeface="Arial" panose="020B0604020202020204" pitchFamily="34" charset="0"/>
              </a:rPr>
              <a:t>	Edgar Frank Codd, </a:t>
            </a:r>
            <a:r>
              <a:rPr lang="es-ES" altLang="es-ES" sz="2400" dirty="0">
                <a:latin typeface="+mn-lt"/>
                <a:cs typeface="Arial" panose="020B0604020202020204" pitchFamily="34" charset="0"/>
              </a:rPr>
              <a:t>“</a:t>
            </a:r>
            <a:r>
              <a:rPr lang="es-ES" altLang="es-ES" sz="2400" i="1" dirty="0">
                <a:latin typeface="+mn-lt"/>
                <a:cs typeface="Arial" panose="020B0604020202020204" pitchFamily="34" charset="0"/>
              </a:rPr>
              <a:t>A </a:t>
            </a:r>
            <a:r>
              <a:rPr lang="es-ES" altLang="es-ES" sz="2400" b="1" i="1" dirty="0" err="1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Relational</a:t>
            </a:r>
            <a:r>
              <a:rPr lang="es-ES" altLang="es-ES" sz="2400" i="1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s-ES" altLang="es-ES" sz="2400" b="1" i="1" dirty="0" err="1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Model</a:t>
            </a:r>
            <a:r>
              <a:rPr lang="es-ES" altLang="es-ES" sz="2400" i="1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s-ES" altLang="es-ES" sz="2400" i="1" dirty="0" err="1">
                <a:latin typeface="+mn-lt"/>
                <a:cs typeface="Arial" panose="020B0604020202020204" pitchFamily="34" charset="0"/>
              </a:rPr>
              <a:t>of</a:t>
            </a:r>
            <a:r>
              <a:rPr lang="es-ES" altLang="es-ES" sz="2400" i="1" dirty="0">
                <a:latin typeface="+mn-lt"/>
                <a:cs typeface="Arial" panose="020B0604020202020204" pitchFamily="34" charset="0"/>
              </a:rPr>
              <a:t> Data </a:t>
            </a:r>
            <a:r>
              <a:rPr lang="es-ES" altLang="es-ES" sz="2400" i="1" dirty="0" err="1">
                <a:latin typeface="+mn-lt"/>
                <a:cs typeface="Arial" panose="020B0604020202020204" pitchFamily="34" charset="0"/>
              </a:rPr>
              <a:t>for</a:t>
            </a:r>
            <a:r>
              <a:rPr lang="es-ES" altLang="es-ES" sz="2400" i="1" dirty="0">
                <a:latin typeface="+mn-lt"/>
                <a:cs typeface="Arial" panose="020B0604020202020204" pitchFamily="34" charset="0"/>
              </a:rPr>
              <a:t> </a:t>
            </a:r>
            <a:r>
              <a:rPr lang="es-ES" altLang="es-ES" sz="2400" i="1" dirty="0" err="1">
                <a:latin typeface="+mn-lt"/>
                <a:cs typeface="Arial" panose="020B0604020202020204" pitchFamily="34" charset="0"/>
              </a:rPr>
              <a:t>Large</a:t>
            </a:r>
            <a:r>
              <a:rPr lang="es-ES" altLang="es-ES" sz="2400" i="1" dirty="0">
                <a:latin typeface="+mn-lt"/>
                <a:cs typeface="Arial" panose="020B0604020202020204" pitchFamily="34" charset="0"/>
              </a:rPr>
              <a:t> </a:t>
            </a:r>
            <a:r>
              <a:rPr lang="es-ES" altLang="es-ES" sz="2400" i="1" dirty="0" err="1">
                <a:latin typeface="+mn-lt"/>
                <a:cs typeface="Arial" panose="020B0604020202020204" pitchFamily="34" charset="0"/>
              </a:rPr>
              <a:t>Shared</a:t>
            </a:r>
            <a:r>
              <a:rPr lang="es-ES" altLang="es-ES" sz="2400" i="1" dirty="0">
                <a:latin typeface="+mn-lt"/>
                <a:cs typeface="Arial" panose="020B0604020202020204" pitchFamily="34" charset="0"/>
              </a:rPr>
              <a:t> Data Banks</a:t>
            </a:r>
            <a:r>
              <a:rPr lang="es-ES" altLang="es-ES" sz="2400" dirty="0">
                <a:latin typeface="+mn-lt"/>
                <a:cs typeface="Arial" panose="020B0604020202020204" pitchFamily="34" charset="0"/>
              </a:rPr>
              <a:t>”, 1970.</a:t>
            </a:r>
          </a:p>
          <a:p>
            <a:pPr algn="just">
              <a:buFontTx/>
              <a:buNone/>
            </a:pPr>
            <a:endParaRPr lang="es-ES" altLang="es-ES" sz="2400" dirty="0">
              <a:latin typeface="+mn-lt"/>
              <a:cs typeface="Arial" panose="020B0604020202020204" pitchFamily="34" charset="0"/>
            </a:endParaRPr>
          </a:p>
          <a:p>
            <a:pPr algn="just"/>
            <a:r>
              <a:rPr lang="es-ES" altLang="es-ES" sz="2400" dirty="0">
                <a:latin typeface="+mn-lt"/>
                <a:cs typeface="Arial" panose="020B0604020202020204" pitchFamily="34" charset="0"/>
              </a:rPr>
              <a:t>Modelo lógico basado en </a:t>
            </a:r>
            <a:r>
              <a:rPr lang="es-ES_tradnl" altLang="es-ES" sz="2400" dirty="0">
                <a:latin typeface="+mn-lt"/>
                <a:cs typeface="Arial" panose="020B0604020202020204" pitchFamily="34" charset="0"/>
              </a:rPr>
              <a:t>teoría de conjuntos: operaciones sobre conjuntos de datos.</a:t>
            </a:r>
          </a:p>
          <a:p>
            <a:pPr algn="just"/>
            <a:endParaRPr lang="es-ES_tradnl" altLang="es-ES" sz="2400" dirty="0">
              <a:latin typeface="+mn-lt"/>
              <a:cs typeface="Arial" panose="020B0604020202020204" pitchFamily="34" charset="0"/>
            </a:endParaRPr>
          </a:p>
          <a:p>
            <a:pPr algn="just"/>
            <a:r>
              <a:rPr lang="es-ES_tradnl" altLang="es-ES" sz="2400" dirty="0">
                <a:latin typeface="+mn-lt"/>
                <a:cs typeface="Arial" panose="020B0604020202020204" pitchFamily="34" charset="0"/>
              </a:rPr>
              <a:t>Es sencillo comparado con otros modelos lógicos (red, jerárquico).</a:t>
            </a:r>
          </a:p>
        </p:txBody>
      </p:sp>
    </p:spTree>
    <p:extLst>
      <p:ext uri="{BB962C8B-B14F-4D97-AF65-F5344CB8AC3E}">
        <p14:creationId xmlns:p14="http://schemas.microsoft.com/office/powerpoint/2010/main" val="3139193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7F162C35-9FB6-E960-7BD1-9CA240B669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8539" y="739588"/>
            <a:ext cx="8649967" cy="951101"/>
          </a:xfrm>
          <a:solidFill>
            <a:srgbClr val="0070C0"/>
          </a:solidFill>
        </p:spPr>
        <p:txBody>
          <a:bodyPr>
            <a:normAutofit/>
          </a:bodyPr>
          <a:lstStyle/>
          <a:p>
            <a:r>
              <a:rPr lang="es-ES_tradnl" altLang="es-ES" sz="40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Introducción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8DF4F897-488F-7A46-00E7-C39EF9EDA1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8539" y="1844675"/>
            <a:ext cx="8508586" cy="4114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/>
            </a:pPr>
            <a:r>
              <a:rPr lang="es-ES_tradnl" sz="2400" dirty="0">
                <a:latin typeface="+mn-lt"/>
                <a:cs typeface="Arial" panose="020B0604020202020204" pitchFamily="34" charset="0"/>
              </a:rPr>
              <a:t>Los datos se almacenan en </a:t>
            </a:r>
            <a:r>
              <a:rPr lang="es-ES_tradnl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Arial" panose="020B0604020202020204" pitchFamily="34" charset="0"/>
              </a:rPr>
              <a:t>relaciones</a:t>
            </a:r>
            <a:r>
              <a:rPr lang="es-ES_tradnl" sz="2400" dirty="0">
                <a:latin typeface="+mn-lt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90000"/>
              </a:lnSpc>
              <a:defRPr/>
            </a:pPr>
            <a:r>
              <a:rPr lang="es-ES_tradnl" sz="2400" dirty="0">
                <a:latin typeface="+mn-lt"/>
                <a:cs typeface="Arial" panose="020B0604020202020204" pitchFamily="34" charset="0"/>
              </a:rPr>
              <a:t>El concepto de </a:t>
            </a:r>
            <a:r>
              <a:rPr lang="es-ES_tradnl" sz="240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relación en el modelo relacional </a:t>
            </a:r>
            <a:r>
              <a:rPr lang="es-ES_tradnl" sz="2400" b="1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es diferente </a:t>
            </a:r>
            <a:r>
              <a:rPr lang="es-ES_tradnl" sz="240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del concepto de relación en el modelo E-R.</a:t>
            </a:r>
          </a:p>
          <a:p>
            <a:pPr>
              <a:lnSpc>
                <a:spcPct val="90000"/>
              </a:lnSpc>
              <a:defRPr/>
            </a:pPr>
            <a:r>
              <a:rPr lang="es-ES_tradnl" sz="2400" dirty="0">
                <a:latin typeface="+mn-lt"/>
                <a:cs typeface="Arial" panose="020B0604020202020204" pitchFamily="34" charset="0"/>
              </a:rPr>
              <a:t>Informalmente, en el modelo relacional: </a:t>
            </a:r>
          </a:p>
          <a:p>
            <a:pPr>
              <a:lnSpc>
                <a:spcPct val="90000"/>
              </a:lnSpc>
              <a:buFontTx/>
              <a:buNone/>
              <a:defRPr/>
            </a:pPr>
            <a:r>
              <a:rPr lang="es-ES_tradnl" sz="2400" dirty="0">
                <a:latin typeface="+mn-lt"/>
                <a:cs typeface="Arial" panose="020B0604020202020204" pitchFamily="34" charset="0"/>
              </a:rPr>
              <a:t>			</a:t>
            </a:r>
            <a:r>
              <a:rPr lang="es-ES_tradnl" sz="2400" dirty="0">
                <a:solidFill>
                  <a:schemeClr val="accent2"/>
                </a:solidFill>
                <a:latin typeface="+mn-lt"/>
                <a:cs typeface="Arial" panose="020B0604020202020204" pitchFamily="34" charset="0"/>
              </a:rPr>
              <a:t>relación</a:t>
            </a:r>
            <a:r>
              <a:rPr lang="es-ES_tradnl" sz="2400" dirty="0">
                <a:latin typeface="+mn-lt"/>
                <a:cs typeface="Arial" panose="020B0604020202020204" pitchFamily="34" charset="0"/>
              </a:rPr>
              <a:t> = </a:t>
            </a:r>
            <a:r>
              <a:rPr lang="es-ES_tradnl" sz="2400" dirty="0">
                <a:solidFill>
                  <a:schemeClr val="accent2"/>
                </a:solidFill>
                <a:latin typeface="+mn-lt"/>
                <a:cs typeface="Arial" panose="020B0604020202020204" pitchFamily="34" charset="0"/>
              </a:rPr>
              <a:t>tabla</a:t>
            </a:r>
          </a:p>
          <a:p>
            <a:pPr>
              <a:lnSpc>
                <a:spcPct val="90000"/>
              </a:lnSpc>
              <a:defRPr/>
            </a:pPr>
            <a:r>
              <a:rPr lang="es-ES_tradnl" sz="2400" dirty="0">
                <a:latin typeface="+mn-lt"/>
                <a:cs typeface="Arial" panose="020B0604020202020204" pitchFamily="34" charset="0"/>
              </a:rPr>
              <a:t>Se apoya en el álgebra y en el cálculo de relaciones</a:t>
            </a:r>
          </a:p>
          <a:p>
            <a:pPr>
              <a:lnSpc>
                <a:spcPct val="90000"/>
              </a:lnSpc>
              <a:defRPr/>
            </a:pPr>
            <a:r>
              <a:rPr lang="es-ES_tradnl" sz="2400" dirty="0">
                <a:latin typeface="+mn-lt"/>
                <a:cs typeface="Arial" panose="020B0604020202020204" pitchFamily="34" charset="0"/>
              </a:rPr>
              <a:t>Originó los RDBMS (SGBD Relacionales).</a:t>
            </a:r>
          </a:p>
        </p:txBody>
      </p:sp>
    </p:spTree>
    <p:extLst>
      <p:ext uri="{BB962C8B-B14F-4D97-AF65-F5344CB8AC3E}">
        <p14:creationId xmlns:p14="http://schemas.microsoft.com/office/powerpoint/2010/main" val="3155134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ítulo 1">
            <a:extLst>
              <a:ext uri="{FF2B5EF4-FFF2-40B4-BE49-F238E27FC236}">
                <a16:creationId xmlns:a16="http://schemas.microsoft.com/office/drawing/2014/main" id="{8E36962F-4AE2-8C87-F7B1-EB9B5FC73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282" y="728663"/>
            <a:ext cx="8606118" cy="968375"/>
          </a:xfrm>
          <a:solidFill>
            <a:srgbClr val="0070C0"/>
          </a:solidFill>
        </p:spPr>
        <p:txBody>
          <a:bodyPr>
            <a:normAutofit/>
          </a:bodyPr>
          <a:lstStyle/>
          <a:p>
            <a:r>
              <a:rPr lang="es-ES_tradnl" altLang="es-ES" sz="40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Introducción</a:t>
            </a:r>
            <a:endParaRPr lang="es-ES" altLang="es-ES" sz="400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9219" name="Rectángulo redondeado 6">
            <a:extLst>
              <a:ext uri="{FF2B5EF4-FFF2-40B4-BE49-F238E27FC236}">
                <a16:creationId xmlns:a16="http://schemas.microsoft.com/office/drawing/2014/main" id="{DA787438-CA1B-3591-0FF6-0F3D7A0F70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8788" y="2997200"/>
            <a:ext cx="360362" cy="36036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9220" name="Rectángulo redondeado 7">
            <a:extLst>
              <a:ext uri="{FF2B5EF4-FFF2-40B4-BE49-F238E27FC236}">
                <a16:creationId xmlns:a16="http://schemas.microsoft.com/office/drawing/2014/main" id="{EBC0786A-0B0A-5419-5845-3D40AA3F52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2997200"/>
            <a:ext cx="360362" cy="36036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9221" name="Rectángulo redondeado 8">
            <a:extLst>
              <a:ext uri="{FF2B5EF4-FFF2-40B4-BE49-F238E27FC236}">
                <a16:creationId xmlns:a16="http://schemas.microsoft.com/office/drawing/2014/main" id="{59BD30E2-A995-2524-07A4-B1D7B1D41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4688" y="3573463"/>
            <a:ext cx="360362" cy="36036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cxnSp>
        <p:nvCxnSpPr>
          <p:cNvPr id="9222" name="Conector recto 10">
            <a:extLst>
              <a:ext uri="{FF2B5EF4-FFF2-40B4-BE49-F238E27FC236}">
                <a16:creationId xmlns:a16="http://schemas.microsoft.com/office/drawing/2014/main" id="{0D6B2B15-5EDF-2856-F9D3-81121B5EEFFA}"/>
              </a:ext>
            </a:extLst>
          </p:cNvPr>
          <p:cNvCxnSpPr>
            <a:cxnSpLocks noChangeShapeType="1"/>
            <a:stCxn id="9220" idx="2"/>
          </p:cNvCxnSpPr>
          <p:nvPr/>
        </p:nvCxnSpPr>
        <p:spPr bwMode="auto">
          <a:xfrm>
            <a:off x="2557463" y="3357563"/>
            <a:ext cx="0" cy="3952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223" name="Conector recto 12">
            <a:extLst>
              <a:ext uri="{FF2B5EF4-FFF2-40B4-BE49-F238E27FC236}">
                <a16:creationId xmlns:a16="http://schemas.microsoft.com/office/drawing/2014/main" id="{594C29E7-AC47-79A5-E630-D0B98E76B139}"/>
              </a:ext>
            </a:extLst>
          </p:cNvPr>
          <p:cNvCxnSpPr>
            <a:cxnSpLocks noChangeShapeType="1"/>
            <a:stCxn id="9221" idx="3"/>
          </p:cNvCxnSpPr>
          <p:nvPr/>
        </p:nvCxnSpPr>
        <p:spPr bwMode="auto">
          <a:xfrm>
            <a:off x="2305050" y="3752850"/>
            <a:ext cx="252413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224" name="Conector recto 14">
            <a:extLst>
              <a:ext uri="{FF2B5EF4-FFF2-40B4-BE49-F238E27FC236}">
                <a16:creationId xmlns:a16="http://schemas.microsoft.com/office/drawing/2014/main" id="{B82FF221-7850-3844-6F56-46E8D1A3181A}"/>
              </a:ext>
            </a:extLst>
          </p:cNvPr>
          <p:cNvCxnSpPr>
            <a:cxnSpLocks noChangeShapeType="1"/>
            <a:stCxn id="9219" idx="3"/>
            <a:endCxn id="9220" idx="1"/>
          </p:cNvCxnSpPr>
          <p:nvPr/>
        </p:nvCxnSpPr>
        <p:spPr bwMode="auto">
          <a:xfrm>
            <a:off x="2089150" y="3176588"/>
            <a:ext cx="287338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225" name="Rectángulo 20">
            <a:extLst>
              <a:ext uri="{FF2B5EF4-FFF2-40B4-BE49-F238E27FC236}">
                <a16:creationId xmlns:a16="http://schemas.microsoft.com/office/drawing/2014/main" id="{F97A8A94-9C1D-77A7-DCD0-1FF53F19C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9863" y="2565400"/>
            <a:ext cx="1619250" cy="1800225"/>
          </a:xfrm>
          <a:prstGeom prst="rect">
            <a:avLst/>
          </a:prstGeom>
          <a:solidFill>
            <a:schemeClr val="accent1">
              <a:alpha val="30196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9226" name="CuadroTexto 21">
            <a:extLst>
              <a:ext uri="{FF2B5EF4-FFF2-40B4-BE49-F238E27FC236}">
                <a16:creationId xmlns:a16="http://schemas.microsoft.com/office/drawing/2014/main" id="{C7E91A6C-6B58-1378-4E51-330EEA9B82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5525" y="1697038"/>
            <a:ext cx="2449513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" altLang="es-ES" sz="2400"/>
              <a:t>Modelo conceptual (E-R)</a:t>
            </a:r>
          </a:p>
        </p:txBody>
      </p:sp>
      <p:sp>
        <p:nvSpPr>
          <p:cNvPr id="9227" name="Flecha derecha 22">
            <a:extLst>
              <a:ext uri="{FF2B5EF4-FFF2-40B4-BE49-F238E27FC236}">
                <a16:creationId xmlns:a16="http://schemas.microsoft.com/office/drawing/2014/main" id="{19543735-D076-D334-5145-B782DFCF89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2901950"/>
            <a:ext cx="1468438" cy="1319213"/>
          </a:xfrm>
          <a:prstGeom prst="rightArrow">
            <a:avLst>
              <a:gd name="adj1" fmla="val 50000"/>
              <a:gd name="adj2" fmla="val 50018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" altLang="es-ES" sz="2000"/>
              <a:t>Transfor-mación</a:t>
            </a:r>
          </a:p>
        </p:txBody>
      </p:sp>
      <p:sp>
        <p:nvSpPr>
          <p:cNvPr id="9228" name="Rectángulo 23">
            <a:extLst>
              <a:ext uri="{FF2B5EF4-FFF2-40B4-BE49-F238E27FC236}">
                <a16:creationId xmlns:a16="http://schemas.microsoft.com/office/drawing/2014/main" id="{B4CFD6F2-C2E4-6672-D210-A6B3402B61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0175" y="2587625"/>
            <a:ext cx="1619250" cy="1800225"/>
          </a:xfrm>
          <a:prstGeom prst="rect">
            <a:avLst/>
          </a:prstGeom>
          <a:solidFill>
            <a:schemeClr val="accent1">
              <a:alpha val="30196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s-ES" altLang="es-ES" sz="2400"/>
          </a:p>
        </p:txBody>
      </p:sp>
      <p:sp>
        <p:nvSpPr>
          <p:cNvPr id="9229" name="CuadroTexto 24">
            <a:extLst>
              <a:ext uri="{FF2B5EF4-FFF2-40B4-BE49-F238E27FC236}">
                <a16:creationId xmlns:a16="http://schemas.microsoft.com/office/drawing/2014/main" id="{2CE2DC00-D1DD-7DF6-2F52-9B5D358DEB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5838" y="1697038"/>
            <a:ext cx="2447925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" altLang="es-ES" sz="2400"/>
              <a:t>Modelo lógico (Relacional)</a:t>
            </a:r>
          </a:p>
        </p:txBody>
      </p:sp>
    </p:spTree>
    <p:extLst>
      <p:ext uri="{BB962C8B-B14F-4D97-AF65-F5344CB8AC3E}">
        <p14:creationId xmlns:p14="http://schemas.microsoft.com/office/powerpoint/2010/main" val="1895597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5551C92-997A-B771-81CF-FAAE65845F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5438" y="804769"/>
            <a:ext cx="8458200" cy="803275"/>
          </a:xfrm>
          <a:solidFill>
            <a:srgbClr val="0070C0"/>
          </a:solidFill>
        </p:spPr>
        <p:txBody>
          <a:bodyPr>
            <a:normAutofit/>
          </a:bodyPr>
          <a:lstStyle/>
          <a:p>
            <a:pPr algn="ctr"/>
            <a:r>
              <a:rPr lang="es-ES_tradnl" altLang="es-ES" sz="40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Ventajas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7F8D3742-46B9-24CD-B127-13121A74F2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5438" y="1805264"/>
            <a:ext cx="8458200" cy="426423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s-ES_tradnl" altLang="es-ES" sz="2000" dirty="0">
                <a:latin typeface="+mn-lt"/>
                <a:cs typeface="Arial" panose="020B0604020202020204" pitchFamily="34" charset="0"/>
              </a:rPr>
              <a:t>Separación clara del nivel lógico y el físico.</a:t>
            </a:r>
          </a:p>
          <a:p>
            <a:pPr algn="just">
              <a:lnSpc>
                <a:spcPct val="150000"/>
              </a:lnSpc>
            </a:pPr>
            <a:r>
              <a:rPr lang="es-ES_tradnl" altLang="es-ES" sz="2000" dirty="0">
                <a:latin typeface="+mn-lt"/>
                <a:cs typeface="Arial" panose="020B0604020202020204" pitchFamily="34" charset="0"/>
              </a:rPr>
              <a:t>Sencillo.</a:t>
            </a:r>
          </a:p>
          <a:p>
            <a:pPr algn="just">
              <a:lnSpc>
                <a:spcPct val="150000"/>
              </a:lnSpc>
            </a:pPr>
            <a:r>
              <a:rPr lang="es-ES_tradnl" altLang="es-ES" sz="2000" dirty="0">
                <a:latin typeface="+mn-lt"/>
                <a:cs typeface="Arial" panose="020B0604020202020204" pitchFamily="34" charset="0"/>
              </a:rPr>
              <a:t>Fácil modificación de datos y del esquema. </a:t>
            </a:r>
          </a:p>
          <a:p>
            <a:pPr algn="just">
              <a:lnSpc>
                <a:spcPct val="150000"/>
              </a:lnSpc>
            </a:pPr>
            <a:r>
              <a:rPr lang="es-ES_tradnl" altLang="es-ES" sz="2000" dirty="0">
                <a:latin typeface="+mn-lt"/>
                <a:cs typeface="Arial" panose="020B0604020202020204" pitchFamily="34" charset="0"/>
              </a:rPr>
              <a:t>Operadores con gran poder de manipulación de los datos </a:t>
            </a:r>
            <a:r>
              <a:rPr lang="es-ES_tradnl" altLang="es-ES" sz="2000" dirty="0"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álgebra y cálculo relacional</a:t>
            </a:r>
            <a:endParaRPr lang="es-ES_tradnl" altLang="es-ES" sz="2000" dirty="0">
              <a:latin typeface="+mn-lt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s-ES_tradnl" altLang="es-ES" sz="2000" dirty="0">
                <a:solidFill>
                  <a:srgbClr val="0000FF"/>
                </a:solidFill>
                <a:latin typeface="+mn-lt"/>
                <a:cs typeface="Arial" panose="020B0604020202020204" pitchFamily="34" charset="0"/>
              </a:rPr>
              <a:t>Fundamentación teórica sólida (teoría de conjuntos)</a:t>
            </a:r>
            <a:r>
              <a:rPr lang="es-ES_tradnl" altLang="es-ES" sz="2000" dirty="0">
                <a:latin typeface="+mn-lt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s-ES_tradnl" altLang="es-ES" sz="2000" dirty="0">
                <a:latin typeface="+mn-lt"/>
                <a:cs typeface="Arial" panose="020B0604020202020204" pitchFamily="34" charset="0"/>
              </a:rPr>
              <a:t>Compatibilidad y estandarización.</a:t>
            </a:r>
          </a:p>
        </p:txBody>
      </p:sp>
    </p:spTree>
    <p:extLst>
      <p:ext uri="{BB962C8B-B14F-4D97-AF65-F5344CB8AC3E}">
        <p14:creationId xmlns:p14="http://schemas.microsoft.com/office/powerpoint/2010/main" val="791561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C2630DBE-0054-1EBF-92E1-BC98F6B3DB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5594" y="688905"/>
            <a:ext cx="8532812" cy="981075"/>
          </a:xfrm>
          <a:solidFill>
            <a:srgbClr val="0070C0"/>
          </a:solidFill>
        </p:spPr>
        <p:txBody>
          <a:bodyPr>
            <a:normAutofit/>
          </a:bodyPr>
          <a:lstStyle/>
          <a:p>
            <a:r>
              <a:rPr lang="es-ES_tradnl" altLang="es-ES" sz="40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Desventajas</a:t>
            </a:r>
          </a:p>
        </p:txBody>
      </p:sp>
      <p:sp>
        <p:nvSpPr>
          <p:cNvPr id="10245" name="Rectangle 3">
            <a:extLst>
              <a:ext uri="{FF2B5EF4-FFF2-40B4-BE49-F238E27FC236}">
                <a16:creationId xmlns:a16="http://schemas.microsoft.com/office/drawing/2014/main" id="{96B3964B-B23E-0231-47D5-EC75839365F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5594" y="1885500"/>
            <a:ext cx="8532812" cy="4250257"/>
          </a:xfrm>
        </p:spPr>
        <p:txBody>
          <a:bodyPr>
            <a:noAutofit/>
          </a:bodyPr>
          <a:lstStyle/>
          <a:p>
            <a:pPr algn="just">
              <a:lnSpc>
                <a:spcPct val="120000"/>
              </a:lnSpc>
              <a:defRPr/>
            </a:pPr>
            <a:r>
              <a:rPr lang="es-ES_tradnl" altLang="es-ES" sz="2000" dirty="0">
                <a:latin typeface="+mn-lt"/>
                <a:cs typeface="Arial" panose="020B0604020202020204" pitchFamily="34" charset="0"/>
              </a:rPr>
              <a:t>No incluye </a:t>
            </a:r>
            <a:r>
              <a:rPr lang="es-ES_tradnl" altLang="es-ES" sz="2000" b="1" dirty="0">
                <a:latin typeface="+mn-lt"/>
                <a:cs typeface="Arial" panose="020B0604020202020204" pitchFamily="34" charset="0"/>
              </a:rPr>
              <a:t>comportamiento</a:t>
            </a:r>
            <a:r>
              <a:rPr lang="es-ES_tradnl" altLang="es-ES" sz="2000" dirty="0">
                <a:latin typeface="+mn-lt"/>
                <a:cs typeface="Arial" panose="020B0604020202020204" pitchFamily="34" charset="0"/>
              </a:rPr>
              <a:t> a diferencia de los modelos objetual y objeto relacional.</a:t>
            </a:r>
          </a:p>
          <a:p>
            <a:pPr algn="just">
              <a:lnSpc>
                <a:spcPct val="120000"/>
              </a:lnSpc>
              <a:defRPr/>
            </a:pPr>
            <a:r>
              <a:rPr lang="es-ES_tradnl" altLang="es-ES" sz="2000" dirty="0">
                <a:latin typeface="+mn-lt"/>
                <a:cs typeface="Arial" panose="020B0604020202020204" pitchFamily="34" charset="0"/>
              </a:rPr>
              <a:t>Dificultad o imposibilidad para representar </a:t>
            </a:r>
          </a:p>
          <a:p>
            <a:pPr lvl="1" algn="just">
              <a:lnSpc>
                <a:spcPct val="120000"/>
              </a:lnSpc>
              <a:defRPr/>
            </a:pPr>
            <a:r>
              <a:rPr lang="es-ES_tradnl" altLang="es-ES" sz="2000" dirty="0">
                <a:latin typeface="+mn-lt"/>
                <a:cs typeface="Arial" panose="020B0604020202020204" pitchFamily="34" charset="0"/>
              </a:rPr>
              <a:t>reglas complejas de negocio </a:t>
            </a:r>
          </a:p>
          <a:p>
            <a:pPr lvl="1" algn="just">
              <a:lnSpc>
                <a:spcPct val="120000"/>
              </a:lnSpc>
              <a:defRPr/>
            </a:pPr>
            <a:r>
              <a:rPr lang="es-ES_tradnl" altLang="es-ES" sz="2000" dirty="0">
                <a:latin typeface="+mn-lt"/>
                <a:cs typeface="Arial" panose="020B0604020202020204" pitchFamily="34" charset="0"/>
              </a:rPr>
              <a:t>reglas de conocimiento (inferencia)</a:t>
            </a:r>
            <a:r>
              <a:rPr lang="es-ES_tradnl" altLang="es-ES" sz="2000" dirty="0">
                <a:solidFill>
                  <a:schemeClr val="accent2"/>
                </a:solidFill>
                <a:latin typeface="+mn-lt"/>
                <a:cs typeface="Arial" panose="020B0604020202020204" pitchFamily="34" charset="0"/>
              </a:rPr>
              <a:t>*</a:t>
            </a:r>
            <a:r>
              <a:rPr lang="es-ES_tradnl" altLang="es-ES" sz="2000" dirty="0">
                <a:latin typeface="+mn-lt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ct val="120000"/>
              </a:lnSpc>
              <a:defRPr/>
            </a:pPr>
            <a:r>
              <a:rPr lang="es-ES_tradnl" altLang="es-ES" sz="2000" dirty="0">
                <a:latin typeface="+mn-lt"/>
                <a:cs typeface="Arial" panose="020B0604020202020204" pitchFamily="34" charset="0"/>
              </a:rPr>
              <a:t>Dificultad para manejar herencia (se trata de simular).</a:t>
            </a:r>
          </a:p>
          <a:p>
            <a:pPr algn="just">
              <a:lnSpc>
                <a:spcPct val="120000"/>
              </a:lnSpc>
              <a:defRPr/>
            </a:pPr>
            <a:r>
              <a:rPr lang="es-ES_tradnl" altLang="es-ES" sz="2000" dirty="0">
                <a:latin typeface="+mn-lt"/>
                <a:cs typeface="Arial" panose="020B0604020202020204" pitchFamily="34" charset="0"/>
              </a:rPr>
              <a:t>Descompone un elemento de interés en varias tablas</a:t>
            </a:r>
            <a:r>
              <a:rPr lang="es-ES_tradnl" altLang="es-ES" sz="200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*</a:t>
            </a:r>
            <a:r>
              <a:rPr lang="es-ES_tradnl" altLang="es-ES" sz="2000" dirty="0">
                <a:latin typeface="+mn-lt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ct val="120000"/>
              </a:lnSpc>
              <a:defRPr/>
            </a:pPr>
            <a:r>
              <a:rPr lang="es-ES_tradnl" altLang="es-ES" sz="2000" dirty="0">
                <a:latin typeface="+mn-lt"/>
                <a:cs typeface="Arial" panose="020B0604020202020204" pitchFamily="34" charset="0"/>
              </a:rPr>
              <a:t>El manejo de datos </a:t>
            </a:r>
            <a:r>
              <a:rPr lang="es-ES_tradnl" altLang="es-ES" sz="2000" b="1" dirty="0">
                <a:latin typeface="+mn-lt"/>
                <a:cs typeface="Arial" panose="020B0604020202020204" pitchFamily="34" charset="0"/>
              </a:rPr>
              <a:t>“</a:t>
            </a:r>
            <a:r>
              <a:rPr lang="es-ES_tradnl" altLang="es-ES" sz="2000" dirty="0">
                <a:latin typeface="+mn-lt"/>
                <a:cs typeface="Arial" panose="020B0604020202020204" pitchFamily="34" charset="0"/>
              </a:rPr>
              <a:t>complejos</a:t>
            </a:r>
            <a:r>
              <a:rPr lang="es-ES_tradnl" altLang="es-ES" sz="2000" b="1" dirty="0">
                <a:latin typeface="+mn-lt"/>
                <a:cs typeface="Arial" panose="020B0604020202020204" pitchFamily="34" charset="0"/>
              </a:rPr>
              <a:t>”</a:t>
            </a:r>
            <a:r>
              <a:rPr lang="es-ES_tradnl" altLang="es-ES" sz="2000" dirty="0">
                <a:latin typeface="+mn-lt"/>
                <a:cs typeface="Arial" panose="020B0604020202020204" pitchFamily="34" charset="0"/>
              </a:rPr>
              <a:t> (cf. con los atributos grupales y </a:t>
            </a:r>
            <a:r>
              <a:rPr lang="es-ES_tradnl" altLang="es-ES" sz="2000" dirty="0" err="1">
                <a:latin typeface="+mn-lt"/>
                <a:cs typeface="Arial" panose="020B0604020202020204" pitchFamily="34" charset="0"/>
              </a:rPr>
              <a:t>multivaluados</a:t>
            </a:r>
            <a:r>
              <a:rPr lang="es-ES_tradnl" altLang="es-ES" sz="2000" dirty="0">
                <a:latin typeface="+mn-lt"/>
                <a:cs typeface="Arial" panose="020B0604020202020204" pitchFamily="34" charset="0"/>
              </a:rPr>
              <a:t> del modelo conceptual semántico) podría llevar a diseños complejos.</a:t>
            </a:r>
          </a:p>
        </p:txBody>
      </p:sp>
    </p:spTree>
    <p:extLst>
      <p:ext uri="{BB962C8B-B14F-4D97-AF65-F5344CB8AC3E}">
        <p14:creationId xmlns:p14="http://schemas.microsoft.com/office/powerpoint/2010/main" val="3624460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4746283C-9242-61E1-AB3C-B43C521F1B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8328" y="902354"/>
            <a:ext cx="8543284" cy="993681"/>
          </a:xfrm>
          <a:solidFill>
            <a:srgbClr val="0070C0"/>
          </a:solidFill>
        </p:spPr>
        <p:txBody>
          <a:bodyPr/>
          <a:lstStyle/>
          <a:p>
            <a:r>
              <a:rPr lang="es-ES_tradnl" altLang="es-ES" sz="40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Elementos del modelo relacional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8BF05CAA-89F7-1118-7D3B-BD4B5BFE4C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18328" y="2031862"/>
            <a:ext cx="8348594" cy="42195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s-ES_tradnl" altLang="es-ES" dirty="0">
                <a:latin typeface="+mn-lt"/>
                <a:cs typeface="Arial" panose="020B0604020202020204" pitchFamily="34" charset="0"/>
              </a:rPr>
              <a:t>Relación (tabla):</a:t>
            </a:r>
          </a:p>
          <a:p>
            <a:pPr lvl="1" algn="just">
              <a:lnSpc>
                <a:spcPct val="150000"/>
              </a:lnSpc>
            </a:pPr>
            <a:r>
              <a:rPr lang="es-ES_tradnl" altLang="es-ES" dirty="0">
                <a:latin typeface="+mn-lt"/>
                <a:cs typeface="Arial" panose="020B0604020202020204" pitchFamily="34" charset="0"/>
              </a:rPr>
              <a:t>Concepto abstracto. Estructura: filas (</a:t>
            </a:r>
            <a:r>
              <a:rPr lang="es-ES_tradnl" altLang="es-ES" b="1" dirty="0">
                <a:latin typeface="+mn-lt"/>
                <a:cs typeface="Arial" panose="020B0604020202020204" pitchFamily="34" charset="0"/>
              </a:rPr>
              <a:t>tuplas</a:t>
            </a:r>
            <a:r>
              <a:rPr lang="es-ES_tradnl" altLang="es-ES" dirty="0">
                <a:latin typeface="+mn-lt"/>
                <a:cs typeface="Arial" panose="020B0604020202020204" pitchFamily="34" charset="0"/>
              </a:rPr>
              <a:t>) y columnas (atributos).</a:t>
            </a:r>
          </a:p>
          <a:p>
            <a:pPr lvl="2" algn="just">
              <a:buFontTx/>
              <a:buNone/>
            </a:pPr>
            <a:endParaRPr lang="es-ES_tradnl" alt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4255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CEFE375-FF7C-A276-9FFC-818C1D6662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5835" y="804022"/>
            <a:ext cx="8592671" cy="1008063"/>
          </a:xfrm>
          <a:solidFill>
            <a:srgbClr val="0070C0"/>
          </a:solidFill>
        </p:spPr>
        <p:txBody>
          <a:bodyPr>
            <a:normAutofit/>
          </a:bodyPr>
          <a:lstStyle/>
          <a:p>
            <a:r>
              <a:rPr lang="es-ES_tradnl" altLang="es-ES" sz="40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Elementos del modelo relacional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1E1E764C-8CAE-D08E-E8F5-E03833DA62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987825"/>
            <a:ext cx="7772400" cy="3787499"/>
          </a:xfrm>
        </p:spPr>
        <p:txBody>
          <a:bodyPr/>
          <a:lstStyle/>
          <a:p>
            <a:pPr algn="just">
              <a:defRPr/>
            </a:pPr>
            <a:r>
              <a:rPr lang="es-ES_tradnl" b="1" dirty="0">
                <a:latin typeface="+mn-lt"/>
                <a:cs typeface="Arial" panose="020B0604020202020204" pitchFamily="34" charset="0"/>
              </a:rPr>
              <a:t>Relación: Conjunto de </a:t>
            </a:r>
            <a:r>
              <a:rPr lang="es-ES_tradnl" b="1" dirty="0" err="1">
                <a:latin typeface="+mn-lt"/>
                <a:cs typeface="Arial" panose="020B0604020202020204" pitchFamily="34" charset="0"/>
              </a:rPr>
              <a:t>tuplas</a:t>
            </a:r>
            <a:endParaRPr lang="es-ES_tradnl" b="1" dirty="0">
              <a:latin typeface="+mn-lt"/>
              <a:cs typeface="Arial" panose="020B0604020202020204" pitchFamily="34" charset="0"/>
            </a:endParaRPr>
          </a:p>
          <a:p>
            <a:pPr lvl="1" algn="just">
              <a:defRPr/>
            </a:pPr>
            <a:r>
              <a:rPr lang="es-ES_tradnl" dirty="0">
                <a:latin typeface="+mn-lt"/>
                <a:cs typeface="Arial" panose="020B0604020202020204" pitchFamily="34" charset="0"/>
              </a:rPr>
              <a:t>Propiedades:</a:t>
            </a:r>
          </a:p>
          <a:p>
            <a:pPr lvl="2" algn="just">
              <a:defRPr/>
            </a:pPr>
            <a:r>
              <a:rPr lang="es-ES_tradnl" b="1" dirty="0">
                <a:latin typeface="+mn-lt"/>
                <a:cs typeface="Arial" panose="020B0604020202020204" pitchFamily="34" charset="0"/>
              </a:rPr>
              <a:t>Cada “celda” </a:t>
            </a:r>
            <a:r>
              <a:rPr lang="es-ES_tradnl" dirty="0">
                <a:latin typeface="+mn-lt"/>
                <a:cs typeface="Arial" panose="020B0604020202020204" pitchFamily="34" charset="0"/>
              </a:rPr>
              <a:t>(intersección de una fila con una columna)</a:t>
            </a:r>
            <a:r>
              <a:rPr lang="es-ES_tradnl" b="1" dirty="0">
                <a:latin typeface="+mn-lt"/>
                <a:cs typeface="Arial" panose="020B0604020202020204" pitchFamily="34" charset="0"/>
              </a:rPr>
              <a:t>  es atómica</a:t>
            </a:r>
            <a:r>
              <a:rPr lang="es-ES_tradnl" b="1" dirty="0">
                <a:solidFill>
                  <a:srgbClr val="00B0F0"/>
                </a:solidFill>
                <a:latin typeface="+mn-lt"/>
                <a:cs typeface="Arial" panose="020B0604020202020204" pitchFamily="34" charset="0"/>
              </a:rPr>
              <a:t>* </a:t>
            </a:r>
            <a:r>
              <a:rPr lang="es-ES_tradnl" b="1" dirty="0">
                <a:latin typeface="+mn-lt"/>
                <a:cs typeface="Arial" panose="020B0604020202020204" pitchFamily="34" charset="0"/>
              </a:rPr>
              <a:t>o </a:t>
            </a:r>
            <a:r>
              <a:rPr lang="es-ES_tradnl" b="1" dirty="0" err="1">
                <a:latin typeface="+mn-lt"/>
                <a:cs typeface="Arial" panose="020B0604020202020204" pitchFamily="34" charset="0"/>
              </a:rPr>
              <a:t>univaluada</a:t>
            </a:r>
            <a:r>
              <a:rPr lang="es-ES_tradnl" b="1" dirty="0">
                <a:latin typeface="+mn-lt"/>
                <a:cs typeface="Arial" panose="020B0604020202020204" pitchFamily="34" charset="0"/>
              </a:rPr>
              <a:t>.</a:t>
            </a:r>
          </a:p>
          <a:p>
            <a:pPr lvl="2" algn="just">
              <a:defRPr/>
            </a:pPr>
            <a:r>
              <a:rPr lang="es-ES_tradnl" dirty="0">
                <a:latin typeface="+mn-lt"/>
                <a:cs typeface="Arial" panose="020B0604020202020204" pitchFamily="34" charset="0"/>
              </a:rPr>
              <a:t>Cada columna tiene un nombre único dentro de la relación.</a:t>
            </a:r>
          </a:p>
          <a:p>
            <a:pPr lvl="2" algn="just">
              <a:defRPr/>
            </a:pPr>
            <a:r>
              <a:rPr lang="es-ES_tradnl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Arial" panose="020B0604020202020204" pitchFamily="34" charset="0"/>
              </a:rPr>
              <a:t>Las columnas no tienen orden</a:t>
            </a:r>
            <a:r>
              <a:rPr lang="es-ES_tradnl" b="1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.</a:t>
            </a:r>
            <a:r>
              <a:rPr lang="es-ES_tradnl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 </a:t>
            </a:r>
          </a:p>
          <a:p>
            <a:pPr lvl="2" algn="just">
              <a:defRPr/>
            </a:pPr>
            <a:r>
              <a:rPr lang="es-ES_tradnl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Arial" panose="020B0604020202020204" pitchFamily="34" charset="0"/>
              </a:rPr>
              <a:t>Las </a:t>
            </a:r>
            <a:r>
              <a:rPr lang="es-ES_tradnl" b="1" u="sng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Arial" panose="020B0604020202020204" pitchFamily="34" charset="0"/>
              </a:rPr>
              <a:t>tuplas</a:t>
            </a:r>
            <a:r>
              <a:rPr lang="es-ES_tradnl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Arial" panose="020B0604020202020204" pitchFamily="34" charset="0"/>
              </a:rPr>
              <a:t> no tienen orden</a:t>
            </a:r>
            <a:r>
              <a:rPr lang="es-ES_tradnl" b="1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.</a:t>
            </a:r>
          </a:p>
          <a:p>
            <a:pPr lvl="2" algn="just">
              <a:defRPr/>
            </a:pPr>
            <a:r>
              <a:rPr lang="es-ES_tradnl" b="1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No hay </a:t>
            </a:r>
            <a:r>
              <a:rPr lang="es-ES_tradnl" b="1" dirty="0" err="1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tuplas</a:t>
            </a:r>
            <a:r>
              <a:rPr lang="es-ES_tradnl" b="1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 repetidas.</a:t>
            </a:r>
            <a:endParaRPr lang="es-ES_tradnl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8268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616B483E-B15B-FCEB-297C-F83A9B6549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30306" y="726141"/>
            <a:ext cx="8351744" cy="897685"/>
          </a:xfrm>
          <a:solidFill>
            <a:srgbClr val="0070C0"/>
          </a:solidFill>
        </p:spPr>
        <p:txBody>
          <a:bodyPr>
            <a:normAutofit/>
          </a:bodyPr>
          <a:lstStyle/>
          <a:p>
            <a:r>
              <a:rPr lang="es-ES_tradnl" altLang="es-ES" sz="40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Elementos del modelo relacional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9748B963-DD4B-8132-7152-0DC2923753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2107097"/>
            <a:ext cx="8458200" cy="4087328"/>
          </a:xfrm>
        </p:spPr>
        <p:txBody>
          <a:bodyPr/>
          <a:lstStyle/>
          <a:p>
            <a:pPr algn="just"/>
            <a:r>
              <a:rPr lang="es-ES_tradnl" altLang="es-ES" dirty="0"/>
              <a:t>Tupla:</a:t>
            </a:r>
            <a:r>
              <a:rPr lang="es-ES_tradnl" altLang="es-ES" dirty="0">
                <a:sym typeface="Wingdings" panose="05000000000000000000" pitchFamily="2" charset="2"/>
              </a:rPr>
              <a:t> Una </a:t>
            </a:r>
            <a:r>
              <a:rPr lang="es-ES_tradnl" altLang="es-ES" dirty="0"/>
              <a:t>relación es un conjunto de tuplas:</a:t>
            </a:r>
          </a:p>
          <a:p>
            <a:pPr lvl="1" algn="just"/>
            <a:r>
              <a:rPr lang="es-ES_tradnl" altLang="es-ES" dirty="0"/>
              <a:t>Cada </a:t>
            </a:r>
            <a:r>
              <a:rPr lang="es-ES_tradnl" altLang="es-ES" dirty="0">
                <a:solidFill>
                  <a:srgbClr val="0000FF"/>
                </a:solidFill>
              </a:rPr>
              <a:t>instancia</a:t>
            </a:r>
            <a:r>
              <a:rPr lang="es-ES_tradnl" altLang="es-ES" dirty="0"/>
              <a:t> (fila o registro) de una relación.</a:t>
            </a:r>
          </a:p>
          <a:p>
            <a:pPr lvl="1" algn="just"/>
            <a:r>
              <a:rPr lang="es-ES_tradnl" altLang="es-ES" dirty="0"/>
              <a:t>Sirve para representar la instancia de una entidad del modelo E-R.</a:t>
            </a:r>
          </a:p>
          <a:p>
            <a:pPr lvl="1" algn="just"/>
            <a:r>
              <a:rPr lang="es-ES_tradnl" altLang="es-ES" dirty="0">
                <a:solidFill>
                  <a:srgbClr val="0000FF"/>
                </a:solidFill>
              </a:rPr>
              <a:t>Cardinalidad </a:t>
            </a:r>
            <a:r>
              <a:rPr lang="es-ES_tradnl" altLang="es-ES" dirty="0"/>
              <a:t>o extensión de una relación: número de tuplas.</a:t>
            </a:r>
          </a:p>
        </p:txBody>
      </p:sp>
    </p:spTree>
    <p:extLst>
      <p:ext uri="{BB962C8B-B14F-4D97-AF65-F5344CB8AC3E}">
        <p14:creationId xmlns:p14="http://schemas.microsoft.com/office/powerpoint/2010/main" val="1451334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4">
            <a:extLst>
              <a:ext uri="{FF2B5EF4-FFF2-40B4-BE49-F238E27FC236}">
                <a16:creationId xmlns:a16="http://schemas.microsoft.com/office/drawing/2014/main" id="{0F03F664-5832-4C7C-8679-F7938D5571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5044" y="726141"/>
            <a:ext cx="8583121" cy="1062318"/>
          </a:xfrm>
          <a:solidFill>
            <a:srgbClr val="0070C0"/>
          </a:solidFill>
        </p:spPr>
        <p:txBody>
          <a:bodyPr>
            <a:normAutofit/>
          </a:bodyPr>
          <a:lstStyle/>
          <a:p>
            <a:r>
              <a:rPr lang="es-ES_tradnl" altLang="es-ES" sz="40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Elementos del modelo relacional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020AB8CB-1644-C790-9089-6D280ACDB8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65044" y="2071274"/>
            <a:ext cx="8401878" cy="4114800"/>
          </a:xfrm>
        </p:spPr>
        <p:txBody>
          <a:bodyPr/>
          <a:lstStyle/>
          <a:p>
            <a:pPr algn="just"/>
            <a:r>
              <a:rPr lang="es-ES_tradnl" altLang="es-ES" dirty="0">
                <a:solidFill>
                  <a:srgbClr val="0000FF"/>
                </a:solidFill>
                <a:latin typeface="+mn-lt"/>
                <a:cs typeface="Arial" panose="020B0604020202020204" pitchFamily="34" charset="0"/>
              </a:rPr>
              <a:t>Atributo</a:t>
            </a:r>
            <a:r>
              <a:rPr lang="es-ES_tradnl" altLang="es-ES" dirty="0">
                <a:latin typeface="+mn-lt"/>
                <a:cs typeface="Arial" panose="020B0604020202020204" pitchFamily="34" charset="0"/>
              </a:rPr>
              <a:t>:</a:t>
            </a:r>
            <a:endParaRPr lang="es-ES_tradnl" altLang="es-ES" sz="3600" dirty="0">
              <a:latin typeface="+mn-lt"/>
              <a:cs typeface="Arial" panose="020B0604020202020204" pitchFamily="34" charset="0"/>
            </a:endParaRPr>
          </a:p>
          <a:p>
            <a:pPr lvl="1" algn="just"/>
            <a:r>
              <a:rPr lang="es-ES_tradnl" altLang="es-ES" dirty="0">
                <a:latin typeface="+mn-lt"/>
                <a:cs typeface="Arial" panose="020B0604020202020204" pitchFamily="34" charset="0"/>
              </a:rPr>
              <a:t>Cada campo o columna de una relación.</a:t>
            </a:r>
          </a:p>
          <a:p>
            <a:pPr lvl="1" algn="just"/>
            <a:r>
              <a:rPr lang="es-ES_tradnl" altLang="es-ES" dirty="0">
                <a:latin typeface="+mn-lt"/>
                <a:cs typeface="Arial" panose="020B0604020202020204" pitchFamily="34" charset="0"/>
              </a:rPr>
              <a:t>Grado de una relación: número de atributos. </a:t>
            </a:r>
          </a:p>
          <a:p>
            <a:pPr lvl="1" algn="just"/>
            <a:r>
              <a:rPr lang="es-ES_tradnl" altLang="es-ES" dirty="0">
                <a:latin typeface="+mn-lt"/>
                <a:cs typeface="Arial" panose="020B0604020202020204" pitchFamily="34" charset="0"/>
              </a:rPr>
              <a:t>El </a:t>
            </a:r>
            <a:r>
              <a:rPr lang="es-ES_tradnl" altLang="es-ES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conjunto</a:t>
            </a:r>
            <a:r>
              <a:rPr lang="es-ES_tradnl" altLang="es-ES" dirty="0">
                <a:latin typeface="+mn-lt"/>
                <a:cs typeface="Arial" panose="020B0604020202020204" pitchFamily="34" charset="0"/>
              </a:rPr>
              <a:t> de atributos forman la </a:t>
            </a:r>
            <a:r>
              <a:rPr lang="es-ES_tradnl" altLang="es-ES" b="1" dirty="0">
                <a:latin typeface="+mn-lt"/>
                <a:cs typeface="Arial" panose="020B0604020202020204" pitchFamily="34" charset="0"/>
              </a:rPr>
              <a:t>cabecera</a:t>
            </a:r>
            <a:r>
              <a:rPr lang="es-ES_tradnl" altLang="es-ES" dirty="0">
                <a:latin typeface="+mn-lt"/>
                <a:cs typeface="Arial" panose="020B0604020202020204" pitchFamily="34" charset="0"/>
              </a:rPr>
              <a:t> de la relación.</a:t>
            </a:r>
          </a:p>
          <a:p>
            <a:pPr lvl="1" algn="just"/>
            <a:r>
              <a:rPr lang="es-ES_tradnl" altLang="es-ES" dirty="0">
                <a:latin typeface="+mn-lt"/>
                <a:cs typeface="Arial" panose="020B0604020202020204" pitchFamily="34" charset="0"/>
              </a:rPr>
              <a:t>Cada atributo está </a:t>
            </a:r>
            <a:r>
              <a:rPr lang="es-ES_tradnl" altLang="es-ES" b="1" dirty="0">
                <a:latin typeface="+mn-lt"/>
                <a:cs typeface="Arial" panose="020B0604020202020204" pitchFamily="34" charset="0"/>
              </a:rPr>
              <a:t>valuado</a:t>
            </a:r>
            <a:r>
              <a:rPr lang="es-ES_tradnl" altLang="es-ES" dirty="0">
                <a:latin typeface="+mn-lt"/>
                <a:cs typeface="Arial" panose="020B0604020202020204" pitchFamily="34" charset="0"/>
              </a:rPr>
              <a:t> o basado sobre un </a:t>
            </a:r>
            <a:r>
              <a:rPr lang="es-ES_tradnl" altLang="es-ES" b="1" dirty="0">
                <a:latin typeface="+mn-lt"/>
                <a:cs typeface="Arial" panose="020B0604020202020204" pitchFamily="34" charset="0"/>
              </a:rPr>
              <a:t>dominio</a:t>
            </a:r>
            <a:r>
              <a:rPr lang="es-ES_tradnl" altLang="es-ES" dirty="0">
                <a:latin typeface="+mn-lt"/>
                <a:cs typeface="Arial" panose="020B0604020202020204" pitchFamily="34" charset="0"/>
              </a:rPr>
              <a:t>.</a:t>
            </a:r>
            <a:endParaRPr lang="es-ES" altLang="es-ES" dirty="0">
              <a:latin typeface="+mn-lt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621134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E31C1AA8-4BF8-DD6D-F961-3387AAED07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49" y="730623"/>
            <a:ext cx="8537763" cy="990600"/>
          </a:xfrm>
          <a:solidFill>
            <a:srgbClr val="0070C0"/>
          </a:solidFill>
        </p:spPr>
        <p:txBody>
          <a:bodyPr>
            <a:normAutofit/>
          </a:bodyPr>
          <a:lstStyle/>
          <a:p>
            <a:r>
              <a:rPr lang="es-ES_tradnl" altLang="es-ES" sz="40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Elementos del modelo relacional</a:t>
            </a:r>
          </a:p>
        </p:txBody>
      </p:sp>
      <p:sp>
        <p:nvSpPr>
          <p:cNvPr id="16389" name="Rectangle 3">
            <a:extLst>
              <a:ext uri="{FF2B5EF4-FFF2-40B4-BE49-F238E27FC236}">
                <a16:creationId xmlns:a16="http://schemas.microsoft.com/office/drawing/2014/main" id="{32E937F1-D291-E8C8-487A-ABF70977AE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49" y="1823692"/>
            <a:ext cx="8435837" cy="4835525"/>
          </a:xfrm>
        </p:spPr>
        <p:txBody>
          <a:bodyPr/>
          <a:lstStyle/>
          <a:p>
            <a:pPr algn="just">
              <a:defRPr/>
            </a:pPr>
            <a:r>
              <a:rPr lang="es-ES_tradnl" altLang="es-ES" sz="2800" dirty="0">
                <a:solidFill>
                  <a:srgbClr val="0000FF"/>
                </a:solidFill>
                <a:latin typeface="+mn-lt"/>
                <a:cs typeface="Arial" panose="020B0604020202020204" pitchFamily="34" charset="0"/>
              </a:rPr>
              <a:t>Dominio: </a:t>
            </a:r>
            <a:r>
              <a:rPr lang="es-ES" altLang="es-AR" sz="2400" b="1" dirty="0">
                <a:latin typeface="+mn-lt"/>
                <a:cs typeface="Arial" panose="020B0604020202020204" pitchFamily="34" charset="0"/>
              </a:rPr>
              <a:t>Permiten especificar los posibles valores válidos para uno o varios atributos.</a:t>
            </a:r>
          </a:p>
          <a:p>
            <a:pPr marL="0" indent="0">
              <a:lnSpc>
                <a:spcPct val="80000"/>
              </a:lnSpc>
              <a:buFontTx/>
              <a:buNone/>
              <a:defRPr/>
            </a:pPr>
            <a:endParaRPr lang="es-ES" altLang="es-AR" sz="2400" b="1" dirty="0">
              <a:latin typeface="+mn-lt"/>
            </a:endParaRPr>
          </a:p>
          <a:p>
            <a:pPr marL="0" indent="0" algn="just">
              <a:lnSpc>
                <a:spcPct val="80000"/>
              </a:lnSpc>
              <a:buFontTx/>
              <a:buNone/>
              <a:defRPr/>
            </a:pPr>
            <a:r>
              <a:rPr lang="es-ES" altLang="es-AR" sz="2400" dirty="0">
                <a:latin typeface="+mn-lt"/>
                <a:cs typeface="Arial" panose="020B0604020202020204" pitchFamily="34" charset="0"/>
              </a:rPr>
              <a:t>Un dominio D es un conjunto finito de valores homogéneos y atómicos caracterizados por un nombre. </a:t>
            </a:r>
          </a:p>
          <a:p>
            <a:pPr marL="0" indent="0" algn="just">
              <a:lnSpc>
                <a:spcPct val="80000"/>
              </a:lnSpc>
              <a:buFontTx/>
              <a:buNone/>
              <a:defRPr/>
            </a:pPr>
            <a:r>
              <a:rPr lang="es-ES" altLang="es-AR" sz="2400" dirty="0">
                <a:latin typeface="+mn-lt"/>
                <a:cs typeface="Arial" panose="020B0604020202020204" pitchFamily="34" charset="0"/>
              </a:rPr>
              <a:t>Homogéneo significa que los valores son todos del mismo tipo y atómicos significa que son indivisibles.</a:t>
            </a:r>
          </a:p>
          <a:p>
            <a:pPr marL="0" indent="0" algn="just">
              <a:lnSpc>
                <a:spcPct val="80000"/>
              </a:lnSpc>
              <a:buFontTx/>
              <a:buNone/>
              <a:defRPr/>
            </a:pPr>
            <a:endParaRPr lang="es-ES" altLang="es-AR" sz="2400" dirty="0">
              <a:latin typeface="+mn-lt"/>
              <a:cs typeface="Arial" panose="020B0604020202020204" pitchFamily="34" charset="0"/>
            </a:endParaRPr>
          </a:p>
          <a:p>
            <a:pPr marL="0" indent="0" algn="just">
              <a:lnSpc>
                <a:spcPct val="80000"/>
              </a:lnSpc>
              <a:buFontTx/>
              <a:buNone/>
              <a:defRPr/>
            </a:pPr>
            <a:r>
              <a:rPr lang="es-ES_tradnl" altLang="es-AR" sz="2400" dirty="0">
                <a:latin typeface="+mn-lt"/>
                <a:cs typeface="Arial" panose="020B0604020202020204" pitchFamily="34" charset="0"/>
              </a:rPr>
              <a:t>El dominio "</a:t>
            </a:r>
            <a:r>
              <a:rPr lang="es-ES_tradnl" altLang="es-AR" sz="2400" i="1" dirty="0">
                <a:latin typeface="+mn-lt"/>
                <a:cs typeface="Arial" panose="020B0604020202020204" pitchFamily="34" charset="0"/>
              </a:rPr>
              <a:t>Nacionalidades</a:t>
            </a:r>
            <a:r>
              <a:rPr lang="es-ES_tradnl" altLang="es-AR" sz="2400" dirty="0">
                <a:latin typeface="+mn-lt"/>
                <a:cs typeface="Arial" panose="020B0604020202020204" pitchFamily="34" charset="0"/>
              </a:rPr>
              <a:t>" tiene valores: España, Francia, Chile, Argentina... </a:t>
            </a:r>
          </a:p>
          <a:p>
            <a:pPr marL="0" indent="0" algn="just">
              <a:lnSpc>
                <a:spcPct val="80000"/>
              </a:lnSpc>
              <a:buFontTx/>
              <a:buNone/>
              <a:defRPr/>
            </a:pPr>
            <a:r>
              <a:rPr lang="es-ES_tradnl" altLang="es-AR" sz="2400" dirty="0">
                <a:latin typeface="+mn-lt"/>
                <a:cs typeface="Arial" panose="020B0604020202020204" pitchFamily="34" charset="0"/>
              </a:rPr>
              <a:t>Si descompusiéramos España en </a:t>
            </a:r>
            <a:r>
              <a:rPr lang="es-ES_tradnl" altLang="es-AR" sz="2400" dirty="0" err="1">
                <a:latin typeface="+mn-lt"/>
                <a:cs typeface="Arial" panose="020B0604020202020204" pitchFamily="34" charset="0"/>
              </a:rPr>
              <a:t>E,s,p</a:t>
            </a:r>
            <a:r>
              <a:rPr lang="es-ES_tradnl" altLang="es-AR" sz="2400" dirty="0">
                <a:latin typeface="+mn-lt"/>
                <a:cs typeface="Arial" panose="020B0604020202020204" pitchFamily="34" charset="0"/>
              </a:rPr>
              <a:t>,... perdería la semántica. (indivisible)</a:t>
            </a:r>
          </a:p>
        </p:txBody>
      </p:sp>
    </p:spTree>
    <p:extLst>
      <p:ext uri="{BB962C8B-B14F-4D97-AF65-F5344CB8AC3E}">
        <p14:creationId xmlns:p14="http://schemas.microsoft.com/office/powerpoint/2010/main" val="991589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9EF95DF1-FEBA-D040-86D2-6C049C159F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1328" y="966532"/>
            <a:ext cx="8229600" cy="4525963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lnSpc>
                <a:spcPct val="80000"/>
              </a:lnSpc>
            </a:pPr>
            <a:endParaRPr lang="es-ES_tradnl" altLang="es-AR" sz="2400" dirty="0">
              <a:latin typeface="+mn-lt"/>
              <a:cs typeface="Arial" panose="020B0604020202020204" pitchFamily="34" charset="0"/>
            </a:endParaRPr>
          </a:p>
          <a:p>
            <a:pPr marL="0" indent="0" algn="just">
              <a:lnSpc>
                <a:spcPct val="80000"/>
              </a:lnSpc>
              <a:buFontTx/>
              <a:buNone/>
            </a:pPr>
            <a:r>
              <a:rPr lang="es-ES_tradnl" altLang="es-AR" sz="2400" dirty="0">
                <a:solidFill>
                  <a:srgbClr val="0000FF"/>
                </a:solidFill>
                <a:latin typeface="+mn-lt"/>
                <a:cs typeface="Arial" panose="020B0604020202020204" pitchFamily="34" charset="0"/>
              </a:rPr>
              <a:t>EJEMPLOS:</a:t>
            </a:r>
          </a:p>
          <a:p>
            <a:pPr marL="0" indent="0" algn="just">
              <a:lnSpc>
                <a:spcPct val="80000"/>
              </a:lnSpc>
              <a:buFontTx/>
              <a:buNone/>
            </a:pPr>
            <a:endParaRPr lang="es-ES_tradnl" altLang="es-AR" sz="2400" dirty="0">
              <a:latin typeface="+mn-lt"/>
              <a:cs typeface="Arial" panose="020B0604020202020204" pitchFamily="34" charset="0"/>
            </a:endParaRPr>
          </a:p>
          <a:p>
            <a:pPr marL="0" indent="0" algn="just">
              <a:lnSpc>
                <a:spcPct val="80000"/>
              </a:lnSpc>
            </a:pPr>
            <a:r>
              <a:rPr lang="es-ES_tradnl" altLang="es-AR" sz="2400" dirty="0">
                <a:latin typeface="+mn-lt"/>
                <a:cs typeface="Arial" panose="020B0604020202020204" pitchFamily="34" charset="0"/>
              </a:rPr>
              <a:t>Colores: Es el conjunto de los colores D={rojo, verde, azul}</a:t>
            </a:r>
          </a:p>
          <a:p>
            <a:pPr marL="0" indent="0" algn="just">
              <a:lnSpc>
                <a:spcPct val="80000"/>
              </a:lnSpc>
            </a:pPr>
            <a:r>
              <a:rPr lang="es-ES_tradnl" altLang="es-AR" sz="2400" dirty="0">
                <a:latin typeface="+mn-lt"/>
                <a:cs typeface="Arial" panose="020B0604020202020204" pitchFamily="34" charset="0"/>
              </a:rPr>
              <a:t>Números de DNI: Es conjunto de números del DNI válidos (0-9), formados por ocho dígitos.</a:t>
            </a:r>
          </a:p>
          <a:p>
            <a:pPr marL="0" indent="0" algn="just">
              <a:lnSpc>
                <a:spcPct val="80000"/>
              </a:lnSpc>
            </a:pPr>
            <a:r>
              <a:rPr lang="es-ES_tradnl" altLang="es-AR" sz="2400" dirty="0">
                <a:latin typeface="+mn-lt"/>
                <a:cs typeface="Arial" panose="020B0604020202020204" pitchFamily="34" charset="0"/>
              </a:rPr>
              <a:t>Edad: Edades posibles de los empleados entre 18 y 80 años. </a:t>
            </a:r>
          </a:p>
          <a:p>
            <a:pPr marL="0" indent="0" algn="just">
              <a:lnSpc>
                <a:spcPct val="80000"/>
              </a:lnSpc>
              <a:buFontTx/>
              <a:buNone/>
            </a:pPr>
            <a:endParaRPr lang="es-ES_tradnl" altLang="es-AR" sz="2400" dirty="0">
              <a:latin typeface="+mn-lt"/>
              <a:cs typeface="Arial" panose="020B0604020202020204" pitchFamily="34" charset="0"/>
            </a:endParaRPr>
          </a:p>
          <a:p>
            <a:pPr marL="0" indent="0" algn="just">
              <a:lnSpc>
                <a:spcPct val="80000"/>
              </a:lnSpc>
              <a:buFontTx/>
              <a:buNone/>
            </a:pPr>
            <a:r>
              <a:rPr lang="es-ES_tradnl" altLang="es-AR" sz="2400" dirty="0">
                <a:latin typeface="+mn-lt"/>
                <a:cs typeface="Arial" panose="020B0604020202020204" pitchFamily="34" charset="0"/>
              </a:rPr>
              <a:t>Cada domino debe tener un tipo de datos.</a:t>
            </a:r>
          </a:p>
          <a:p>
            <a:pPr marL="0" indent="0" algn="just">
              <a:lnSpc>
                <a:spcPct val="80000"/>
              </a:lnSpc>
              <a:buFontTx/>
              <a:buNone/>
            </a:pPr>
            <a:r>
              <a:rPr lang="es-ES_tradnl" altLang="es-AR" sz="2400" dirty="0">
                <a:latin typeface="+mn-lt"/>
                <a:cs typeface="Arial" panose="020B0604020202020204" pitchFamily="34" charset="0"/>
              </a:rPr>
              <a:t>El tipo de datos del dominio "nacionalidades" es un conjunto de caracteres de longitud 10.</a:t>
            </a:r>
            <a:endParaRPr lang="es-ES" altLang="es-AR" sz="2400" dirty="0">
              <a:latin typeface="+mn-lt"/>
              <a:cs typeface="Arial" panose="020B0604020202020204" pitchFamily="34" charset="0"/>
            </a:endParaRPr>
          </a:p>
          <a:p>
            <a:pPr marL="0" indent="0" algn="just">
              <a:lnSpc>
                <a:spcPct val="80000"/>
              </a:lnSpc>
            </a:pPr>
            <a:endParaRPr lang="es-ES" altLang="es-AR" sz="2400" dirty="0">
              <a:latin typeface="+mn-lt"/>
              <a:cs typeface="Arial" panose="020B0604020202020204" pitchFamily="34" charset="0"/>
            </a:endParaRPr>
          </a:p>
          <a:p>
            <a:pPr marL="0" indent="0" algn="just">
              <a:lnSpc>
                <a:spcPct val="80000"/>
              </a:lnSpc>
              <a:buFontTx/>
              <a:buNone/>
            </a:pPr>
            <a:r>
              <a:rPr lang="es-ES" altLang="es-AR" sz="2400" dirty="0">
                <a:latin typeface="+mn-lt"/>
                <a:cs typeface="Arial" panose="020B0604020202020204" pitchFamily="34" charset="0"/>
              </a:rPr>
              <a:t>Se considera que los dominios no incluyen nulos, ya que nulo (NULL) no es un valor.</a:t>
            </a:r>
            <a:endParaRPr lang="es-CL" altLang="es-AR" sz="2400" dirty="0"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5427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101" name="Group 573">
            <a:extLst>
              <a:ext uri="{FF2B5EF4-FFF2-40B4-BE49-F238E27FC236}">
                <a16:creationId xmlns:a16="http://schemas.microsoft.com/office/drawing/2014/main" id="{53C7CF4B-C495-9B9F-F61E-F55DA0B594FB}"/>
              </a:ext>
            </a:extLst>
          </p:cNvPr>
          <p:cNvGraphicFramePr>
            <a:graphicFrameLocks noGrp="1"/>
          </p:cNvGraphicFramePr>
          <p:nvPr>
            <p:ph/>
          </p:nvPr>
        </p:nvGraphicFramePr>
        <p:xfrm>
          <a:off x="755650" y="836613"/>
          <a:ext cx="7488238" cy="4929188"/>
        </p:xfrm>
        <a:graphic>
          <a:graphicData uri="http://schemas.openxmlformats.org/drawingml/2006/table">
            <a:tbl>
              <a:tblPr/>
              <a:tblGrid>
                <a:gridCol w="1233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92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9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39921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Atributo</a:t>
                      </a:r>
                      <a:r>
                        <a:rPr kumimoji="0" lang="es-ES" altLang="es-A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marT="45726" marB="4572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Nombre del Dominio</a:t>
                      </a:r>
                      <a:r>
                        <a:rPr kumimoji="0" lang="es-ES" altLang="es-A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marT="45726" marB="4572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Descripción</a:t>
                      </a:r>
                      <a:endParaRPr kumimoji="0" lang="es-ES" altLang="es-AR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T="45726" marB="4572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Definición</a:t>
                      </a:r>
                      <a:r>
                        <a:rPr kumimoji="0" lang="es-ES" altLang="es-A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marT="45726" marB="4572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451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Onum </a:t>
                      </a:r>
                    </a:p>
                  </a:txBody>
                  <a:tcPr marT="45726" marB="4572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NUM_OFICINA </a:t>
                      </a:r>
                    </a:p>
                  </a:txBody>
                  <a:tcPr marT="45726" marB="4572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Posibles valores de número de oficina </a:t>
                      </a:r>
                    </a:p>
                  </a:txBody>
                  <a:tcPr marT="45726" marB="4572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 digitos; rango O1-O99</a:t>
                      </a:r>
                    </a:p>
                  </a:txBody>
                  <a:tcPr marT="45726" marB="4572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94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Calle </a:t>
                      </a:r>
                    </a:p>
                  </a:txBody>
                  <a:tcPr marT="45726" marB="4572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NOM_CALLE </a:t>
                      </a:r>
                    </a:p>
                  </a:txBody>
                  <a:tcPr marT="45726" marB="4572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Nombres de calles de España </a:t>
                      </a:r>
                    </a:p>
                  </a:txBody>
                  <a:tcPr marT="45726" marB="4572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25 caracteres </a:t>
                      </a:r>
                    </a:p>
                  </a:txBody>
                  <a:tcPr marT="45726" marB="4572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3066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Area</a:t>
                      </a:r>
                      <a:r>
                        <a:rPr kumimoji="0" lang="es-ES" altLang="es-A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marT="45726" marB="4572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NOM_AREA </a:t>
                      </a:r>
                    </a:p>
                  </a:txBody>
                  <a:tcPr marT="45726" marB="4572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Nombres de áreas de las poblaciones de España </a:t>
                      </a:r>
                    </a:p>
                  </a:txBody>
                  <a:tcPr marT="45726" marB="4572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20 caracteres </a:t>
                      </a:r>
                    </a:p>
                  </a:txBody>
                  <a:tcPr marT="45726" marB="4572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3066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Poblaci</a:t>
                      </a:r>
                      <a:r>
                        <a:rPr kumimoji="0" lang="es-ES" altLang="es-A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ó</a:t>
                      </a:r>
                      <a:r>
                        <a:rPr kumimoji="0" lang="es-ES" altLang="es-A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 </a:t>
                      </a:r>
                    </a:p>
                  </a:txBody>
                  <a:tcPr marT="45726" marB="4572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NOM_POBLACION </a:t>
                      </a:r>
                    </a:p>
                  </a:txBody>
                  <a:tcPr marT="45726" marB="4572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Nombres de las poblaciones de España </a:t>
                      </a:r>
                    </a:p>
                  </a:txBody>
                  <a:tcPr marT="45726" marB="4572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15 caracteres </a:t>
                      </a:r>
                    </a:p>
                  </a:txBody>
                  <a:tcPr marT="45726" marB="4572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451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Tel</a:t>
                      </a:r>
                      <a:r>
                        <a:rPr kumimoji="0" lang="es-ES" altLang="es-A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é</a:t>
                      </a:r>
                      <a:r>
                        <a:rPr kumimoji="0" lang="es-ES" altLang="es-A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fono </a:t>
                      </a:r>
                    </a:p>
                  </a:txBody>
                  <a:tcPr marT="45726" marB="4572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NUM_TEL_FAX </a:t>
                      </a:r>
                    </a:p>
                  </a:txBody>
                  <a:tcPr marT="45726" marB="4572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Números de teléfono de España </a:t>
                      </a:r>
                    </a:p>
                  </a:txBody>
                  <a:tcPr marT="45726" marB="4572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9 digitos</a:t>
                      </a:r>
                    </a:p>
                  </a:txBody>
                  <a:tcPr marT="45726" marB="4572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9039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Fax </a:t>
                      </a:r>
                    </a:p>
                  </a:txBody>
                  <a:tcPr marT="45726" marB="4572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NUM_TEL_FAX </a:t>
                      </a:r>
                    </a:p>
                  </a:txBody>
                  <a:tcPr marT="45726" marB="4572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Números de teléfono de España </a:t>
                      </a:r>
                    </a:p>
                  </a:txBody>
                  <a:tcPr marT="45726" marB="4572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9 dígitos</a:t>
                      </a:r>
                    </a:p>
                  </a:txBody>
                  <a:tcPr marT="45726" marB="4572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100515"/>
      </p:ext>
    </p:extLst>
  </p:cSld>
  <p:clrMapOvr>
    <a:masterClrMapping/>
  </p:clrMapOvr>
  <p:transition>
    <p:strips dir="r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30">
            <a:extLst>
              <a:ext uri="{FF2B5EF4-FFF2-40B4-BE49-F238E27FC236}">
                <a16:creationId xmlns:a16="http://schemas.microsoft.com/office/drawing/2014/main" id="{BE62BD2A-076F-4613-D3F8-D82E879E84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5153" y="699247"/>
            <a:ext cx="8713694" cy="685801"/>
          </a:xfrm>
          <a:solidFill>
            <a:srgbClr val="0070C0"/>
          </a:solidFill>
        </p:spPr>
        <p:txBody>
          <a:bodyPr>
            <a:normAutofit fontScale="90000"/>
          </a:bodyPr>
          <a:lstStyle/>
          <a:p>
            <a:pPr algn="l"/>
            <a:br>
              <a:rPr lang="es-ES" altLang="es-AR" sz="2400" b="1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</a:br>
            <a:br>
              <a:rPr lang="es-ES" altLang="es-AR" sz="2400" b="1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</a:br>
            <a:r>
              <a:rPr lang="es-ES" altLang="es-AR" sz="36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Tipos de Datos</a:t>
            </a:r>
            <a:br>
              <a:rPr lang="es-ES" altLang="es-AR" b="1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</a:br>
            <a:br>
              <a:rPr lang="es-ES" altLang="es-AR" b="1" dirty="0">
                <a:solidFill>
                  <a:srgbClr val="009900"/>
                </a:solidFill>
                <a:latin typeface="+mn-lt"/>
                <a:cs typeface="Arial" panose="020B0604020202020204" pitchFamily="34" charset="0"/>
              </a:rPr>
            </a:br>
            <a:r>
              <a:rPr lang="es-ES" altLang="es-AR" sz="2200" dirty="0">
                <a:latin typeface="+mn-lt"/>
                <a:cs typeface="Arial" panose="020B0604020202020204" pitchFamily="34" charset="0"/>
              </a:rPr>
              <a:t>Cada dominio debe definirse sobre algún tipo de dato:</a:t>
            </a:r>
            <a:endParaRPr lang="es-CL" altLang="es-AR" sz="2200" dirty="0">
              <a:latin typeface="+mn-lt"/>
              <a:cs typeface="Arial" panose="020B0604020202020204" pitchFamily="34" charset="0"/>
            </a:endParaRPr>
          </a:p>
        </p:txBody>
      </p:sp>
      <p:graphicFrame>
        <p:nvGraphicFramePr>
          <p:cNvPr id="26764" name="Group 140">
            <a:extLst>
              <a:ext uri="{FF2B5EF4-FFF2-40B4-BE49-F238E27FC236}">
                <a16:creationId xmlns:a16="http://schemas.microsoft.com/office/drawing/2014/main" id="{9E308002-8C09-625C-BC2C-8C2B3D288FE3}"/>
              </a:ext>
            </a:extLst>
          </p:cNvPr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2706624773"/>
              </p:ext>
            </p:extLst>
          </p:nvPr>
        </p:nvGraphicFramePr>
        <p:xfrm>
          <a:off x="309282" y="2151529"/>
          <a:ext cx="7985406" cy="1970456"/>
        </p:xfrm>
        <a:graphic>
          <a:graphicData uri="http://schemas.openxmlformats.org/drawingml/2006/table">
            <a:tbl>
              <a:tblPr/>
              <a:tblGrid>
                <a:gridCol w="237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12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635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Entero (</a:t>
                      </a:r>
                      <a:r>
                        <a:rPr kumimoji="0" lang="es-ES" altLang="es-AR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Integer</a:t>
                      </a:r>
                      <a:r>
                        <a:rPr kumimoji="0" lang="es-ES" altLang="es-A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)</a:t>
                      </a:r>
                      <a:endParaRPr kumimoji="0" lang="es-ES" altLang="es-AR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1439" marR="91439" marT="45732" marB="45732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Números enteros sin parte decimal.</a:t>
                      </a:r>
                    </a:p>
                  </a:txBody>
                  <a:tcPr marL="91439" marR="91439" marT="45732" marB="45732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35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Carácter (Char)</a:t>
                      </a:r>
                      <a:endParaRPr kumimoji="0" lang="es-ES" altLang="es-A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1439" marR="91439" marT="45732" marB="45732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Caracteres del código ASCII, de 0-255</a:t>
                      </a:r>
                    </a:p>
                  </a:txBody>
                  <a:tcPr marL="91439" marR="91439" marT="45732" marB="45732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35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Boleano (Boolean)</a:t>
                      </a:r>
                      <a:endParaRPr kumimoji="0" lang="es-ES" altLang="es-A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1439" marR="91439" marT="45732" marB="45732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Pueden contener los valores de falso o verdadero</a:t>
                      </a:r>
                    </a:p>
                  </a:txBody>
                  <a:tcPr marL="91439" marR="91439" marT="45732" marB="45732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35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Real</a:t>
                      </a:r>
                      <a:endParaRPr kumimoji="0" lang="es-ES" altLang="es-A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1439" marR="91439" marT="45732" marB="45732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Números que pueden incluir una parte decimal</a:t>
                      </a:r>
                    </a:p>
                  </a:txBody>
                  <a:tcPr marL="91439" marR="91439" marT="45732" marB="45732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924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Cadena (String)</a:t>
                      </a:r>
                      <a:endParaRPr kumimoji="0" lang="es-ES" altLang="es-A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1439" marR="91439" marT="45732" marB="45732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tabLst>
                          <a:tab pos="889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tabLst>
                          <a:tab pos="889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tabLst>
                          <a:tab pos="889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tabLst>
                          <a:tab pos="889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889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89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89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89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89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8900" algn="l"/>
                        </a:tabLst>
                      </a:pPr>
                      <a:r>
                        <a:rPr kumimoji="0" lang="es-ES" altLang="es-A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En una secuencia de caracteres que se trata como un solo dato.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8900" algn="l"/>
                        </a:tabLst>
                      </a:pPr>
                      <a:endParaRPr kumimoji="0" lang="es-ES" altLang="es-AR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1439" marR="91439" marT="45732" marB="45732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503" name="Rectángulo 1">
            <a:extLst>
              <a:ext uri="{FF2B5EF4-FFF2-40B4-BE49-F238E27FC236}">
                <a16:creationId xmlns:a16="http://schemas.microsoft.com/office/drawing/2014/main" id="{20CBE97B-D921-9547-D3BD-72EEC62E1D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282" y="4137405"/>
            <a:ext cx="8418793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" altLang="es-AR" sz="2000" dirty="0">
                <a:latin typeface="+mn-lt"/>
                <a:cs typeface="Arial" panose="020B0604020202020204" pitchFamily="34" charset="0"/>
              </a:rPr>
              <a:t>Cuál  utilizar dependerá del problema: qué valores se desea almacenar.</a:t>
            </a:r>
            <a:br>
              <a:rPr lang="es-ES" altLang="es-AR" sz="2000" dirty="0">
                <a:latin typeface="+mn-lt"/>
                <a:cs typeface="Arial" panose="020B0604020202020204" pitchFamily="34" charset="0"/>
              </a:rPr>
            </a:br>
            <a:r>
              <a:rPr lang="es-ES" altLang="es-AR" sz="2000" dirty="0">
                <a:latin typeface="+mn-lt"/>
                <a:cs typeface="Arial" panose="020B0604020202020204" pitchFamily="34" charset="0"/>
              </a:rPr>
              <a:t>Los tipos de datos a utilizar dependerán del SGBD.</a:t>
            </a:r>
            <a:br>
              <a:rPr lang="es-ES" altLang="es-AR" sz="2000" dirty="0">
                <a:latin typeface="+mn-lt"/>
                <a:cs typeface="Arial" panose="020B0604020202020204" pitchFamily="34" charset="0"/>
              </a:rPr>
            </a:br>
            <a:r>
              <a:rPr lang="es-ES" altLang="es-AR" sz="2000" dirty="0">
                <a:latin typeface="+mn-lt"/>
                <a:cs typeface="Arial" panose="020B0604020202020204" pitchFamily="34" charset="0"/>
              </a:rPr>
              <a:t> Otros: </a:t>
            </a:r>
            <a:br>
              <a:rPr lang="es-ES" altLang="es-AR" sz="2000" dirty="0">
                <a:latin typeface="+mn-lt"/>
                <a:cs typeface="Arial" panose="020B0604020202020204" pitchFamily="34" charset="0"/>
              </a:rPr>
            </a:br>
            <a:r>
              <a:rPr lang="es-ES" altLang="es-AR" sz="2000" dirty="0">
                <a:latin typeface="+mn-lt"/>
                <a:cs typeface="Arial" panose="020B0604020202020204" pitchFamily="34" charset="0"/>
              </a:rPr>
              <a:t>Fecha/Hora: para introducir datos en formato fecha u hora</a:t>
            </a:r>
            <a:br>
              <a:rPr lang="es-ES" altLang="es-AR" sz="2000" dirty="0">
                <a:latin typeface="+mn-lt"/>
                <a:cs typeface="Arial" panose="020B0604020202020204" pitchFamily="34" charset="0"/>
              </a:rPr>
            </a:br>
            <a:r>
              <a:rPr lang="es-ES" altLang="es-AR" sz="2000" dirty="0">
                <a:latin typeface="+mn-lt"/>
                <a:cs typeface="Arial" panose="020B0604020202020204" pitchFamily="34" charset="0"/>
              </a:rPr>
              <a:t>Moneda: introducir datos en formato número y con el signo monetario </a:t>
            </a:r>
            <a:br>
              <a:rPr lang="es-ES" altLang="es-AR" sz="2000" dirty="0">
                <a:latin typeface="+mn-lt"/>
                <a:cs typeface="Arial" panose="020B0604020202020204" pitchFamily="34" charset="0"/>
              </a:rPr>
            </a:br>
            <a:r>
              <a:rPr lang="es-ES" altLang="es-AR" sz="2000" dirty="0">
                <a:latin typeface="+mn-lt"/>
                <a:cs typeface="Arial" panose="020B0604020202020204" pitchFamily="34" charset="0"/>
              </a:rPr>
              <a:t>Autonumérico: se numera automáticamente el contenido</a:t>
            </a:r>
            <a:endParaRPr lang="es-AR" altLang="es-AR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20247137"/>
      </p:ext>
    </p:extLst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A2157870-D228-BC90-D42B-CA481336D2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28718" y="870088"/>
            <a:ext cx="8405999" cy="1143000"/>
          </a:xfrm>
          <a:solidFill>
            <a:srgbClr val="0070C0"/>
          </a:solidFill>
        </p:spPr>
        <p:txBody>
          <a:bodyPr/>
          <a:lstStyle/>
          <a:p>
            <a:r>
              <a:rPr lang="es-ES_tradnl" altLang="es-ES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Claves (</a:t>
            </a:r>
            <a:r>
              <a:rPr lang="es-ES_tradnl" altLang="es-ES" i="1" dirty="0" err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Keys</a:t>
            </a:r>
            <a:r>
              <a:rPr lang="es-ES_tradnl" altLang="es-ES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)</a:t>
            </a:r>
            <a:r>
              <a:rPr lang="es-ES_tradnl" altLang="es-ES" sz="32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*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A7A8FE1F-7908-7873-7CC3-C45710DDE0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2729" y="2178424"/>
            <a:ext cx="8511987" cy="3949464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s-ES_tradnl" altLang="es-ES" dirty="0">
                <a:latin typeface="+mn-lt"/>
                <a:cs typeface="Arial" panose="020B0604020202020204" pitchFamily="34" charset="0"/>
              </a:rPr>
              <a:t>Clave </a:t>
            </a:r>
            <a:r>
              <a:rPr lang="es-ES_tradnl" altLang="es-ES" dirty="0">
                <a:solidFill>
                  <a:schemeClr val="accent2"/>
                </a:solidFill>
                <a:latin typeface="+mn-lt"/>
                <a:cs typeface="Arial" panose="020B0604020202020204" pitchFamily="34" charset="0"/>
              </a:rPr>
              <a:t>candidata</a:t>
            </a:r>
            <a:r>
              <a:rPr lang="es-ES_tradnl" altLang="es-ES" dirty="0">
                <a:latin typeface="+mn-lt"/>
                <a:cs typeface="Arial" panose="020B0604020202020204" pitchFamily="34" charset="0"/>
              </a:rPr>
              <a:t> de una relación:</a:t>
            </a:r>
            <a:endParaRPr lang="es-ES_tradnl" altLang="es-ES" sz="3600" dirty="0">
              <a:latin typeface="+mn-lt"/>
              <a:cs typeface="Arial" panose="020B0604020202020204" pitchFamily="34" charset="0"/>
            </a:endParaRPr>
          </a:p>
          <a:p>
            <a:pPr lvl="1" algn="just">
              <a:lnSpc>
                <a:spcPct val="90000"/>
              </a:lnSpc>
            </a:pPr>
            <a:r>
              <a:rPr lang="es-ES_tradnl" altLang="es-ES" dirty="0">
                <a:latin typeface="+mn-lt"/>
                <a:cs typeface="Arial" panose="020B0604020202020204" pitchFamily="34" charset="0"/>
              </a:rPr>
              <a:t>Atributo (puede ser compuesto) cuyos valores diferencian a una tupla de las demás.</a:t>
            </a:r>
          </a:p>
          <a:p>
            <a:pPr lvl="1" algn="just">
              <a:lnSpc>
                <a:spcPct val="90000"/>
              </a:lnSpc>
            </a:pPr>
            <a:r>
              <a:rPr lang="es-ES_tradnl" altLang="es-ES" dirty="0">
                <a:latin typeface="+mn-lt"/>
                <a:cs typeface="Arial" panose="020B0604020202020204" pitchFamily="34" charset="0"/>
              </a:rPr>
              <a:t>Debe cumplir </a:t>
            </a:r>
            <a:r>
              <a:rPr lang="es-ES_tradnl" altLang="es-ES" u="sng" dirty="0">
                <a:latin typeface="+mn-lt"/>
                <a:cs typeface="Arial" panose="020B0604020202020204" pitchFamily="34" charset="0"/>
              </a:rPr>
              <a:t>unicidad</a:t>
            </a:r>
            <a:r>
              <a:rPr lang="es-ES_tradnl" altLang="es-ES" dirty="0">
                <a:latin typeface="+mn-lt"/>
                <a:cs typeface="Arial" panose="020B0604020202020204" pitchFamily="34" charset="0"/>
              </a:rPr>
              <a:t> y </a:t>
            </a:r>
            <a:r>
              <a:rPr lang="es-ES_tradnl" altLang="es-ES" u="sng" dirty="0" err="1">
                <a:latin typeface="+mn-lt"/>
                <a:cs typeface="Arial" panose="020B0604020202020204" pitchFamily="34" charset="0"/>
              </a:rPr>
              <a:t>minimalidad</a:t>
            </a:r>
            <a:r>
              <a:rPr lang="es-ES_tradnl" altLang="es-ES" dirty="0">
                <a:latin typeface="+mn-lt"/>
                <a:cs typeface="Arial" panose="020B0604020202020204" pitchFamily="34" charset="0"/>
              </a:rPr>
              <a:t> (</a:t>
            </a:r>
            <a:r>
              <a:rPr lang="es-ES_tradnl" altLang="es-ES" dirty="0" err="1">
                <a:latin typeface="+mn-lt"/>
                <a:cs typeface="Arial" panose="020B0604020202020204" pitchFamily="34" charset="0"/>
              </a:rPr>
              <a:t>irreducibilidad</a:t>
            </a:r>
            <a:r>
              <a:rPr lang="es-ES_tradnl" altLang="es-ES" dirty="0">
                <a:latin typeface="+mn-lt"/>
                <a:cs typeface="Arial" panose="020B0604020202020204" pitchFamily="34" charset="0"/>
              </a:rPr>
              <a:t>).</a:t>
            </a:r>
          </a:p>
          <a:p>
            <a:pPr lvl="1" algn="just">
              <a:lnSpc>
                <a:spcPct val="90000"/>
              </a:lnSpc>
            </a:pPr>
            <a:r>
              <a:rPr lang="es-ES_tradnl" altLang="es-ES" dirty="0">
                <a:latin typeface="+mn-lt"/>
                <a:cs typeface="Arial" panose="020B0604020202020204" pitchFamily="34" charset="0"/>
              </a:rPr>
              <a:t>¿Por qué toda relación tiene </a:t>
            </a:r>
            <a:r>
              <a:rPr lang="es-ES_tradnl" altLang="es-ES" dirty="0">
                <a:solidFill>
                  <a:schemeClr val="accent2"/>
                </a:solidFill>
                <a:latin typeface="+mn-lt"/>
                <a:cs typeface="Arial" panose="020B0604020202020204" pitchFamily="34" charset="0"/>
              </a:rPr>
              <a:t>al menos</a:t>
            </a:r>
            <a:r>
              <a:rPr lang="es-ES_tradnl" altLang="es-ES" dirty="0">
                <a:latin typeface="+mn-lt"/>
                <a:cs typeface="Arial" panose="020B0604020202020204" pitchFamily="34" charset="0"/>
              </a:rPr>
              <a:t> una clave candidata?</a:t>
            </a:r>
          </a:p>
        </p:txBody>
      </p:sp>
    </p:spTree>
    <p:extLst>
      <p:ext uri="{BB962C8B-B14F-4D97-AF65-F5344CB8AC3E}">
        <p14:creationId xmlns:p14="http://schemas.microsoft.com/office/powerpoint/2010/main" val="36555334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4">
            <a:extLst>
              <a:ext uri="{FF2B5EF4-FFF2-40B4-BE49-F238E27FC236}">
                <a16:creationId xmlns:a16="http://schemas.microsoft.com/office/drawing/2014/main" id="{0064A0F3-EAEA-4C2E-4DD3-A78DBC5EAE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2729" y="804022"/>
            <a:ext cx="8458200" cy="976313"/>
          </a:xfrm>
          <a:solidFill>
            <a:srgbClr val="0070C0"/>
          </a:solidFill>
        </p:spPr>
        <p:txBody>
          <a:bodyPr>
            <a:normAutofit/>
          </a:bodyPr>
          <a:lstStyle/>
          <a:p>
            <a:r>
              <a:rPr lang="es-ES_tradnl" altLang="es-ES" sz="40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Claves</a:t>
            </a:r>
          </a:p>
        </p:txBody>
      </p:sp>
      <p:sp>
        <p:nvSpPr>
          <p:cNvPr id="22530" name="Rectangle 3">
            <a:extLst>
              <a:ext uri="{FF2B5EF4-FFF2-40B4-BE49-F238E27FC236}">
                <a16:creationId xmlns:a16="http://schemas.microsoft.com/office/drawing/2014/main" id="{64ED7AC8-784D-5DAE-D94D-F68AC36EAB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2729" y="1989620"/>
            <a:ext cx="8458199" cy="3523284"/>
          </a:xfrm>
        </p:spPr>
        <p:txBody>
          <a:bodyPr/>
          <a:lstStyle/>
          <a:p>
            <a:pPr algn="just"/>
            <a:r>
              <a:rPr lang="es-ES_tradnl" altLang="es-ES" sz="2600" dirty="0">
                <a:latin typeface="+mn-lt"/>
                <a:cs typeface="Arial" panose="020B0604020202020204" pitchFamily="34" charset="0"/>
              </a:rPr>
              <a:t>Clave </a:t>
            </a:r>
            <a:r>
              <a:rPr lang="es-ES_tradnl" altLang="es-ES" sz="2600" dirty="0">
                <a:solidFill>
                  <a:schemeClr val="accent2"/>
                </a:solidFill>
                <a:latin typeface="+mn-lt"/>
                <a:cs typeface="Arial" panose="020B0604020202020204" pitchFamily="34" charset="0"/>
              </a:rPr>
              <a:t>primaria</a:t>
            </a:r>
            <a:r>
              <a:rPr lang="es-ES_tradnl" altLang="es-ES" sz="2600" dirty="0">
                <a:latin typeface="+mn-lt"/>
                <a:cs typeface="Arial" panose="020B0604020202020204" pitchFamily="34" charset="0"/>
              </a:rPr>
              <a:t> de una relación:</a:t>
            </a:r>
          </a:p>
          <a:p>
            <a:pPr lvl="1" algn="just"/>
            <a:r>
              <a:rPr lang="es-ES_tradnl" altLang="es-ES" sz="2600" dirty="0">
                <a:latin typeface="+mn-lt"/>
                <a:cs typeface="Arial" panose="020B0604020202020204" pitchFamily="34" charset="0"/>
              </a:rPr>
              <a:t>Elegida a partir de las claves candidatas de la relación. Las no elegidas (si las hay) se denominan claves </a:t>
            </a:r>
            <a:r>
              <a:rPr lang="es-ES_tradnl" altLang="es-ES" sz="2600" dirty="0">
                <a:solidFill>
                  <a:schemeClr val="accent2"/>
                </a:solidFill>
                <a:latin typeface="+mn-lt"/>
                <a:cs typeface="Arial" panose="020B0604020202020204" pitchFamily="34" charset="0"/>
              </a:rPr>
              <a:t>alternativas</a:t>
            </a:r>
            <a:r>
              <a:rPr lang="es-ES_tradnl" altLang="es-ES" sz="2600" dirty="0">
                <a:latin typeface="+mn-lt"/>
                <a:cs typeface="Arial" panose="020B0604020202020204" pitchFamily="34" charset="0"/>
              </a:rPr>
              <a:t> o secundarias. </a:t>
            </a:r>
          </a:p>
          <a:p>
            <a:pPr lvl="1" algn="just"/>
            <a:r>
              <a:rPr lang="es-ES_tradnl" altLang="es-ES" sz="2600" dirty="0">
                <a:latin typeface="+mn-lt"/>
                <a:cs typeface="Arial" panose="020B0604020202020204" pitchFamily="34" charset="0"/>
              </a:rPr>
              <a:t>Equivale al </a:t>
            </a:r>
            <a:r>
              <a:rPr lang="es-ES_tradnl" altLang="es-ES" sz="2600" dirty="0">
                <a:solidFill>
                  <a:schemeClr val="accent2"/>
                </a:solidFill>
                <a:latin typeface="+mn-lt"/>
                <a:cs typeface="Arial" panose="020B0604020202020204" pitchFamily="34" charset="0"/>
              </a:rPr>
              <a:t>identificador único (#, |)</a:t>
            </a:r>
            <a:r>
              <a:rPr lang="es-ES_tradnl" altLang="es-ES" sz="2600" dirty="0">
                <a:latin typeface="+mn-lt"/>
                <a:cs typeface="Arial" panose="020B0604020202020204" pitchFamily="34" charset="0"/>
              </a:rPr>
              <a:t> del modelo E-R y al </a:t>
            </a:r>
            <a:r>
              <a:rPr lang="es-ES_tradnl" altLang="es-ES" sz="2600" dirty="0">
                <a:solidFill>
                  <a:schemeClr val="accent2"/>
                </a:solidFill>
                <a:latin typeface="+mn-lt"/>
                <a:cs typeface="Arial" panose="020B0604020202020204" pitchFamily="34" charset="0"/>
              </a:rPr>
              <a:t>identificador único</a:t>
            </a:r>
            <a:r>
              <a:rPr lang="es-ES_tradnl" altLang="es-ES" sz="2600" dirty="0">
                <a:latin typeface="+mn-lt"/>
                <a:cs typeface="Arial" panose="020B0604020202020204" pitchFamily="34" charset="0"/>
              </a:rPr>
              <a:t> </a:t>
            </a:r>
            <a:r>
              <a:rPr lang="es-ES_tradnl" altLang="es-ES" sz="2600" dirty="0">
                <a:solidFill>
                  <a:schemeClr val="accent2"/>
                </a:solidFill>
                <a:latin typeface="+mn-lt"/>
                <a:cs typeface="Arial" panose="020B0604020202020204" pitchFamily="34" charset="0"/>
              </a:rPr>
              <a:t>(</a:t>
            </a:r>
            <a:r>
              <a:rPr lang="es-ES_tradnl" altLang="es-ES" sz="2600" u="sng" dirty="0">
                <a:solidFill>
                  <a:schemeClr val="accent2"/>
                </a:solidFill>
                <a:latin typeface="+mn-lt"/>
                <a:cs typeface="Arial" panose="020B0604020202020204" pitchFamily="34" charset="0"/>
              </a:rPr>
              <a:t>ID</a:t>
            </a:r>
            <a:r>
              <a:rPr lang="es-ES_tradnl" altLang="es-ES" sz="2600" dirty="0">
                <a:solidFill>
                  <a:schemeClr val="accent2"/>
                </a:solidFill>
                <a:latin typeface="+mn-lt"/>
                <a:cs typeface="Arial" panose="020B0604020202020204" pitchFamily="34" charset="0"/>
              </a:rPr>
              <a:t>)</a:t>
            </a:r>
            <a:r>
              <a:rPr lang="es-ES_tradnl" altLang="es-ES" sz="2600" dirty="0">
                <a:latin typeface="+mn-lt"/>
                <a:cs typeface="Arial" panose="020B0604020202020204" pitchFamily="34" charset="0"/>
              </a:rPr>
              <a:t> del modelo semántico.</a:t>
            </a:r>
          </a:p>
          <a:p>
            <a:pPr lvl="1" algn="just">
              <a:buFontTx/>
              <a:buNone/>
            </a:pPr>
            <a:endParaRPr lang="es-ES" altLang="es-ES" sz="2600" dirty="0"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73335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8242CEED-9907-A7BA-16D0-BFA9FD7E1A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786571"/>
            <a:ext cx="8496300" cy="1325563"/>
          </a:xfrm>
          <a:solidFill>
            <a:srgbClr val="0070C0"/>
          </a:solidFill>
        </p:spPr>
        <p:txBody>
          <a:bodyPr>
            <a:normAutofit/>
          </a:bodyPr>
          <a:lstStyle/>
          <a:p>
            <a:r>
              <a:rPr lang="es-ES_tradnl" altLang="es-ES" sz="40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Claves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7F7B14C3-F301-B9A0-65BC-4B0F4639ED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>
              <a:buFontTx/>
              <a:buNone/>
            </a:pPr>
            <a:endParaRPr lang="es-ES" altLang="es-ES" sz="3200"/>
          </a:p>
          <a:p>
            <a:pPr lvl="1">
              <a:buFontTx/>
              <a:buNone/>
            </a:pPr>
            <a:endParaRPr lang="es-ES" altLang="es-ES" sz="3200"/>
          </a:p>
          <a:p>
            <a:endParaRPr lang="es-ES_tradnl" altLang="es-ES"/>
          </a:p>
        </p:txBody>
      </p:sp>
      <p:sp>
        <p:nvSpPr>
          <p:cNvPr id="23557" name="Rectangle 7">
            <a:extLst>
              <a:ext uri="{FF2B5EF4-FFF2-40B4-BE49-F238E27FC236}">
                <a16:creationId xmlns:a16="http://schemas.microsoft.com/office/drawing/2014/main" id="{D9197554-C411-7DEB-4E87-EF1235BD6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398643"/>
            <a:ext cx="8208962" cy="34782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None/>
            </a:pPr>
            <a:r>
              <a:rPr lang="es-ES_tradnl" altLang="es-ES" b="1" dirty="0">
                <a:latin typeface="Arial" panose="020B0604020202020204" pitchFamily="34" charset="0"/>
                <a:cs typeface="Arial" panose="020B0604020202020204" pitchFamily="34" charset="0"/>
              </a:rPr>
              <a:t>Regla de integridad</a:t>
            </a:r>
            <a:r>
              <a:rPr lang="es-ES_tradnl" altLang="es-ES" dirty="0">
                <a:latin typeface="Arial" panose="020B0604020202020204" pitchFamily="34" charset="0"/>
                <a:cs typeface="Arial" panose="020B0604020202020204" pitchFamily="34" charset="0"/>
              </a:rPr>
              <a:t> de una clave primaria:</a:t>
            </a:r>
          </a:p>
          <a:p>
            <a:pPr algn="ctr">
              <a:buFontTx/>
              <a:buNone/>
            </a:pPr>
            <a:r>
              <a:rPr lang="es-ES_tradnl" altLang="es-ES" dirty="0">
                <a:latin typeface="Arial" panose="020B0604020202020204" pitchFamily="34" charset="0"/>
                <a:cs typeface="Arial" panose="020B0604020202020204" pitchFamily="34" charset="0"/>
              </a:rPr>
              <a:t>“Ningún componente de la clave primaria </a:t>
            </a:r>
          </a:p>
          <a:p>
            <a:pPr algn="ctr">
              <a:buFontTx/>
              <a:buNone/>
            </a:pPr>
            <a:r>
              <a:rPr lang="es-ES_tradnl" altLang="es-ES" dirty="0">
                <a:latin typeface="Arial" panose="020B0604020202020204" pitchFamily="34" charset="0"/>
                <a:cs typeface="Arial" panose="020B0604020202020204" pitchFamily="34" charset="0"/>
              </a:rPr>
              <a:t>acepta </a:t>
            </a:r>
            <a:r>
              <a:rPr lang="es-ES_tradnl" altLang="es-ES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nulos</a:t>
            </a:r>
            <a:r>
              <a:rPr lang="es-ES_tradnl" altLang="es-ES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917796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>
            <a:extLst>
              <a:ext uri="{FF2B5EF4-FFF2-40B4-BE49-F238E27FC236}">
                <a16:creationId xmlns:a16="http://schemas.microsoft.com/office/drawing/2014/main" id="{2FA8528C-E156-C4D2-3994-1A3684EB39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34009" y="2433917"/>
            <a:ext cx="8444948" cy="392664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s-ES_tradnl" altLang="es-ES" dirty="0">
                <a:latin typeface="+mn-lt"/>
                <a:cs typeface="Arial" panose="020B0604020202020204" pitchFamily="34" charset="0"/>
              </a:rPr>
              <a:t>Clave </a:t>
            </a:r>
            <a:r>
              <a:rPr lang="es-ES_tradnl" altLang="es-ES" dirty="0">
                <a:solidFill>
                  <a:schemeClr val="accent2"/>
                </a:solidFill>
                <a:latin typeface="+mn-lt"/>
                <a:cs typeface="Arial" panose="020B0604020202020204" pitchFamily="34" charset="0"/>
              </a:rPr>
              <a:t>foránea</a:t>
            </a:r>
            <a:r>
              <a:rPr lang="es-ES_tradnl" altLang="es-ES" dirty="0">
                <a:latin typeface="+mn-lt"/>
                <a:cs typeface="Arial" panose="020B0604020202020204" pitchFamily="34" charset="0"/>
              </a:rPr>
              <a:t> (ajena o externa):</a:t>
            </a:r>
          </a:p>
          <a:p>
            <a:pPr marL="0" indent="0">
              <a:lnSpc>
                <a:spcPct val="90000"/>
              </a:lnSpc>
              <a:buNone/>
            </a:pPr>
            <a:endParaRPr lang="es-ES_tradnl" altLang="es-ES" dirty="0">
              <a:latin typeface="+mn-lt"/>
              <a:cs typeface="Arial" panose="020B0604020202020204" pitchFamily="34" charset="0"/>
            </a:endParaRPr>
          </a:p>
          <a:p>
            <a:pPr lvl="1">
              <a:lnSpc>
                <a:spcPct val="90000"/>
              </a:lnSpc>
            </a:pPr>
            <a:r>
              <a:rPr lang="es-ES_tradnl" altLang="es-ES" dirty="0">
                <a:latin typeface="+mn-lt"/>
                <a:cs typeface="Arial" panose="020B0604020202020204" pitchFamily="34" charset="0"/>
              </a:rPr>
              <a:t>Atributo (puede ser compuesto) en una relación R</a:t>
            </a:r>
            <a:r>
              <a:rPr lang="es-ES_tradnl" altLang="es-ES" baseline="-25000" dirty="0">
                <a:latin typeface="+mn-lt"/>
                <a:cs typeface="Arial" panose="020B0604020202020204" pitchFamily="34" charset="0"/>
              </a:rPr>
              <a:t>1</a:t>
            </a:r>
            <a:r>
              <a:rPr lang="es-ES_tradnl" altLang="es-ES" dirty="0">
                <a:latin typeface="+mn-lt"/>
                <a:cs typeface="Arial" panose="020B0604020202020204" pitchFamily="34" charset="0"/>
              </a:rPr>
              <a:t> que referencia a la clave primaria de otra.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s-ES_tradnl" altLang="es-ES" dirty="0">
              <a:latin typeface="+mn-lt"/>
              <a:cs typeface="Arial" panose="020B0604020202020204" pitchFamily="34" charset="0"/>
            </a:endParaRPr>
          </a:p>
          <a:p>
            <a:pPr lvl="1">
              <a:lnSpc>
                <a:spcPct val="90000"/>
              </a:lnSpc>
            </a:pPr>
            <a:r>
              <a:rPr lang="es-ES_tradnl" altLang="es-ES" dirty="0">
                <a:latin typeface="+mn-lt"/>
                <a:cs typeface="Arial" panose="020B0604020202020204" pitchFamily="34" charset="0"/>
              </a:rPr>
              <a:t>Especifica de forma explícita la forma en que dos </a:t>
            </a:r>
            <a:r>
              <a:rPr lang="es-ES_tradnl" altLang="es-ES" dirty="0">
                <a:solidFill>
                  <a:srgbClr val="660066"/>
                </a:solidFill>
                <a:latin typeface="+mn-lt"/>
                <a:cs typeface="Arial" panose="020B0604020202020204" pitchFamily="34" charset="0"/>
              </a:rPr>
              <a:t>relaciones*</a:t>
            </a:r>
            <a:r>
              <a:rPr lang="es-ES_tradnl" altLang="es-ES" dirty="0">
                <a:latin typeface="+mn-lt"/>
                <a:cs typeface="Arial" panose="020B0604020202020204" pitchFamily="34" charset="0"/>
              </a:rPr>
              <a:t> se </a:t>
            </a:r>
            <a:r>
              <a:rPr lang="es-ES_tradnl" altLang="es-ES" dirty="0">
                <a:solidFill>
                  <a:srgbClr val="A50021"/>
                </a:solidFill>
                <a:latin typeface="+mn-lt"/>
                <a:cs typeface="Arial" panose="020B0604020202020204" pitchFamily="34" charset="0"/>
              </a:rPr>
              <a:t>relacionan</a:t>
            </a:r>
            <a:r>
              <a:rPr lang="es-ES_tradnl" altLang="es-ES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**</a:t>
            </a:r>
            <a:r>
              <a:rPr lang="es-ES_tradnl" altLang="es-ES" dirty="0">
                <a:latin typeface="+mn-lt"/>
                <a:cs typeface="Arial" panose="020B0604020202020204" pitchFamily="34" charset="0"/>
              </a:rPr>
              <a:t>.	 </a:t>
            </a:r>
          </a:p>
          <a:p>
            <a:pPr>
              <a:lnSpc>
                <a:spcPct val="90000"/>
              </a:lnSpc>
              <a:buFontTx/>
              <a:buNone/>
            </a:pPr>
            <a:endParaRPr lang="es-ES" alt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242CEED-9907-A7BA-16D0-BFA9FD7E1A0A}"/>
              </a:ext>
            </a:extLst>
          </p:cNvPr>
          <p:cNvSpPr txBox="1">
            <a:spLocks noChangeArrowheads="1"/>
          </p:cNvSpPr>
          <p:nvPr/>
        </p:nvSpPr>
        <p:spPr>
          <a:xfrm>
            <a:off x="382657" y="813465"/>
            <a:ext cx="8496300" cy="1325563"/>
          </a:xfrm>
          <a:prstGeom prst="rect">
            <a:avLst/>
          </a:prstGeo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altLang="es-ES" sz="400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Claves</a:t>
            </a:r>
            <a:endParaRPr lang="es-ES_tradnl" altLang="es-ES" sz="400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00640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>
            <a:extLst>
              <a:ext uri="{FF2B5EF4-FFF2-40B4-BE49-F238E27FC236}">
                <a16:creationId xmlns:a16="http://schemas.microsoft.com/office/drawing/2014/main" id="{02A5B123-676D-622D-FDF1-5FDE77218C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69404" y="2547377"/>
            <a:ext cx="8405191" cy="2934736"/>
          </a:xfrm>
        </p:spPr>
        <p:txBody>
          <a:bodyPr>
            <a:normAutofit/>
          </a:bodyPr>
          <a:lstStyle/>
          <a:p>
            <a:pPr algn="just">
              <a:buFontTx/>
              <a:buNone/>
            </a:pPr>
            <a:r>
              <a:rPr lang="es-ES" altLang="es-ES" b="1" dirty="0">
                <a:latin typeface="+mn-lt"/>
                <a:cs typeface="Arial" panose="020B0604020202020204" pitchFamily="34" charset="0"/>
              </a:rPr>
              <a:t>Regla de integridad referencial</a:t>
            </a:r>
            <a:r>
              <a:rPr lang="es-ES" altLang="es-ES" dirty="0">
                <a:latin typeface="+mn-lt"/>
                <a:cs typeface="Arial" panose="020B0604020202020204" pitchFamily="34" charset="0"/>
              </a:rPr>
              <a:t>:</a:t>
            </a:r>
          </a:p>
          <a:p>
            <a:pPr algn="just">
              <a:buFontTx/>
              <a:buNone/>
            </a:pPr>
            <a:r>
              <a:rPr lang="es-ES" altLang="es-ES" dirty="0">
                <a:latin typeface="+mn-lt"/>
                <a:cs typeface="Arial" panose="020B0604020202020204" pitchFamily="34" charset="0"/>
              </a:rPr>
              <a:t>	“Ningún componente de una clave foránea puede contener valores que no están presentes en la clave primaria a la que referencia”.</a:t>
            </a:r>
          </a:p>
          <a:p>
            <a:pPr algn="just"/>
            <a:r>
              <a:rPr lang="es-ES" altLang="es-ES" dirty="0">
                <a:latin typeface="+mn-lt"/>
                <a:cs typeface="Arial" panose="020B0604020202020204" pitchFamily="34" charset="0"/>
              </a:rPr>
              <a:t>¿Puede una clave foránea aceptar nulos?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242CEED-9907-A7BA-16D0-BFA9FD7E1A0A}"/>
              </a:ext>
            </a:extLst>
          </p:cNvPr>
          <p:cNvSpPr txBox="1">
            <a:spLocks noChangeArrowheads="1"/>
          </p:cNvSpPr>
          <p:nvPr/>
        </p:nvSpPr>
        <p:spPr>
          <a:xfrm>
            <a:off x="382657" y="813465"/>
            <a:ext cx="8496300" cy="1325563"/>
          </a:xfrm>
          <a:prstGeom prst="rect">
            <a:avLst/>
          </a:prstGeo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altLang="es-ES" sz="400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Claves</a:t>
            </a:r>
            <a:endParaRPr lang="es-ES_tradnl" altLang="es-ES" sz="400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86594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>
            <a:extLst>
              <a:ext uri="{FF2B5EF4-FFF2-40B4-BE49-F238E27FC236}">
                <a16:creationId xmlns:a16="http://schemas.microsoft.com/office/drawing/2014/main" id="{87429A1B-DC01-AAFC-71C6-BCDB5CB2D4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2366681"/>
            <a:ext cx="8637681" cy="3751731"/>
          </a:xfrm>
        </p:spPr>
        <p:txBody>
          <a:bodyPr>
            <a:normAutofit/>
          </a:bodyPr>
          <a:lstStyle/>
          <a:p>
            <a:pPr algn="just">
              <a:lnSpc>
                <a:spcPct val="90000"/>
              </a:lnSpc>
            </a:pPr>
            <a:r>
              <a:rPr lang="es-ES" altLang="es-ES" sz="2400" dirty="0">
                <a:latin typeface="+mn-lt"/>
                <a:cs typeface="Arial" panose="020B0604020202020204" pitchFamily="34" charset="0"/>
              </a:rPr>
              <a:t>¿Qué sucede si se pretende borrar el valor al que referencia (“padre”) una clave foránea?</a:t>
            </a:r>
          </a:p>
          <a:p>
            <a:pPr algn="just">
              <a:lnSpc>
                <a:spcPct val="90000"/>
              </a:lnSpc>
            </a:pPr>
            <a:r>
              <a:rPr lang="es-ES" altLang="es-ES" sz="2400" dirty="0">
                <a:latin typeface="+mn-lt"/>
                <a:cs typeface="Arial" panose="020B0604020202020204" pitchFamily="34" charset="0"/>
              </a:rPr>
              <a:t>Posibles cursos (políticas) de acción:</a:t>
            </a:r>
          </a:p>
          <a:p>
            <a:pPr algn="just">
              <a:lnSpc>
                <a:spcPct val="90000"/>
              </a:lnSpc>
              <a:buFontTx/>
              <a:buNone/>
            </a:pPr>
            <a:r>
              <a:rPr lang="es-ES" altLang="es-ES" sz="2400" dirty="0">
                <a:latin typeface="+mn-lt"/>
                <a:cs typeface="Arial" panose="020B0604020202020204" pitchFamily="34" charset="0"/>
              </a:rPr>
              <a:t>	- Cascada.</a:t>
            </a:r>
          </a:p>
          <a:p>
            <a:pPr algn="just">
              <a:lnSpc>
                <a:spcPct val="90000"/>
              </a:lnSpc>
              <a:buFontTx/>
              <a:buNone/>
            </a:pPr>
            <a:r>
              <a:rPr lang="es-ES" altLang="es-ES" sz="2400" dirty="0">
                <a:latin typeface="+mn-lt"/>
                <a:cs typeface="Arial" panose="020B0604020202020204" pitchFamily="34" charset="0"/>
              </a:rPr>
              <a:t>	- Restringido.</a:t>
            </a:r>
          </a:p>
          <a:p>
            <a:pPr algn="just">
              <a:lnSpc>
                <a:spcPct val="90000"/>
              </a:lnSpc>
              <a:buFontTx/>
              <a:buNone/>
            </a:pPr>
            <a:r>
              <a:rPr lang="es-ES" altLang="es-ES" sz="2400" dirty="0">
                <a:latin typeface="+mn-lt"/>
                <a:cs typeface="Arial" panose="020B0604020202020204" pitchFamily="34" charset="0"/>
              </a:rPr>
              <a:t>	- Nulificación </a:t>
            </a:r>
          </a:p>
          <a:p>
            <a:pPr algn="just">
              <a:lnSpc>
                <a:spcPct val="90000"/>
              </a:lnSpc>
              <a:buFontTx/>
              <a:buNone/>
            </a:pPr>
            <a:r>
              <a:rPr lang="es-ES" altLang="es-ES" sz="2400" dirty="0">
                <a:latin typeface="+mn-lt"/>
                <a:cs typeface="Arial" panose="020B0604020202020204" pitchFamily="34" charset="0"/>
              </a:rPr>
              <a:t>¿Qué pasa si se actualiza el valor al que referencia (“padre”) una clave foránea?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242CEED-9907-A7BA-16D0-BFA9FD7E1A0A}"/>
              </a:ext>
            </a:extLst>
          </p:cNvPr>
          <p:cNvSpPr txBox="1">
            <a:spLocks noChangeArrowheads="1"/>
          </p:cNvSpPr>
          <p:nvPr/>
        </p:nvSpPr>
        <p:spPr>
          <a:xfrm>
            <a:off x="382657" y="813465"/>
            <a:ext cx="8496300" cy="1325563"/>
          </a:xfrm>
          <a:prstGeom prst="rect">
            <a:avLst/>
          </a:prstGeo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altLang="es-ES" sz="400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Claves</a:t>
            </a:r>
            <a:endParaRPr lang="es-ES_tradnl" altLang="es-ES" sz="400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69861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>
            <a:extLst>
              <a:ext uri="{FF2B5EF4-FFF2-40B4-BE49-F238E27FC236}">
                <a16:creationId xmlns:a16="http://schemas.microsoft.com/office/drawing/2014/main" id="{82DCAF2F-2BF4-1F0D-99E8-C7A87F573B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9389" y="1802187"/>
            <a:ext cx="8229600" cy="4525962"/>
          </a:xfrm>
        </p:spPr>
        <p:txBody>
          <a:bodyPr>
            <a:normAutofit fontScale="92500"/>
          </a:bodyPr>
          <a:lstStyle/>
          <a:p>
            <a:pPr marL="0" indent="0" algn="just">
              <a:lnSpc>
                <a:spcPct val="80000"/>
              </a:lnSpc>
            </a:pPr>
            <a:r>
              <a:rPr lang="es-ES_tradnl" altLang="es-AR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Clave candidata: </a:t>
            </a:r>
            <a:r>
              <a:rPr lang="es-ES_tradnl" altLang="es-AR" sz="2400" dirty="0">
                <a:latin typeface="Arial" panose="020B0604020202020204" pitchFamily="34" charset="0"/>
                <a:cs typeface="Arial" panose="020B0604020202020204" pitchFamily="34" charset="0"/>
              </a:rPr>
              <a:t>conjunto no vacío de atributos que identifican univoca y mínimamente a una tupla. Toda relación siempre tendrá una.</a:t>
            </a:r>
          </a:p>
          <a:p>
            <a:pPr marL="0" indent="0" algn="just">
              <a:lnSpc>
                <a:spcPct val="80000"/>
              </a:lnSpc>
            </a:pPr>
            <a:r>
              <a:rPr lang="es-ES_tradnl" altLang="es-AR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Clave primaria: </a:t>
            </a:r>
            <a:r>
              <a:rPr lang="es-ES_tradnl" altLang="es-AR" sz="2400" dirty="0">
                <a:latin typeface="Arial" panose="020B0604020202020204" pitchFamily="34" charset="0"/>
                <a:cs typeface="Arial" panose="020B0604020202020204" pitchFamily="34" charset="0"/>
              </a:rPr>
              <a:t>clave candidata escogida para identificar a las tuplas de una relación.</a:t>
            </a:r>
          </a:p>
          <a:p>
            <a:pPr marL="0" indent="0" algn="just">
              <a:lnSpc>
                <a:spcPct val="80000"/>
              </a:lnSpc>
            </a:pPr>
            <a:r>
              <a:rPr lang="es-ES_tradnl" altLang="es-AR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Clave alternativa: </a:t>
            </a:r>
            <a:r>
              <a:rPr lang="es-ES_tradnl" altLang="es-AR" sz="2400" dirty="0">
                <a:latin typeface="Arial" panose="020B0604020202020204" pitchFamily="34" charset="0"/>
                <a:cs typeface="Arial" panose="020B0604020202020204" pitchFamily="34" charset="0"/>
              </a:rPr>
              <a:t>claves candidatas no elegidas como primarias.</a:t>
            </a:r>
          </a:p>
          <a:p>
            <a:pPr marL="0" indent="0" algn="just">
              <a:lnSpc>
                <a:spcPct val="80000"/>
              </a:lnSpc>
            </a:pPr>
            <a:r>
              <a:rPr lang="es-ES_tradnl" altLang="es-AR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Clave ajena o foránea </a:t>
            </a:r>
            <a:r>
              <a:rPr lang="es-ES_tradnl" altLang="es-AR" sz="2400" dirty="0">
                <a:latin typeface="Arial" panose="020B0604020202020204" pitchFamily="34" charset="0"/>
                <a:cs typeface="Arial" panose="020B0604020202020204" pitchFamily="34" charset="0"/>
              </a:rPr>
              <a:t>de una relación R2: conjunto no vacío de atributos cuyos valores han de coincidir con los valores de la clave primaria de otra relación R1. Clave foránea y clave primaria han de estar definidas sobre los mismos dominios.</a:t>
            </a:r>
            <a:endParaRPr lang="es-ES" altLang="es-A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80000"/>
              </a:lnSpc>
            </a:pPr>
            <a:endParaRPr lang="es-ES" altLang="es-A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80000"/>
              </a:lnSpc>
              <a:buFontTx/>
              <a:buNone/>
            </a:pPr>
            <a:r>
              <a:rPr lang="es-ES" altLang="es-AR" sz="2400" dirty="0">
                <a:latin typeface="Arial" panose="020B0604020202020204" pitchFamily="34" charset="0"/>
                <a:cs typeface="Arial" panose="020B0604020202020204" pitchFamily="34" charset="0"/>
              </a:rPr>
              <a:t>Ningún componente de la clave primaria puede en algún momento no tener valor (aceptar nulos).</a:t>
            </a:r>
            <a:endParaRPr lang="es-CL" altLang="es-A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242CEED-9907-A7BA-16D0-BFA9FD7E1A0A}"/>
              </a:ext>
            </a:extLst>
          </p:cNvPr>
          <p:cNvSpPr txBox="1">
            <a:spLocks noChangeArrowheads="1"/>
          </p:cNvSpPr>
          <p:nvPr/>
        </p:nvSpPr>
        <p:spPr>
          <a:xfrm>
            <a:off x="382657" y="813466"/>
            <a:ext cx="8496300" cy="988722"/>
          </a:xfrm>
          <a:prstGeom prst="rect">
            <a:avLst/>
          </a:prstGeo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altLang="es-ES" sz="400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Claves</a:t>
            </a:r>
            <a:endParaRPr lang="es-ES_tradnl" altLang="es-ES" sz="400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25627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393" name="Group 105">
            <a:extLst>
              <a:ext uri="{FF2B5EF4-FFF2-40B4-BE49-F238E27FC236}">
                <a16:creationId xmlns:a16="http://schemas.microsoft.com/office/drawing/2014/main" id="{6DAE130F-E011-4868-BE06-12A94692DBC5}"/>
              </a:ext>
            </a:extLst>
          </p:cNvPr>
          <p:cNvGraphicFramePr>
            <a:graphicFrameLocks noGrp="1"/>
          </p:cNvGraphicFramePr>
          <p:nvPr>
            <p:ph type="tbl" idx="1"/>
          </p:nvPr>
        </p:nvGraphicFramePr>
        <p:xfrm>
          <a:off x="611188" y="765175"/>
          <a:ext cx="7850187" cy="4981576"/>
        </p:xfrm>
        <a:graphic>
          <a:graphicData uri="http://schemas.openxmlformats.org/drawingml/2006/table">
            <a:tbl>
              <a:tblPr/>
              <a:tblGrid>
                <a:gridCol w="187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769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3036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Relación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Tabla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036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Tupla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Fila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449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Atributo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Columna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3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830263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23825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46238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Numero de tuplas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Cardinalidad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3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830263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23825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46238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Numero de atributos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Grado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6222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Dominio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830263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23825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46238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Colección de valores, de los cuales uno o más atributos obtienen sus valores reales.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85769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Clave primaria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7763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Identificador único para la tabla: una columna o combinación de columnas con la propiedad de que nunca existen 2 filas de la tabla con el mismo valor en esa columna o combinación de columnas.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2467816"/>
      </p:ext>
    </p:extLst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4">
            <a:extLst>
              <a:ext uri="{FF2B5EF4-FFF2-40B4-BE49-F238E27FC236}">
                <a16:creationId xmlns:a16="http://schemas.microsoft.com/office/drawing/2014/main" id="{FE34ABC0-5A77-7C46-26B5-A45B3F75E763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165" y="973422"/>
            <a:ext cx="8607425" cy="19716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aphicFrame>
        <p:nvGraphicFramePr>
          <p:cNvPr id="14448" name="Group 112">
            <a:extLst>
              <a:ext uri="{FF2B5EF4-FFF2-40B4-BE49-F238E27FC236}">
                <a16:creationId xmlns:a16="http://schemas.microsoft.com/office/drawing/2014/main" id="{E132B2EA-ECA0-2B5A-824C-DDE38940077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77156160"/>
              </p:ext>
            </p:extLst>
          </p:nvPr>
        </p:nvGraphicFramePr>
        <p:xfrm>
          <a:off x="2051050" y="3651250"/>
          <a:ext cx="4464050" cy="2192339"/>
        </p:xfrm>
        <a:graphic>
          <a:graphicData uri="http://schemas.openxmlformats.org/drawingml/2006/table">
            <a:tbl>
              <a:tblPr/>
              <a:tblGrid>
                <a:gridCol w="1679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3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768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título</a:t>
                      </a:r>
                      <a:endParaRPr kumimoji="0" lang="es-ES" altLang="es-A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año</a:t>
                      </a:r>
                      <a:endParaRPr kumimoji="0" lang="es-ES" altLang="es-A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duración</a:t>
                      </a:r>
                      <a:endParaRPr kumimoji="0" lang="es-ES" altLang="es-A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Tipo</a:t>
                      </a:r>
                      <a:endParaRPr kumimoji="0" lang="es-ES" altLang="es-A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92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Star Wars</a:t>
                      </a:r>
                      <a:endParaRPr kumimoji="0" lang="es-ES" altLang="es-A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1977</a:t>
                      </a:r>
                      <a:endParaRPr kumimoji="0" lang="es-ES" altLang="es-A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124</a:t>
                      </a:r>
                      <a:endParaRPr kumimoji="0" lang="es-ES" altLang="es-A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color</a:t>
                      </a:r>
                      <a:endParaRPr kumimoji="0" lang="es-ES" altLang="es-A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68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Mighty Ducks</a:t>
                      </a:r>
                      <a:endParaRPr kumimoji="0" lang="es-ES" altLang="es-A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1991</a:t>
                      </a:r>
                      <a:endParaRPr kumimoji="0" lang="es-ES" altLang="es-A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104</a:t>
                      </a:r>
                      <a:endParaRPr kumimoji="0" lang="es-ES" altLang="es-A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color</a:t>
                      </a:r>
                      <a:endParaRPr kumimoji="0" lang="es-ES" altLang="es-A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68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Wayne's World</a:t>
                      </a:r>
                      <a:endParaRPr kumimoji="0" lang="es-ES" altLang="es-A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1992</a:t>
                      </a:r>
                      <a:endParaRPr kumimoji="0" lang="es-ES" altLang="es-A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95</a:t>
                      </a:r>
                      <a:endParaRPr kumimoji="0" lang="es-ES" altLang="es-A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color</a:t>
                      </a:r>
                      <a:endParaRPr kumimoji="0" lang="es-ES" altLang="es-A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726" name="Text Box 113">
            <a:extLst>
              <a:ext uri="{FF2B5EF4-FFF2-40B4-BE49-F238E27FC236}">
                <a16:creationId xmlns:a16="http://schemas.microsoft.com/office/drawing/2014/main" id="{4986B677-B446-BFBE-7520-90B2E1BBB4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3284538"/>
            <a:ext cx="984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CL" altLang="es-AR" sz="1800"/>
              <a:t>Pelicula</a:t>
            </a:r>
          </a:p>
        </p:txBody>
      </p:sp>
    </p:spTree>
    <p:extLst>
      <p:ext uri="{BB962C8B-B14F-4D97-AF65-F5344CB8AC3E}">
        <p14:creationId xmlns:p14="http://schemas.microsoft.com/office/powerpoint/2010/main" val="11031571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49">
            <a:extLst>
              <a:ext uri="{FF2B5EF4-FFF2-40B4-BE49-F238E27FC236}">
                <a16:creationId xmlns:a16="http://schemas.microsoft.com/office/drawing/2014/main" id="{E74CBA9A-627E-BF2A-A476-7FB5057A69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71887" y="749678"/>
            <a:ext cx="3063876" cy="447298"/>
          </a:xfrm>
          <a:solidFill>
            <a:srgbClr val="0070C0"/>
          </a:solidFill>
        </p:spPr>
        <p:txBody>
          <a:bodyPr>
            <a:normAutofit/>
          </a:bodyPr>
          <a:lstStyle/>
          <a:p>
            <a:pPr algn="ctr"/>
            <a:r>
              <a:rPr lang="es-ES_tradnl" altLang="es-ES" sz="24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RELACION CURSO</a:t>
            </a:r>
          </a:p>
        </p:txBody>
      </p:sp>
      <p:graphicFrame>
        <p:nvGraphicFramePr>
          <p:cNvPr id="27765" name="Group 117">
            <a:extLst>
              <a:ext uri="{FF2B5EF4-FFF2-40B4-BE49-F238E27FC236}">
                <a16:creationId xmlns:a16="http://schemas.microsoft.com/office/drawing/2014/main" id="{68804CED-9E32-4C14-1FB2-5FF74488D057}"/>
              </a:ext>
            </a:extLst>
          </p:cNvPr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1563897301"/>
              </p:ext>
            </p:extLst>
          </p:nvPr>
        </p:nvGraphicFramePr>
        <p:xfrm>
          <a:off x="1690688" y="1773238"/>
          <a:ext cx="7056437" cy="4103687"/>
        </p:xfrm>
        <a:graphic>
          <a:graphicData uri="http://schemas.openxmlformats.org/drawingml/2006/table">
            <a:tbl>
              <a:tblPr/>
              <a:tblGrid>
                <a:gridCol w="1296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1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8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08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820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O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código</a:t>
                      </a:r>
                      <a:endParaRPr kumimoji="0" lang="es-ES_tradnl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O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nombre</a:t>
                      </a:r>
                      <a:endParaRPr kumimoji="0" lang="es-ES_tradnl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O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profesor</a:t>
                      </a:r>
                      <a:endParaRPr kumimoji="0" lang="es-ES_tradnl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O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hora</a:t>
                      </a:r>
                      <a:endParaRPr kumimoji="0" lang="es-ES_tradnl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O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semestre</a:t>
                      </a:r>
                      <a:endParaRPr kumimoji="0" lang="es-ES_tradnl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6195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O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667</a:t>
                      </a:r>
                      <a:endParaRPr kumimoji="0" lang="es-ES_tradnl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O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BD 1</a:t>
                      </a:r>
                      <a:endParaRPr kumimoji="0" lang="es-ES_tradnl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O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Megan Fox</a:t>
                      </a:r>
                      <a:endParaRPr kumimoji="0" lang="es-ES_tradnl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O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MJ 6-8</a:t>
                      </a:r>
                      <a:endParaRPr kumimoji="0" lang="es-ES_tradnl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O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2011-1</a:t>
                      </a:r>
                      <a:endParaRPr kumimoji="0" lang="es-ES_tradnl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_tradnl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0053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O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201</a:t>
                      </a:r>
                      <a:endParaRPr kumimoji="0" lang="es-ES_tradnl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O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BD 2</a:t>
                      </a:r>
                      <a:endParaRPr kumimoji="0" lang="es-ES_tradnl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O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Megan Fox</a:t>
                      </a:r>
                      <a:endParaRPr kumimoji="0" lang="es-ES_tradnl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O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WV 6-8</a:t>
                      </a:r>
                      <a:endParaRPr kumimoji="0" lang="es-ES_tradnl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O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2011-1</a:t>
                      </a:r>
                      <a:endParaRPr kumimoji="0" lang="es-ES_tradnl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3036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O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333</a:t>
                      </a:r>
                      <a:endParaRPr kumimoji="0" lang="es-ES_tradnl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O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Álgebra en chino</a:t>
                      </a:r>
                      <a:endParaRPr kumimoji="0" lang="es-ES_tradnl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O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Björk</a:t>
                      </a:r>
                      <a:r>
                        <a:rPr kumimoji="0" lang="es-CO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López</a:t>
                      </a:r>
                      <a:endParaRPr kumimoji="0" lang="es-ES_tradnl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O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WV 2-4</a:t>
                      </a:r>
                      <a:endParaRPr kumimoji="0" lang="es-ES_tradnl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O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2010-2</a:t>
                      </a:r>
                      <a:endParaRPr kumimoji="0" lang="es-ES_tradnl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6195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O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666</a:t>
                      </a:r>
                      <a:endParaRPr kumimoji="0" lang="es-ES_tradnl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O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BD 1</a:t>
                      </a:r>
                      <a:endParaRPr kumimoji="0" lang="es-ES_tradnl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O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Angelina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O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Demonia</a:t>
                      </a:r>
                      <a:endParaRPr kumimoji="0" lang="es-ES_tradnl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O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 8-12</a:t>
                      </a:r>
                      <a:endParaRPr kumimoji="0" lang="es-ES_tradnl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O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2010-2</a:t>
                      </a:r>
                      <a:endParaRPr kumimoji="0" lang="es-ES_tradnl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_tradnl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2809" name="Oval 68">
            <a:extLst>
              <a:ext uri="{FF2B5EF4-FFF2-40B4-BE49-F238E27FC236}">
                <a16:creationId xmlns:a16="http://schemas.microsoft.com/office/drawing/2014/main" id="{E76DB41C-064C-8E18-5228-D5400EB41A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1557338"/>
            <a:ext cx="7632700" cy="863600"/>
          </a:xfrm>
          <a:prstGeom prst="ellipse">
            <a:avLst/>
          </a:prstGeom>
          <a:noFill/>
          <a:ln w="31750">
            <a:solidFill>
              <a:srgbClr val="0000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s-ES" altLang="es-ES" sz="1600">
              <a:latin typeface="+mn-lt"/>
            </a:endParaRPr>
          </a:p>
        </p:txBody>
      </p:sp>
      <p:sp>
        <p:nvSpPr>
          <p:cNvPr id="32810" name="Line 70">
            <a:extLst>
              <a:ext uri="{FF2B5EF4-FFF2-40B4-BE49-F238E27FC236}">
                <a16:creationId xmlns:a16="http://schemas.microsoft.com/office/drawing/2014/main" id="{7675016F-20D1-0CE5-7C21-838F6C78724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908175" y="981075"/>
            <a:ext cx="862013" cy="64770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 sz="1600"/>
          </a:p>
        </p:txBody>
      </p:sp>
      <p:sp>
        <p:nvSpPr>
          <p:cNvPr id="32811" name="Text Box 71">
            <a:extLst>
              <a:ext uri="{FF2B5EF4-FFF2-40B4-BE49-F238E27FC236}">
                <a16:creationId xmlns:a16="http://schemas.microsoft.com/office/drawing/2014/main" id="{08557A8B-B4AB-B166-67B0-7ED0609B89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476" y="749678"/>
            <a:ext cx="106963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s-CO" altLang="es-ES" sz="1600" dirty="0">
                <a:solidFill>
                  <a:schemeClr val="accent2"/>
                </a:solidFill>
                <a:latin typeface="+mn-lt"/>
              </a:rPr>
              <a:t>Cabecera</a:t>
            </a:r>
            <a:endParaRPr lang="es-ES_tradnl" altLang="es-ES" sz="1600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32812" name="Text Box 74">
            <a:extLst>
              <a:ext uri="{FF2B5EF4-FFF2-40B4-BE49-F238E27FC236}">
                <a16:creationId xmlns:a16="http://schemas.microsoft.com/office/drawing/2014/main" id="{932662F9-978F-9EDC-22F8-38C30381E6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0006" y="1135648"/>
            <a:ext cx="71913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s-CO" altLang="es-ES" sz="1600" dirty="0">
                <a:solidFill>
                  <a:srgbClr val="FF0000"/>
                </a:solidFill>
                <a:latin typeface="+mn-lt"/>
              </a:rPr>
              <a:t>CP</a:t>
            </a:r>
            <a:endParaRPr lang="es-ES_tradnl" altLang="es-ES" sz="16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2813" name="Line 92">
            <a:extLst>
              <a:ext uri="{FF2B5EF4-FFF2-40B4-BE49-F238E27FC236}">
                <a16:creationId xmlns:a16="http://schemas.microsoft.com/office/drawing/2014/main" id="{26FD3CE6-9E3F-6A78-0ADC-BECB469E353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43213" y="1321966"/>
            <a:ext cx="1223962" cy="667171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 sz="1600"/>
          </a:p>
        </p:txBody>
      </p:sp>
      <p:sp>
        <p:nvSpPr>
          <p:cNvPr id="32814" name="AutoShape 105">
            <a:extLst>
              <a:ext uri="{FF2B5EF4-FFF2-40B4-BE49-F238E27FC236}">
                <a16:creationId xmlns:a16="http://schemas.microsoft.com/office/drawing/2014/main" id="{87D405DA-AC68-F378-3B63-BA2D11176767}"/>
              </a:ext>
            </a:extLst>
          </p:cNvPr>
          <p:cNvSpPr>
            <a:spLocks/>
          </p:cNvSpPr>
          <p:nvPr/>
        </p:nvSpPr>
        <p:spPr bwMode="auto">
          <a:xfrm>
            <a:off x="1042988" y="2636838"/>
            <a:ext cx="144462" cy="2663825"/>
          </a:xfrm>
          <a:prstGeom prst="leftBrace">
            <a:avLst>
              <a:gd name="adj1" fmla="val 15366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s-ES" altLang="es-ES" sz="1600">
              <a:latin typeface="+mn-lt"/>
            </a:endParaRPr>
          </a:p>
        </p:txBody>
      </p:sp>
      <p:sp>
        <p:nvSpPr>
          <p:cNvPr id="32815" name="Text Box 106">
            <a:extLst>
              <a:ext uri="{FF2B5EF4-FFF2-40B4-BE49-F238E27FC236}">
                <a16:creationId xmlns:a16="http://schemas.microsoft.com/office/drawing/2014/main" id="{DCD81021-5DD3-8382-C8C9-24FBA7DB06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3785186"/>
            <a:ext cx="104298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s-CO" altLang="es-ES" sz="1600" b="1" dirty="0" err="1">
                <a:latin typeface="+mn-lt"/>
              </a:rPr>
              <a:t>Tuplas</a:t>
            </a:r>
            <a:endParaRPr lang="es-ES_tradnl" altLang="es-ES" sz="1600" b="1" dirty="0">
              <a:latin typeface="+mn-lt"/>
            </a:endParaRPr>
          </a:p>
        </p:txBody>
      </p:sp>
      <p:sp>
        <p:nvSpPr>
          <p:cNvPr id="32816" name="Text Box 108">
            <a:extLst>
              <a:ext uri="{FF2B5EF4-FFF2-40B4-BE49-F238E27FC236}">
                <a16:creationId xmlns:a16="http://schemas.microsoft.com/office/drawing/2014/main" id="{71ADA48A-3D30-D51D-1B61-9B40B476D5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2177" y="914512"/>
            <a:ext cx="1466171" cy="584775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MX" altLang="es-ES" sz="1600" b="1" dirty="0" err="1">
                <a:latin typeface="+mn-lt"/>
              </a:rPr>
              <a:t>Cardinalidad</a:t>
            </a:r>
            <a:r>
              <a:rPr lang="es-MX" altLang="es-ES" sz="1600" b="1" dirty="0">
                <a:latin typeface="+mn-lt"/>
              </a:rPr>
              <a:t>: 4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s-MX" altLang="es-ES" sz="1600" b="1" dirty="0">
                <a:latin typeface="+mn-lt"/>
              </a:rPr>
              <a:t>Grado: 5</a:t>
            </a:r>
            <a:endParaRPr lang="es-ES" altLang="es-ES" sz="1600" b="1" dirty="0">
              <a:latin typeface="+mn-lt"/>
            </a:endParaRPr>
          </a:p>
        </p:txBody>
      </p:sp>
      <p:sp>
        <p:nvSpPr>
          <p:cNvPr id="32817" name="Rectangle 109">
            <a:extLst>
              <a:ext uri="{FF2B5EF4-FFF2-40B4-BE49-F238E27FC236}">
                <a16:creationId xmlns:a16="http://schemas.microsoft.com/office/drawing/2014/main" id="{AA4C7331-1CD1-2E31-1ACC-25640AE41A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2349500"/>
            <a:ext cx="7345362" cy="3671888"/>
          </a:xfrm>
          <a:prstGeom prst="rect">
            <a:avLst/>
          </a:prstGeom>
          <a:noFill/>
          <a:ln w="31750">
            <a:solidFill>
              <a:srgbClr val="0080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s-ES" altLang="es-ES" sz="1600">
              <a:latin typeface="+mn-lt"/>
            </a:endParaRPr>
          </a:p>
        </p:txBody>
      </p:sp>
      <p:sp>
        <p:nvSpPr>
          <p:cNvPr id="32818" name="Line 111">
            <a:extLst>
              <a:ext uri="{FF2B5EF4-FFF2-40B4-BE49-F238E27FC236}">
                <a16:creationId xmlns:a16="http://schemas.microsoft.com/office/drawing/2014/main" id="{8A49B25A-289D-D960-D695-7CF9DDD0E58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58888" y="2781300"/>
            <a:ext cx="3603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 sz="1600"/>
          </a:p>
        </p:txBody>
      </p:sp>
      <p:sp>
        <p:nvSpPr>
          <p:cNvPr id="32819" name="Line 112">
            <a:extLst>
              <a:ext uri="{FF2B5EF4-FFF2-40B4-BE49-F238E27FC236}">
                <a16:creationId xmlns:a16="http://schemas.microsoft.com/office/drawing/2014/main" id="{B057C874-957B-CAC2-BB6B-840E997EC63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58888" y="3635375"/>
            <a:ext cx="3603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 sz="1600"/>
          </a:p>
        </p:txBody>
      </p:sp>
      <p:sp>
        <p:nvSpPr>
          <p:cNvPr id="32820" name="Line 113">
            <a:extLst>
              <a:ext uri="{FF2B5EF4-FFF2-40B4-BE49-F238E27FC236}">
                <a16:creationId xmlns:a16="http://schemas.microsoft.com/office/drawing/2014/main" id="{3AA605FB-D846-A04D-6696-BF6A80E5D13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58888" y="4519613"/>
            <a:ext cx="3603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 sz="1600"/>
          </a:p>
        </p:txBody>
      </p:sp>
      <p:sp>
        <p:nvSpPr>
          <p:cNvPr id="32821" name="Line 114">
            <a:extLst>
              <a:ext uri="{FF2B5EF4-FFF2-40B4-BE49-F238E27FC236}">
                <a16:creationId xmlns:a16="http://schemas.microsoft.com/office/drawing/2014/main" id="{A6954622-CFA1-4A3A-F386-E7EA3AC2E73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58888" y="5383213"/>
            <a:ext cx="3603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 sz="1600"/>
          </a:p>
        </p:txBody>
      </p:sp>
      <p:sp>
        <p:nvSpPr>
          <p:cNvPr id="32822" name="Line 115">
            <a:extLst>
              <a:ext uri="{FF2B5EF4-FFF2-40B4-BE49-F238E27FC236}">
                <a16:creationId xmlns:a16="http://schemas.microsoft.com/office/drawing/2014/main" id="{43F10FCB-E5E6-6829-962F-7353F8C5C0C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55650" y="1484313"/>
            <a:ext cx="792163" cy="865187"/>
          </a:xfrm>
          <a:prstGeom prst="line">
            <a:avLst/>
          </a:prstGeom>
          <a:noFill/>
          <a:ln w="9525">
            <a:solidFill>
              <a:srgbClr val="00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 sz="1600"/>
          </a:p>
        </p:txBody>
      </p:sp>
      <p:sp>
        <p:nvSpPr>
          <p:cNvPr id="32823" name="Text Box 116">
            <a:extLst>
              <a:ext uri="{FF2B5EF4-FFF2-40B4-BE49-F238E27FC236}">
                <a16:creationId xmlns:a16="http://schemas.microsoft.com/office/drawing/2014/main" id="{273D15ED-8074-0D9E-3277-2603A18207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718" y="1233097"/>
            <a:ext cx="133191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s-CO" altLang="es-ES" sz="1600" dirty="0">
                <a:solidFill>
                  <a:srgbClr val="009900"/>
                </a:solidFill>
                <a:latin typeface="+mn-lt"/>
              </a:rPr>
              <a:t>Cuerpo</a:t>
            </a:r>
            <a:endParaRPr lang="es-ES_tradnl" altLang="es-ES" sz="1600" dirty="0">
              <a:solidFill>
                <a:srgbClr val="0099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34332040"/>
      </p:ext>
    </p:extLst>
  </p:cSld>
  <p:clrMapOvr>
    <a:masterClrMapping/>
  </p:clrMapOvr>
  <p:transition spd="med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>
            <a:extLst>
              <a:ext uri="{FF2B5EF4-FFF2-40B4-BE49-F238E27FC236}">
                <a16:creationId xmlns:a16="http://schemas.microsoft.com/office/drawing/2014/main" id="{940F3A72-856B-C8FC-05DB-2EF7713A46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1791" y="1878358"/>
            <a:ext cx="8693426" cy="3820077"/>
          </a:xfrm>
        </p:spPr>
        <p:txBody>
          <a:bodyPr/>
          <a:lstStyle/>
          <a:p>
            <a:pPr algn="just"/>
            <a:r>
              <a:rPr lang="es-CO" altLang="es-ES" dirty="0">
                <a:latin typeface="+mn-lt"/>
                <a:cs typeface="Arial" panose="020B0604020202020204" pitchFamily="34" charset="0"/>
              </a:rPr>
              <a:t>En la relación anterior, ¿hay claves alternativas?</a:t>
            </a:r>
          </a:p>
          <a:p>
            <a:pPr algn="just"/>
            <a:r>
              <a:rPr lang="es-CO" altLang="es-ES" dirty="0">
                <a:latin typeface="+mn-lt"/>
                <a:cs typeface="Arial" panose="020B0604020202020204" pitchFamily="34" charset="0"/>
              </a:rPr>
              <a:t>¿Qué pasaría si hubiese dos profesores con el mismo nombre y apellido? Ej. Dos Megan Fox </a:t>
            </a:r>
            <a:r>
              <a:rPr lang="es-CO" altLang="es-ES" dirty="0"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Colocar mejor el número de identificación del profesor en CURSO y en otra relación cada profesor con sus atributos (identificación, nombre, etc.) </a:t>
            </a:r>
            <a:endParaRPr lang="es-CO" altLang="es-ES" dirty="0">
              <a:latin typeface="+mn-lt"/>
              <a:cs typeface="Arial" panose="020B0604020202020204" pitchFamily="34" charset="0"/>
            </a:endParaRPr>
          </a:p>
          <a:p>
            <a:pPr algn="just"/>
            <a:endParaRPr lang="es-ES_tradnl" altLang="es-ES" dirty="0"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016444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119</TotalTime>
  <Words>1391</Words>
  <Application>Microsoft Office PowerPoint</Application>
  <PresentationFormat>Presentación en pantalla (4:3)</PresentationFormat>
  <Paragraphs>221</Paragraphs>
  <Slides>25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Courier New</vt:lpstr>
      <vt:lpstr>Times New Roman</vt:lpstr>
      <vt:lpstr>Tema de Office</vt:lpstr>
      <vt:lpstr>Presentación de PowerPoint</vt:lpstr>
      <vt:lpstr>Antecedentes</vt:lpstr>
      <vt:lpstr>Introducción</vt:lpstr>
      <vt:lpstr>Introducción</vt:lpstr>
      <vt:lpstr>Ventajas</vt:lpstr>
      <vt:lpstr>Desventajas</vt:lpstr>
      <vt:lpstr>Elementos del modelo relacional</vt:lpstr>
      <vt:lpstr>Elementos del modelo relacional</vt:lpstr>
      <vt:lpstr>Elementos del modelo relacional</vt:lpstr>
      <vt:lpstr>Elementos del modelo relacional</vt:lpstr>
      <vt:lpstr>Elementos del modelo relacional</vt:lpstr>
      <vt:lpstr>Presentación de PowerPoint</vt:lpstr>
      <vt:lpstr>Presentación de PowerPoint</vt:lpstr>
      <vt:lpstr>  Tipos de Datos  Cada dominio debe definirse sobre algún tipo de dato:</vt:lpstr>
      <vt:lpstr>Claves (Keys)*</vt:lpstr>
      <vt:lpstr>Claves</vt:lpstr>
      <vt:lpstr>Claves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RELACION CURSO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patricia</dc:creator>
  <cp:lastModifiedBy>LENOVO NB</cp:lastModifiedBy>
  <cp:revision>14</cp:revision>
  <dcterms:created xsi:type="dcterms:W3CDTF">2023-02-21T03:47:21Z</dcterms:created>
  <dcterms:modified xsi:type="dcterms:W3CDTF">2025-04-10T17:13:33Z</dcterms:modified>
</cp:coreProperties>
</file>