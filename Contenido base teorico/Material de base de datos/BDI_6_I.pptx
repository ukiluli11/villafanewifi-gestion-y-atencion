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5"/>
  </p:notesMasterIdLst>
  <p:sldIdLst>
    <p:sldId id="256" r:id="rId2"/>
    <p:sldId id="258" r:id="rId3"/>
    <p:sldId id="324" r:id="rId4"/>
    <p:sldId id="325" r:id="rId5"/>
    <p:sldId id="296" r:id="rId6"/>
    <p:sldId id="297" r:id="rId7"/>
    <p:sldId id="314" r:id="rId8"/>
    <p:sldId id="269" r:id="rId9"/>
    <p:sldId id="259" r:id="rId10"/>
    <p:sldId id="271" r:id="rId11"/>
    <p:sldId id="265" r:id="rId12"/>
    <p:sldId id="266" r:id="rId13"/>
    <p:sldId id="272" r:id="rId14"/>
    <p:sldId id="267" r:id="rId15"/>
    <p:sldId id="273" r:id="rId16"/>
    <p:sldId id="316" r:id="rId17"/>
    <p:sldId id="317" r:id="rId18"/>
    <p:sldId id="318" r:id="rId19"/>
    <p:sldId id="319" r:id="rId20"/>
    <p:sldId id="320" r:id="rId21"/>
    <p:sldId id="321" r:id="rId22"/>
    <p:sldId id="322" r:id="rId23"/>
    <p:sldId id="323" r:id="rId2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F77E62-43A7-4B19-A358-CFF1B864ACB0}" type="datetimeFigureOut">
              <a:rPr lang="es-ES" smtClean="0"/>
              <a:pPr/>
              <a:t>20/04/2021</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D3FE2C-D2E3-44E9-892C-4397885067F8}" type="slidenum">
              <a:rPr lang="es-ES" smtClean="0"/>
              <a:pPr/>
              <a:t>‹Nº›</a:t>
            </a:fld>
            <a:endParaRPr lang="es-ES"/>
          </a:p>
        </p:txBody>
      </p:sp>
    </p:spTree>
    <p:extLst>
      <p:ext uri="{BB962C8B-B14F-4D97-AF65-F5344CB8AC3E}">
        <p14:creationId xmlns:p14="http://schemas.microsoft.com/office/powerpoint/2010/main" val="834249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A4D3FE2C-D2E3-44E9-892C-4397885067F8}" type="slidenum">
              <a:rPr lang="es-ES" smtClean="0"/>
              <a:pPr/>
              <a:t>3</a:t>
            </a:fld>
            <a:endParaRPr lang="es-ES"/>
          </a:p>
        </p:txBody>
      </p:sp>
    </p:spTree>
    <p:extLst>
      <p:ext uri="{BB962C8B-B14F-4D97-AF65-F5344CB8AC3E}">
        <p14:creationId xmlns:p14="http://schemas.microsoft.com/office/powerpoint/2010/main" val="4069855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1122363"/>
            <a:ext cx="6858000" cy="2387600"/>
          </a:xfrm>
        </p:spPr>
        <p:txBody>
          <a:bodyPr anchor="b"/>
          <a:lstStyle>
            <a:lvl1pPr algn="ctr">
              <a:defRPr sz="4500"/>
            </a:lvl1pPr>
          </a:lstStyle>
          <a:p>
            <a:r>
              <a:rPr lang="es-ES" smtClean="0"/>
              <a:t>Haga clic para modificar el estilo de título del patrón</a:t>
            </a:r>
            <a:endParaRPr lang="es-AR"/>
          </a:p>
        </p:txBody>
      </p:sp>
      <p:sp>
        <p:nvSpPr>
          <p:cNvPr id="3" name="Subtítulo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smtClean="0"/>
              <a:t>Haga clic para modificar el estilo de subtítulo del patrón</a:t>
            </a:r>
            <a:endParaRPr lang="es-AR"/>
          </a:p>
        </p:txBody>
      </p:sp>
      <p:sp>
        <p:nvSpPr>
          <p:cNvPr id="4" name="Marcador de fecha 3"/>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71621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846424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23888" y="1709739"/>
            <a:ext cx="7886700" cy="2852737"/>
          </a:xfrm>
        </p:spPr>
        <p:txBody>
          <a:bodyPr anchor="b"/>
          <a:lstStyle>
            <a:lvl1pPr>
              <a:defRPr sz="4500"/>
            </a:lvl1p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907365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contenido 2"/>
          <p:cNvSpPr>
            <a:spLocks noGrp="1"/>
          </p:cNvSpPr>
          <p:nvPr>
            <p:ph sz="half" idx="1"/>
          </p:nvPr>
        </p:nvSpPr>
        <p:spPr>
          <a:xfrm>
            <a:off x="6286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contenido 3"/>
          <p:cNvSpPr>
            <a:spLocks noGrp="1"/>
          </p:cNvSpPr>
          <p:nvPr>
            <p:ph sz="half" idx="2"/>
          </p:nvPr>
        </p:nvSpPr>
        <p:spPr>
          <a:xfrm>
            <a:off x="46291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Marcador de fecha 4"/>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061168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29841" y="365126"/>
            <a:ext cx="7886700" cy="1325563"/>
          </a:xfrm>
        </p:spPr>
        <p:txBody>
          <a:body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629842" y="2505075"/>
            <a:ext cx="3868340"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Marcador de texto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4629150" y="2505075"/>
            <a:ext cx="3887391"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Marcador de fecha 6"/>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329607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fecha 2"/>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126752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816104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AR"/>
          </a:p>
        </p:txBody>
      </p:sp>
      <p:sp>
        <p:nvSpPr>
          <p:cNvPr id="3" name="Marcador de contenido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050405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AR"/>
          </a:p>
        </p:txBody>
      </p:sp>
      <p:sp>
        <p:nvSpPr>
          <p:cNvPr id="3" name="Marcador de posición de imagen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AR"/>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226901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91066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43675" y="365125"/>
            <a:ext cx="1971675" cy="5811838"/>
          </a:xfrm>
        </p:spPr>
        <p:txBody>
          <a:bodyPr vert="eaVert"/>
          <a:lstStyle/>
          <a:p>
            <a:r>
              <a:rPr lang="es-ES" smtClean="0"/>
              <a:t>Haga clic para modificar el estilo de título del patrón</a:t>
            </a:r>
            <a:endParaRPr lang="es-AR"/>
          </a:p>
        </p:txBody>
      </p:sp>
      <p:sp>
        <p:nvSpPr>
          <p:cNvPr id="3" name="Marcador de texto vertical 2"/>
          <p:cNvSpPr>
            <a:spLocks noGrp="1"/>
          </p:cNvSpPr>
          <p:nvPr>
            <p:ph type="body" orient="vert" idx="1"/>
          </p:nvPr>
        </p:nvSpPr>
        <p:spPr>
          <a:xfrm>
            <a:off x="628650" y="365125"/>
            <a:ext cx="5800725"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7A847CFC-816F-41D0-AAC0-9BF4FEBC753E}" type="datetimeFigureOut">
              <a:rPr lang="es-ES" smtClean="0"/>
              <a:pPr/>
              <a:t>20/04/2021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16767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A847CFC-816F-41D0-AAC0-9BF4FEBC753E}" type="datetimeFigureOut">
              <a:rPr lang="es-ES" smtClean="0"/>
              <a:pPr/>
              <a:t>20/04/2021</a:t>
            </a:fld>
            <a:endParaRPr lang="es-ES"/>
          </a:p>
        </p:txBody>
      </p:sp>
      <p:sp>
        <p:nvSpPr>
          <p:cNvPr id="5" name="Marcador de pie de página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32FADFE-3B8F-471C-ABF0-DBC7717ECBBC}" type="slidenum">
              <a:rPr lang="es-ES" smtClean="0"/>
              <a:pPr/>
              <a:t>‹Nº›</a:t>
            </a:fld>
            <a:endParaRPr lang="es-ES"/>
          </a:p>
        </p:txBody>
      </p:sp>
    </p:spTree>
    <p:extLst>
      <p:ext uri="{BB962C8B-B14F-4D97-AF65-F5344CB8AC3E}">
        <p14:creationId xmlns:p14="http://schemas.microsoft.com/office/powerpoint/2010/main" val="866725766"/>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A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1"/>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313730"/>
            <a:ext cx="9143999" cy="6355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p:cNvSpPr>
            <a:spLocks noGrp="1"/>
          </p:cNvSpPr>
          <p:nvPr>
            <p:ph type="title"/>
          </p:nvPr>
        </p:nvSpPr>
        <p:spPr>
          <a:xfrm>
            <a:off x="395536" y="2165981"/>
            <a:ext cx="7886700" cy="1325563"/>
          </a:xfrm>
        </p:spPr>
        <p:txBody>
          <a:bodyPr/>
          <a:lstStyle/>
          <a:p>
            <a:pPr algn="ctr"/>
            <a:r>
              <a:rPr lang="es-ES" b="1" dirty="0" smtClean="0">
                <a:solidFill>
                  <a:srgbClr val="00B050"/>
                </a:solidFill>
              </a:rPr>
              <a:t>NORMALIZACION</a:t>
            </a:r>
            <a:endParaRPr lang="es-ES"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00B050"/>
                </a:solidFill>
              </a:rPr>
              <a:t>Formas normales</a:t>
            </a:r>
            <a:endParaRPr lang="es-ES" dirty="0">
              <a:solidFill>
                <a:srgbClr val="00B050"/>
              </a:solidFill>
            </a:endParaRPr>
          </a:p>
        </p:txBody>
      </p:sp>
      <p:sp>
        <p:nvSpPr>
          <p:cNvPr id="4" name="3 Rectángulo"/>
          <p:cNvSpPr/>
          <p:nvPr/>
        </p:nvSpPr>
        <p:spPr>
          <a:xfrm>
            <a:off x="500034" y="1928802"/>
            <a:ext cx="8320438" cy="2862322"/>
          </a:xfrm>
          <a:prstGeom prst="rect">
            <a:avLst/>
          </a:prstGeom>
        </p:spPr>
        <p:txBody>
          <a:bodyPr wrap="square">
            <a:spAutoFit/>
          </a:bodyPr>
          <a:lstStyle/>
          <a:p>
            <a:r>
              <a:rPr lang="es-ES" dirty="0"/>
              <a:t>Las formas normales se corresponde a una teoría de normalización iniciada por el propio </a:t>
            </a:r>
            <a:r>
              <a:rPr lang="es-ES" dirty="0" err="1"/>
              <a:t>Codd</a:t>
            </a:r>
            <a:r>
              <a:rPr lang="es-ES" dirty="0"/>
              <a:t> y continuada por otros autores (entre los que destacan </a:t>
            </a:r>
            <a:r>
              <a:rPr lang="es-ES" dirty="0" err="1"/>
              <a:t>Boyce</a:t>
            </a:r>
            <a:r>
              <a:rPr lang="es-ES" dirty="0"/>
              <a:t> y </a:t>
            </a:r>
            <a:r>
              <a:rPr lang="es-ES" dirty="0" err="1"/>
              <a:t>Fagin</a:t>
            </a:r>
            <a:r>
              <a:rPr lang="es-ES" dirty="0"/>
              <a:t>). </a:t>
            </a:r>
            <a:r>
              <a:rPr lang="es-ES" dirty="0" err="1"/>
              <a:t>Codd</a:t>
            </a:r>
            <a:r>
              <a:rPr lang="es-ES" dirty="0"/>
              <a:t> definió en 1970 la primera forma normal, desde ese momento aparecieron la segunda, tercera, la </a:t>
            </a:r>
            <a:r>
              <a:rPr lang="es-ES" dirty="0" err="1"/>
              <a:t>Boyce-Codd</a:t>
            </a:r>
            <a:r>
              <a:rPr lang="es-ES" dirty="0"/>
              <a:t>, la cuarta y la quinta forma normal</a:t>
            </a:r>
            <a:r>
              <a:rPr lang="es-ES" dirty="0" smtClean="0"/>
              <a:t>.</a:t>
            </a:r>
          </a:p>
          <a:p>
            <a:endParaRPr lang="es-ES" dirty="0"/>
          </a:p>
          <a:p>
            <a:r>
              <a:rPr lang="es-ES" dirty="0"/>
              <a:t>Una tabla puede encontrarse en primera forma normal y no en segunda forma normal, pero no al contrario. Es decir los números altos de formas normales son más restrictivos (la quinta forma normal cumple todas las anteriores</a:t>
            </a:r>
            <a:r>
              <a:rPr lang="es-ES" dirty="0" smtClean="0"/>
              <a:t>).</a:t>
            </a:r>
          </a:p>
          <a:p>
            <a:endParaRPr lang="es-ES" dirty="0"/>
          </a:p>
          <a:p>
            <a:r>
              <a:rPr lang="es-ES" dirty="0"/>
              <a:t>La teoría de formas normales es una teoría absolutamente </a:t>
            </a:r>
            <a:r>
              <a:rPr lang="es-ES" dirty="0" smtClean="0"/>
              <a:t>matemática.</a:t>
            </a:r>
            <a:endParaRPr lang="es-E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611560" y="1466836"/>
            <a:ext cx="8187638" cy="4194412"/>
          </a:xfrm>
          <a:prstGeom prst="rect">
            <a:avLst/>
          </a:prstGeom>
        </p:spPr>
      </p:pic>
      <p:sp>
        <p:nvSpPr>
          <p:cNvPr id="6" name="Text Box 5"/>
          <p:cNvSpPr txBox="1">
            <a:spLocks noChangeArrowheads="1"/>
          </p:cNvSpPr>
          <p:nvPr/>
        </p:nvSpPr>
        <p:spPr bwMode="auto">
          <a:xfrm>
            <a:off x="1908175" y="5373688"/>
            <a:ext cx="3060700" cy="4572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ES" altLang="es-ES" sz="2400" i="1" dirty="0">
                <a:solidFill>
                  <a:srgbClr val="CC3300"/>
                </a:solidFill>
              </a:rPr>
              <a:t>Anomalías</a:t>
            </a:r>
            <a:r>
              <a:rPr lang="es-ES" altLang="es-ES" sz="2400" i="1" dirty="0"/>
              <a:t> de </a:t>
            </a:r>
            <a:r>
              <a:rPr lang="es-ES" altLang="es-ES" sz="2400" i="1" dirty="0">
                <a:solidFill>
                  <a:schemeClr val="accent2"/>
                </a:solidFill>
              </a:rPr>
              <a:t>inserción</a:t>
            </a:r>
          </a:p>
        </p:txBody>
      </p:sp>
      <p:sp>
        <p:nvSpPr>
          <p:cNvPr id="7" name="Text Box 6"/>
          <p:cNvSpPr txBox="1">
            <a:spLocks noChangeArrowheads="1"/>
          </p:cNvSpPr>
          <p:nvPr/>
        </p:nvSpPr>
        <p:spPr bwMode="auto">
          <a:xfrm>
            <a:off x="5479707" y="4637088"/>
            <a:ext cx="1927225" cy="118745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ES" altLang="es-ES" sz="2400" i="1" dirty="0">
                <a:solidFill>
                  <a:srgbClr val="CC3300"/>
                </a:solidFill>
              </a:rPr>
              <a:t>Anomalías</a:t>
            </a:r>
            <a:r>
              <a:rPr lang="es-ES" altLang="es-ES" sz="2400" i="1" dirty="0"/>
              <a:t> de </a:t>
            </a:r>
          </a:p>
          <a:p>
            <a:pPr>
              <a:spcBef>
                <a:spcPct val="0"/>
              </a:spcBef>
              <a:buFontTx/>
              <a:buNone/>
            </a:pPr>
            <a:r>
              <a:rPr lang="es-ES" altLang="es-ES" sz="2400" i="1" dirty="0">
                <a:solidFill>
                  <a:schemeClr val="accent2"/>
                </a:solidFill>
              </a:rPr>
              <a:t>actualización</a:t>
            </a:r>
          </a:p>
          <a:p>
            <a:pPr>
              <a:spcBef>
                <a:spcPct val="0"/>
              </a:spcBef>
              <a:buFontTx/>
              <a:buNone/>
            </a:pPr>
            <a:r>
              <a:rPr lang="es-ES" altLang="es-ES" sz="2400" i="1" dirty="0"/>
              <a:t>y </a:t>
            </a:r>
            <a:r>
              <a:rPr lang="es-ES" altLang="es-ES" sz="2400" i="1" dirty="0">
                <a:solidFill>
                  <a:schemeClr val="accent2"/>
                </a:solidFill>
              </a:rPr>
              <a:t>borrado</a:t>
            </a:r>
          </a:p>
        </p:txBody>
      </p:sp>
      <p:sp>
        <p:nvSpPr>
          <p:cNvPr id="8" name="Line 8"/>
          <p:cNvSpPr>
            <a:spLocks noChangeShapeType="1"/>
          </p:cNvSpPr>
          <p:nvPr/>
        </p:nvSpPr>
        <p:spPr bwMode="auto">
          <a:xfrm>
            <a:off x="5120932" y="3844925"/>
            <a:ext cx="0" cy="1223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9" name="Line 9"/>
          <p:cNvSpPr>
            <a:spLocks noChangeShapeType="1"/>
          </p:cNvSpPr>
          <p:nvPr/>
        </p:nvSpPr>
        <p:spPr bwMode="auto">
          <a:xfrm>
            <a:off x="5120932" y="5068888"/>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 name="Line 13"/>
          <p:cNvSpPr>
            <a:spLocks noChangeShapeType="1"/>
          </p:cNvSpPr>
          <p:nvPr/>
        </p:nvSpPr>
        <p:spPr bwMode="auto">
          <a:xfrm>
            <a:off x="2916238" y="4581525"/>
            <a:ext cx="0" cy="649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Tree>
    <p:extLst>
      <p:ext uri="{BB962C8B-B14F-4D97-AF65-F5344CB8AC3E}">
        <p14:creationId xmlns:p14="http://schemas.microsoft.com/office/powerpoint/2010/main" val="3220433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2 Marcador de contenido"/>
          <p:cNvSpPr>
            <a:spLocks noGrp="1"/>
          </p:cNvSpPr>
          <p:nvPr>
            <p:ph idx="1"/>
          </p:nvPr>
        </p:nvSpPr>
        <p:spPr>
          <a:xfrm>
            <a:off x="628650" y="404664"/>
            <a:ext cx="7886700" cy="5772299"/>
          </a:xfrm>
        </p:spPr>
        <p:txBody>
          <a:bodyPr>
            <a:normAutofit/>
          </a:bodyPr>
          <a:lstStyle/>
          <a:p>
            <a:pPr algn="just" eaLnBrk="1" hangingPunct="1">
              <a:lnSpc>
                <a:spcPct val="100000"/>
              </a:lnSpc>
              <a:buFont typeface="Wingdings" panose="05000000000000000000" pitchFamily="2" charset="2"/>
              <a:buNone/>
            </a:pPr>
            <a:r>
              <a:rPr lang="es-ES" altLang="es-AR" dirty="0" smtClean="0"/>
              <a:t> El proceso de </a:t>
            </a:r>
            <a:r>
              <a:rPr lang="es-ES" altLang="es-AR" b="1" dirty="0" smtClean="0">
                <a:solidFill>
                  <a:srgbClr val="00B050"/>
                </a:solidFill>
              </a:rPr>
              <a:t>normalización de bases de datos </a:t>
            </a:r>
            <a:r>
              <a:rPr lang="es-ES" altLang="es-AR" dirty="0" smtClean="0"/>
              <a:t>consiste en aplicar una serie de reglas a las relaciones obtenidas tras el paso del </a:t>
            </a:r>
            <a:r>
              <a:rPr lang="es-ES" altLang="es-AR" dirty="0" smtClean="0">
                <a:solidFill>
                  <a:schemeClr val="accent2"/>
                </a:solidFill>
              </a:rPr>
              <a:t>modelo entidad-relación </a:t>
            </a:r>
            <a:r>
              <a:rPr lang="es-ES" altLang="es-AR" dirty="0" smtClean="0"/>
              <a:t>al </a:t>
            </a:r>
            <a:r>
              <a:rPr lang="es-ES" altLang="es-AR" dirty="0" smtClean="0">
                <a:solidFill>
                  <a:schemeClr val="accent2"/>
                </a:solidFill>
              </a:rPr>
              <a:t>modelo relacional.</a:t>
            </a:r>
          </a:p>
          <a:p>
            <a:pPr algn="just" eaLnBrk="1" hangingPunct="1">
              <a:lnSpc>
                <a:spcPct val="100000"/>
              </a:lnSpc>
              <a:buFont typeface="Wingdings" panose="05000000000000000000" pitchFamily="2" charset="2"/>
              <a:buNone/>
            </a:pPr>
            <a:r>
              <a:rPr lang="es-ES" altLang="es-AR" dirty="0" smtClean="0"/>
              <a:t>    Las bases de datos relacionales se normalizan para:</a:t>
            </a:r>
          </a:p>
          <a:p>
            <a:pPr algn="just" eaLnBrk="1" hangingPunct="1">
              <a:lnSpc>
                <a:spcPct val="100000"/>
              </a:lnSpc>
            </a:pPr>
            <a:r>
              <a:rPr lang="es-ES" altLang="es-AR" dirty="0" smtClean="0"/>
              <a:t>Evitar </a:t>
            </a:r>
            <a:r>
              <a:rPr lang="es-ES" altLang="es-AR" dirty="0" smtClean="0">
                <a:solidFill>
                  <a:schemeClr val="accent2"/>
                </a:solidFill>
              </a:rPr>
              <a:t>la redundancia </a:t>
            </a:r>
            <a:r>
              <a:rPr lang="es-ES" altLang="es-AR" dirty="0" smtClean="0"/>
              <a:t>de los datos. </a:t>
            </a:r>
          </a:p>
          <a:p>
            <a:pPr algn="just" eaLnBrk="1" hangingPunct="1">
              <a:lnSpc>
                <a:spcPct val="100000"/>
              </a:lnSpc>
            </a:pPr>
            <a:r>
              <a:rPr lang="es-ES" altLang="es-AR" dirty="0" smtClean="0"/>
              <a:t>Evitar problemas de actualización de los datos en las tablas. </a:t>
            </a:r>
          </a:p>
          <a:p>
            <a:pPr algn="just" eaLnBrk="1" hangingPunct="1">
              <a:lnSpc>
                <a:spcPct val="100000"/>
              </a:lnSpc>
            </a:pPr>
            <a:r>
              <a:rPr lang="es-ES" altLang="es-AR" dirty="0" smtClean="0"/>
              <a:t>Proteger </a:t>
            </a:r>
            <a:r>
              <a:rPr lang="es-ES" altLang="es-AR" dirty="0" smtClean="0">
                <a:solidFill>
                  <a:schemeClr val="accent2"/>
                </a:solidFill>
              </a:rPr>
              <a:t>la integridad </a:t>
            </a:r>
            <a:r>
              <a:rPr lang="es-ES" altLang="es-AR" dirty="0" smtClean="0"/>
              <a:t>de los datos. </a:t>
            </a:r>
          </a:p>
          <a:p>
            <a:pPr algn="just" eaLnBrk="1" hangingPunct="1">
              <a:lnSpc>
                <a:spcPct val="100000"/>
              </a:lnSpc>
            </a:pPr>
            <a:r>
              <a:rPr lang="es-ES" altLang="es-AR" dirty="0" smtClean="0"/>
              <a:t>En el modelo relacional es frecuente llamar </a:t>
            </a:r>
            <a:r>
              <a:rPr lang="es-ES" altLang="es-AR" dirty="0" smtClean="0">
                <a:solidFill>
                  <a:schemeClr val="accent2"/>
                </a:solidFill>
              </a:rPr>
              <a:t>tabla</a:t>
            </a:r>
            <a:r>
              <a:rPr lang="es-ES" altLang="es-AR" dirty="0" smtClean="0"/>
              <a:t> a una relación, aunque para que una tabla sea considerada como una relación tiene que cumplir con algunas restricciones:</a:t>
            </a:r>
          </a:p>
          <a:p>
            <a:pPr algn="just" eaLnBrk="1" hangingPunct="1">
              <a:lnSpc>
                <a:spcPct val="100000"/>
              </a:lnSpc>
            </a:pPr>
            <a:r>
              <a:rPr lang="es-ES" altLang="es-AR" dirty="0" smtClean="0"/>
              <a:t>Cada columna debe tener su nombre único. </a:t>
            </a:r>
          </a:p>
          <a:p>
            <a:pPr algn="just" eaLnBrk="1" hangingPunct="1">
              <a:lnSpc>
                <a:spcPct val="100000"/>
              </a:lnSpc>
            </a:pPr>
            <a:r>
              <a:rPr lang="es-ES" altLang="es-AR" dirty="0" smtClean="0"/>
              <a:t>No puede haber dos </a:t>
            </a:r>
            <a:r>
              <a:rPr lang="es-ES" altLang="es-AR" dirty="0" smtClean="0">
                <a:solidFill>
                  <a:schemeClr val="accent2"/>
                </a:solidFill>
              </a:rPr>
              <a:t>filas</a:t>
            </a:r>
            <a:r>
              <a:rPr lang="es-ES" altLang="es-AR" dirty="0" smtClean="0"/>
              <a:t> iguales. No se permiten los duplicados. </a:t>
            </a:r>
          </a:p>
          <a:p>
            <a:pPr algn="just" eaLnBrk="1" hangingPunct="1">
              <a:lnSpc>
                <a:spcPct val="100000"/>
              </a:lnSpc>
            </a:pPr>
            <a:r>
              <a:rPr lang="es-ES" altLang="es-AR" dirty="0" smtClean="0"/>
              <a:t>Todos los datos en una</a:t>
            </a:r>
            <a:r>
              <a:rPr lang="es-ES" altLang="es-AR" dirty="0" smtClean="0">
                <a:solidFill>
                  <a:schemeClr val="accent2"/>
                </a:solidFill>
              </a:rPr>
              <a:t> columna </a:t>
            </a:r>
            <a:r>
              <a:rPr lang="es-ES" altLang="es-AR" dirty="0" smtClean="0"/>
              <a:t>deben ser del mismo tipo. </a:t>
            </a:r>
          </a:p>
        </p:txBody>
      </p:sp>
    </p:spTree>
    <p:extLst>
      <p:ext uri="{BB962C8B-B14F-4D97-AF65-F5344CB8AC3E}">
        <p14:creationId xmlns:p14="http://schemas.microsoft.com/office/powerpoint/2010/main" val="2845941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solidFill>
                  <a:srgbClr val="00B050"/>
                </a:solidFill>
              </a:rPr>
              <a:t>Integridades</a:t>
            </a:r>
          </a:p>
        </p:txBody>
      </p:sp>
      <p:sp>
        <p:nvSpPr>
          <p:cNvPr id="3" name="2 Marcador de contenido"/>
          <p:cNvSpPr>
            <a:spLocks noGrp="1"/>
          </p:cNvSpPr>
          <p:nvPr>
            <p:ph idx="1"/>
          </p:nvPr>
        </p:nvSpPr>
        <p:spPr/>
        <p:txBody>
          <a:bodyPr>
            <a:normAutofit/>
          </a:bodyPr>
          <a:lstStyle/>
          <a:p>
            <a:pPr algn="just"/>
            <a:r>
              <a:rPr lang="es-ES" dirty="0"/>
              <a:t>Integridad de dominio: limita el conjunto de datos posibles en una columna</a:t>
            </a:r>
          </a:p>
          <a:p>
            <a:pPr algn="just"/>
            <a:endParaRPr lang="es-ES" dirty="0"/>
          </a:p>
          <a:p>
            <a:pPr algn="just"/>
            <a:r>
              <a:rPr lang="es-ES" dirty="0"/>
              <a:t>Integridad de entidad: cada fila debe ser </a:t>
            </a:r>
            <a:r>
              <a:rPr lang="es-ES" dirty="0" smtClean="0"/>
              <a:t>única</a:t>
            </a:r>
            <a:endParaRPr lang="es-ES" dirty="0"/>
          </a:p>
          <a:p>
            <a:pPr algn="just"/>
            <a:endParaRPr lang="es-ES" dirty="0"/>
          </a:p>
          <a:p>
            <a:pPr algn="just"/>
            <a:r>
              <a:rPr lang="es-ES" dirty="0"/>
              <a:t>Integridad referencial: cuando un atributo hace referencia </a:t>
            </a:r>
            <a:r>
              <a:rPr lang="es-ES"/>
              <a:t>a </a:t>
            </a:r>
            <a:r>
              <a:rPr lang="es-ES" smtClean="0"/>
              <a:t>otro </a:t>
            </a:r>
            <a:r>
              <a:rPr lang="es-ES" dirty="0"/>
              <a:t>de otra tabla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solidFill>
                  <a:srgbClr val="00B050"/>
                </a:solidFill>
              </a:rPr>
              <a:t>Tabla o relación</a:t>
            </a:r>
          </a:p>
        </p:txBody>
      </p:sp>
      <p:sp>
        <p:nvSpPr>
          <p:cNvPr id="3" name="2 Marcador de contenido"/>
          <p:cNvSpPr>
            <a:spLocks noGrp="1"/>
          </p:cNvSpPr>
          <p:nvPr>
            <p:ph idx="1"/>
          </p:nvPr>
        </p:nvSpPr>
        <p:spPr>
          <a:xfrm>
            <a:off x="457200" y="1600201"/>
            <a:ext cx="7467600" cy="685792"/>
          </a:xfrm>
        </p:spPr>
        <p:txBody>
          <a:bodyPr/>
          <a:lstStyle/>
          <a:p>
            <a:r>
              <a:rPr lang="es-ES" dirty="0"/>
              <a:t>Es frecuente llamar relación a una tabla</a:t>
            </a:r>
          </a:p>
          <a:p>
            <a:endParaRPr lang="es-ES" dirty="0"/>
          </a:p>
        </p:txBody>
      </p:sp>
      <p:sp>
        <p:nvSpPr>
          <p:cNvPr id="4" name="3 CuadroTexto"/>
          <p:cNvSpPr txBox="1"/>
          <p:nvPr/>
        </p:nvSpPr>
        <p:spPr>
          <a:xfrm>
            <a:off x="1000100" y="2643182"/>
            <a:ext cx="7676356" cy="2677656"/>
          </a:xfrm>
          <a:prstGeom prst="rect">
            <a:avLst/>
          </a:prstGeom>
          <a:noFill/>
        </p:spPr>
        <p:txBody>
          <a:bodyPr wrap="square" rtlCol="0">
            <a:spAutoFit/>
          </a:bodyPr>
          <a:lstStyle/>
          <a:p>
            <a:r>
              <a:rPr lang="es-ES" sz="2800" dirty="0"/>
              <a:t>Para llamar relación a una tabla debe cumplir con ciertos criterios </a:t>
            </a:r>
            <a:r>
              <a:rPr lang="es-ES" sz="2800" dirty="0" smtClean="0"/>
              <a:t>:</a:t>
            </a:r>
            <a:endParaRPr lang="es-ES" sz="2800" dirty="0"/>
          </a:p>
          <a:p>
            <a:endParaRPr lang="es-ES" sz="2800" dirty="0"/>
          </a:p>
          <a:p>
            <a:pPr marL="971550" lvl="1" indent="-514350">
              <a:buFont typeface="+mj-lt"/>
              <a:buAutoNum type="arabicPeriod"/>
            </a:pPr>
            <a:r>
              <a:rPr lang="es-ES" sz="2800" dirty="0" smtClean="0">
                <a:solidFill>
                  <a:srgbClr val="0070C0"/>
                </a:solidFill>
              </a:rPr>
              <a:t>Debe </a:t>
            </a:r>
            <a:r>
              <a:rPr lang="es-ES" sz="2800" dirty="0">
                <a:solidFill>
                  <a:srgbClr val="0070C0"/>
                </a:solidFill>
              </a:rPr>
              <a:t>tener nombre único</a:t>
            </a:r>
          </a:p>
          <a:p>
            <a:pPr marL="971550" lvl="1" indent="-514350">
              <a:buFont typeface="+mj-lt"/>
              <a:buAutoNum type="arabicPeriod"/>
            </a:pPr>
            <a:r>
              <a:rPr lang="es-ES" sz="2800" dirty="0">
                <a:solidFill>
                  <a:srgbClr val="0070C0"/>
                </a:solidFill>
              </a:rPr>
              <a:t>No debe haber filas iguales</a:t>
            </a:r>
          </a:p>
          <a:p>
            <a:endParaRPr lang="es-E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solidFill>
                  <a:srgbClr val="00B050"/>
                </a:solidFill>
              </a:rPr>
              <a:t>Formas Normales</a:t>
            </a:r>
          </a:p>
        </p:txBody>
      </p:sp>
      <p:pic>
        <p:nvPicPr>
          <p:cNvPr id="4" name="3 Marcador de contenido" descr="800px-FormasNormalesBD.png"/>
          <p:cNvPicPr>
            <a:picLocks noGrp="1" noChangeAspect="1"/>
          </p:cNvPicPr>
          <p:nvPr>
            <p:ph idx="1"/>
          </p:nvPr>
        </p:nvPicPr>
        <p:blipFill>
          <a:blip r:embed="rId2" cstate="print"/>
          <a:stretch>
            <a:fillRect/>
          </a:stretch>
        </p:blipFill>
        <p:spPr>
          <a:xfrm>
            <a:off x="1671108" y="1825625"/>
            <a:ext cx="5801784" cy="4351338"/>
          </a:xfr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B050"/>
                </a:solidFill>
              </a:rPr>
              <a:t>Primera forma normal (1FN)</a:t>
            </a:r>
          </a:p>
        </p:txBody>
      </p:sp>
      <p:sp>
        <p:nvSpPr>
          <p:cNvPr id="4" name="3 Rectángulo"/>
          <p:cNvSpPr/>
          <p:nvPr/>
        </p:nvSpPr>
        <p:spPr>
          <a:xfrm>
            <a:off x="285720" y="1673826"/>
            <a:ext cx="8858280" cy="3693319"/>
          </a:xfrm>
          <a:prstGeom prst="rect">
            <a:avLst/>
          </a:prstGeom>
        </p:spPr>
        <p:txBody>
          <a:bodyPr wrap="square">
            <a:spAutoFit/>
          </a:bodyPr>
          <a:lstStyle/>
          <a:p>
            <a:r>
              <a:rPr lang="es-ES" b="1" dirty="0">
                <a:solidFill>
                  <a:srgbClr val="0070C0"/>
                </a:solidFill>
              </a:rPr>
              <a:t>Una tabla esta en primera forma normal si cumple las siguientes restricciones</a:t>
            </a:r>
            <a:r>
              <a:rPr lang="es-ES" dirty="0">
                <a:solidFill>
                  <a:srgbClr val="0070C0"/>
                </a:solidFill>
              </a:rPr>
              <a:t>:  </a:t>
            </a:r>
          </a:p>
          <a:p>
            <a:endParaRPr lang="es-ES" dirty="0"/>
          </a:p>
          <a:p>
            <a:pPr>
              <a:lnSpc>
                <a:spcPct val="150000"/>
              </a:lnSpc>
            </a:pPr>
            <a:r>
              <a:rPr lang="es-ES" dirty="0" smtClean="0"/>
              <a:t>Los </a:t>
            </a:r>
            <a:r>
              <a:rPr lang="es-ES" dirty="0"/>
              <a:t>atributos deben ser </a:t>
            </a:r>
            <a:r>
              <a:rPr lang="es-ES" dirty="0">
                <a:solidFill>
                  <a:srgbClr val="FFFF00"/>
                </a:solidFill>
              </a:rPr>
              <a:t>atómicos </a:t>
            </a:r>
            <a:r>
              <a:rPr lang="es-ES" dirty="0" smtClean="0"/>
              <a:t>.</a:t>
            </a:r>
            <a:endParaRPr lang="es-ES" dirty="0"/>
          </a:p>
          <a:p>
            <a:pPr marL="742950" lvl="1" indent="-285750">
              <a:lnSpc>
                <a:spcPct val="150000"/>
              </a:lnSpc>
              <a:buFont typeface="Courier New" panose="02070309020205020404" pitchFamily="49" charset="0"/>
              <a:buChar char="o"/>
            </a:pPr>
            <a:r>
              <a:rPr lang="es-ES" dirty="0" smtClean="0"/>
              <a:t> </a:t>
            </a:r>
            <a:r>
              <a:rPr lang="es-ES" dirty="0"/>
              <a:t>Cada columna debe tener un nombre único. </a:t>
            </a:r>
          </a:p>
          <a:p>
            <a:pPr marL="742950" lvl="1" indent="-285750">
              <a:lnSpc>
                <a:spcPct val="150000"/>
              </a:lnSpc>
              <a:buFont typeface="Courier New" panose="02070309020205020404" pitchFamily="49" charset="0"/>
              <a:buChar char="o"/>
            </a:pPr>
            <a:r>
              <a:rPr lang="es-ES" dirty="0" smtClean="0"/>
              <a:t> </a:t>
            </a:r>
            <a:r>
              <a:rPr lang="es-ES" dirty="0"/>
              <a:t>Dos filas o </a:t>
            </a:r>
            <a:r>
              <a:rPr lang="es-ES" dirty="0" err="1"/>
              <a:t>tuplas</a:t>
            </a:r>
            <a:r>
              <a:rPr lang="es-ES" dirty="0"/>
              <a:t> no pueden ser iguales. </a:t>
            </a:r>
            <a:endParaRPr lang="es-ES" dirty="0" smtClean="0"/>
          </a:p>
          <a:p>
            <a:pPr marL="742950" lvl="1" indent="-285750">
              <a:lnSpc>
                <a:spcPct val="150000"/>
              </a:lnSpc>
              <a:buFont typeface="Courier New" panose="02070309020205020404" pitchFamily="49" charset="0"/>
              <a:buChar char="o"/>
            </a:pPr>
            <a:r>
              <a:rPr lang="es-ES" dirty="0" smtClean="0"/>
              <a:t> </a:t>
            </a:r>
            <a:r>
              <a:rPr lang="es-ES" dirty="0"/>
              <a:t>El orden no debe ser relevante</a:t>
            </a:r>
          </a:p>
          <a:p>
            <a:endParaRPr lang="es-ES" dirty="0"/>
          </a:p>
          <a:p>
            <a:r>
              <a:rPr lang="es-ES" dirty="0"/>
              <a:t>Solución:</a:t>
            </a:r>
          </a:p>
          <a:p>
            <a:r>
              <a:rPr lang="es-ES" dirty="0"/>
              <a:t>Se establece una clave primaria</a:t>
            </a:r>
          </a:p>
          <a:p>
            <a:endParaRPr lang="es-ES" dirty="0"/>
          </a:p>
          <a:p>
            <a:endParaRPr lang="es-E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28650" y="365127"/>
            <a:ext cx="7886700" cy="992172"/>
          </a:xfrm>
        </p:spPr>
        <p:txBody>
          <a:bodyPr>
            <a:normAutofit/>
          </a:bodyPr>
          <a:lstStyle/>
          <a:p>
            <a:r>
              <a:rPr lang="es-ES" dirty="0" smtClean="0">
                <a:solidFill>
                  <a:srgbClr val="00B050"/>
                </a:solidFill>
              </a:rPr>
              <a:t>Primera </a:t>
            </a:r>
            <a:r>
              <a:rPr lang="es-ES" dirty="0">
                <a:solidFill>
                  <a:srgbClr val="00B050"/>
                </a:solidFill>
              </a:rPr>
              <a:t>forma normal (1FN)</a:t>
            </a:r>
          </a:p>
        </p:txBody>
      </p:sp>
      <p:sp>
        <p:nvSpPr>
          <p:cNvPr id="4" name="3 Rectángulo"/>
          <p:cNvSpPr/>
          <p:nvPr/>
        </p:nvSpPr>
        <p:spPr>
          <a:xfrm>
            <a:off x="571472" y="1357298"/>
            <a:ext cx="8001040" cy="646331"/>
          </a:xfrm>
          <a:prstGeom prst="rect">
            <a:avLst/>
          </a:prstGeom>
        </p:spPr>
        <p:txBody>
          <a:bodyPr wrap="square">
            <a:spAutoFit/>
          </a:bodyPr>
          <a:lstStyle/>
          <a:p>
            <a:r>
              <a:rPr lang="es-ES" dirty="0"/>
              <a:t>Una tabla se encuentra en primera forma normal si impide que un atributo de una </a:t>
            </a:r>
            <a:r>
              <a:rPr lang="es-ES" dirty="0" err="1"/>
              <a:t>tupla</a:t>
            </a:r>
            <a:r>
              <a:rPr lang="es-ES" dirty="0"/>
              <a:t> pueda tomar más de un valor. La tabla:</a:t>
            </a:r>
          </a:p>
        </p:txBody>
      </p:sp>
      <p:sp>
        <p:nvSpPr>
          <p:cNvPr id="5" name="4 Rectángulo"/>
          <p:cNvSpPr/>
          <p:nvPr/>
        </p:nvSpPr>
        <p:spPr>
          <a:xfrm>
            <a:off x="1071538" y="2285992"/>
            <a:ext cx="6668814" cy="1200329"/>
          </a:xfrm>
          <a:prstGeom prst="rect">
            <a:avLst/>
          </a:prstGeom>
        </p:spPr>
        <p:txBody>
          <a:bodyPr wrap="square">
            <a:spAutoFit/>
          </a:bodyPr>
          <a:lstStyle/>
          <a:p>
            <a:r>
              <a:rPr lang="es-ES" b="1" dirty="0"/>
              <a:t>             TRABAJADOR</a:t>
            </a:r>
          </a:p>
          <a:p>
            <a:r>
              <a:rPr lang="es-ES" b="1" dirty="0"/>
              <a:t>DNI              Nombre       Departamento</a:t>
            </a:r>
          </a:p>
          <a:p>
            <a:r>
              <a:rPr lang="es-ES" dirty="0"/>
              <a:t>12121212A    Andrés       Mantenimiento</a:t>
            </a:r>
          </a:p>
          <a:p>
            <a:r>
              <a:rPr lang="es-ES" dirty="0"/>
              <a:t>12345345G   Andrea       </a:t>
            </a:r>
            <a:r>
              <a:rPr lang="es-ES" dirty="0" smtClean="0"/>
              <a:t>Dirección, </a:t>
            </a:r>
            <a:r>
              <a:rPr lang="es-ES" dirty="0"/>
              <a:t>Gestión</a:t>
            </a:r>
          </a:p>
        </p:txBody>
      </p:sp>
      <p:sp>
        <p:nvSpPr>
          <p:cNvPr id="6" name="5 Rectángulo"/>
          <p:cNvSpPr/>
          <p:nvPr/>
        </p:nvSpPr>
        <p:spPr>
          <a:xfrm>
            <a:off x="628650" y="3571876"/>
            <a:ext cx="7943862" cy="923330"/>
          </a:xfrm>
          <a:prstGeom prst="rect">
            <a:avLst/>
          </a:prstGeom>
        </p:spPr>
        <p:txBody>
          <a:bodyPr wrap="square">
            <a:spAutoFit/>
          </a:bodyPr>
          <a:lstStyle/>
          <a:p>
            <a:r>
              <a:rPr lang="es-ES" dirty="0"/>
              <a:t>Visualmente es un tabla, pero no una tabla relacional (lo que en terminología de bases de datos relacionales se llama </a:t>
            </a:r>
            <a:r>
              <a:rPr lang="es-ES" b="1" dirty="0"/>
              <a:t>relación</a:t>
            </a:r>
            <a:r>
              <a:rPr lang="es-ES" dirty="0"/>
              <a:t>). No cumple la primera forma normal. Lo cumpliría si:</a:t>
            </a:r>
          </a:p>
        </p:txBody>
      </p:sp>
      <p:sp>
        <p:nvSpPr>
          <p:cNvPr id="7" name="6 Rectángulo"/>
          <p:cNvSpPr/>
          <p:nvPr/>
        </p:nvSpPr>
        <p:spPr>
          <a:xfrm>
            <a:off x="1168056" y="4586125"/>
            <a:ext cx="6572296" cy="1477328"/>
          </a:xfrm>
          <a:prstGeom prst="rect">
            <a:avLst/>
          </a:prstGeom>
        </p:spPr>
        <p:txBody>
          <a:bodyPr wrap="square">
            <a:spAutoFit/>
          </a:bodyPr>
          <a:lstStyle/>
          <a:p>
            <a:r>
              <a:rPr lang="es-ES" dirty="0"/>
              <a:t>                   TRABAJADOR</a:t>
            </a:r>
          </a:p>
          <a:p>
            <a:r>
              <a:rPr lang="es-ES" b="1" dirty="0"/>
              <a:t>DNI                       Nombre     Departamento</a:t>
            </a:r>
          </a:p>
          <a:p>
            <a:r>
              <a:rPr lang="es-ES" dirty="0"/>
              <a:t>12121212A           Andrés       Mantenimiento</a:t>
            </a:r>
          </a:p>
          <a:p>
            <a:r>
              <a:rPr lang="es-ES" dirty="0"/>
              <a:t>12345345G          Andrea       Dirección</a:t>
            </a:r>
          </a:p>
          <a:p>
            <a:r>
              <a:rPr lang="es-ES" dirty="0"/>
              <a:t>12345345G          Andrea       Gestión</a:t>
            </a:r>
          </a:p>
        </p:txBody>
      </p:sp>
      <p:sp>
        <p:nvSpPr>
          <p:cNvPr id="8" name="7 Rectángulo"/>
          <p:cNvSpPr/>
          <p:nvPr/>
        </p:nvSpPr>
        <p:spPr>
          <a:xfrm>
            <a:off x="628650" y="6143644"/>
            <a:ext cx="7416614" cy="369332"/>
          </a:xfrm>
          <a:prstGeom prst="rect">
            <a:avLst/>
          </a:prstGeom>
        </p:spPr>
        <p:txBody>
          <a:bodyPr wrap="square">
            <a:spAutoFit/>
          </a:bodyPr>
          <a:lstStyle/>
          <a:p>
            <a:r>
              <a:rPr lang="es-ES" dirty="0"/>
              <a:t>Esa tabla sí esta en primera forma normal.</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365127"/>
            <a:ext cx="8086754" cy="831626"/>
          </a:xfrm>
        </p:spPr>
        <p:txBody>
          <a:bodyPr>
            <a:normAutofit/>
          </a:bodyPr>
          <a:lstStyle/>
          <a:p>
            <a:r>
              <a:rPr lang="es-ES" dirty="0">
                <a:solidFill>
                  <a:srgbClr val="00B050"/>
                </a:solidFill>
              </a:rPr>
              <a:t>Segunda forma normal (2FN)</a:t>
            </a:r>
          </a:p>
        </p:txBody>
      </p:sp>
      <p:sp>
        <p:nvSpPr>
          <p:cNvPr id="4" name="3 Rectángulo"/>
          <p:cNvSpPr/>
          <p:nvPr/>
        </p:nvSpPr>
        <p:spPr>
          <a:xfrm>
            <a:off x="428596" y="1643050"/>
            <a:ext cx="8463884" cy="1754326"/>
          </a:xfrm>
          <a:prstGeom prst="rect">
            <a:avLst/>
          </a:prstGeom>
        </p:spPr>
        <p:txBody>
          <a:bodyPr wrap="square">
            <a:spAutoFit/>
          </a:bodyPr>
          <a:lstStyle/>
          <a:p>
            <a:pPr algn="just"/>
            <a:r>
              <a:rPr lang="es-ES" dirty="0" smtClean="0"/>
              <a:t>Una </a:t>
            </a:r>
            <a:r>
              <a:rPr lang="es-ES" dirty="0"/>
              <a:t>relación está en 2FN si está en 1FN y si los atributos que no forman parte de ninguna clave dependen de forma completa de la clave principal. Es decir que no existen dependencias parciales. (Todos los atributos que no son clave principal deben depender únicamente de la clave principal), entonces esa parte de la clave y esos atributos formarán otra tabla.</a:t>
            </a:r>
          </a:p>
          <a:p>
            <a:pPr algn="just"/>
            <a:r>
              <a:rPr lang="es-ES" dirty="0"/>
              <a:t>Ejemplo:</a:t>
            </a:r>
          </a:p>
        </p:txBody>
      </p:sp>
      <p:sp>
        <p:nvSpPr>
          <p:cNvPr id="5" name="4 Rectángulo"/>
          <p:cNvSpPr/>
          <p:nvPr/>
        </p:nvSpPr>
        <p:spPr>
          <a:xfrm>
            <a:off x="428596" y="3429000"/>
            <a:ext cx="8463884" cy="2031325"/>
          </a:xfrm>
          <a:prstGeom prst="rect">
            <a:avLst/>
          </a:prstGeom>
        </p:spPr>
        <p:txBody>
          <a:bodyPr wrap="square">
            <a:spAutoFit/>
          </a:bodyPr>
          <a:lstStyle/>
          <a:p>
            <a:r>
              <a:rPr lang="es-ES" b="1" dirty="0"/>
              <a:t>                     ALUMNOS</a:t>
            </a:r>
          </a:p>
          <a:p>
            <a:r>
              <a:rPr lang="es-ES" b="1" dirty="0"/>
              <a:t>DNI             </a:t>
            </a:r>
            <a:r>
              <a:rPr lang="es-ES" b="1" dirty="0" smtClean="0"/>
              <a:t> </a:t>
            </a:r>
            <a:r>
              <a:rPr lang="es-ES" b="1" dirty="0" err="1" smtClean="0"/>
              <a:t>CodCurso</a:t>
            </a:r>
            <a:r>
              <a:rPr lang="es-ES" b="1" dirty="0" smtClean="0"/>
              <a:t>    </a:t>
            </a:r>
            <a:r>
              <a:rPr lang="es-ES" b="1" dirty="0"/>
              <a:t>Nombre       Apellido1        Nota</a:t>
            </a:r>
          </a:p>
          <a:p>
            <a:r>
              <a:rPr lang="pt-BR" dirty="0"/>
              <a:t>12121219A        34           Pedro          </a:t>
            </a:r>
            <a:r>
              <a:rPr lang="pt-BR" dirty="0" err="1"/>
              <a:t>Valiente</a:t>
            </a:r>
            <a:r>
              <a:rPr lang="pt-BR" dirty="0"/>
              <a:t>             9</a:t>
            </a:r>
          </a:p>
          <a:p>
            <a:r>
              <a:rPr lang="pt-BR" dirty="0"/>
              <a:t>12121219A        25           Pedro         </a:t>
            </a:r>
            <a:r>
              <a:rPr lang="pt-BR" dirty="0" err="1"/>
              <a:t>Valiente</a:t>
            </a:r>
            <a:r>
              <a:rPr lang="pt-BR" dirty="0"/>
              <a:t>              8</a:t>
            </a:r>
          </a:p>
          <a:p>
            <a:r>
              <a:rPr lang="pt-BR" dirty="0"/>
              <a:t>3457775G       </a:t>
            </a:r>
            <a:r>
              <a:rPr lang="pt-BR" dirty="0" smtClean="0"/>
              <a:t>   </a:t>
            </a:r>
            <a:r>
              <a:rPr lang="pt-BR" dirty="0"/>
              <a:t>34            Ana            Fernández       </a:t>
            </a:r>
            <a:r>
              <a:rPr lang="pt-BR" dirty="0" smtClean="0"/>
              <a:t>   </a:t>
            </a:r>
            <a:r>
              <a:rPr lang="pt-BR" dirty="0"/>
              <a:t>6</a:t>
            </a:r>
          </a:p>
          <a:p>
            <a:r>
              <a:rPr lang="es-ES" dirty="0"/>
              <a:t>5674378J         </a:t>
            </a:r>
            <a:r>
              <a:rPr lang="es-ES" dirty="0" smtClean="0"/>
              <a:t>  </a:t>
            </a:r>
            <a:r>
              <a:rPr lang="es-ES" dirty="0"/>
              <a:t>25            Sara           Crespo              </a:t>
            </a:r>
            <a:r>
              <a:rPr lang="es-ES" dirty="0" smtClean="0"/>
              <a:t>   7</a:t>
            </a:r>
            <a:endParaRPr lang="es-ES" dirty="0"/>
          </a:p>
          <a:p>
            <a:r>
              <a:rPr lang="es-ES" dirty="0" smtClean="0"/>
              <a:t>5674378J           34            </a:t>
            </a:r>
            <a:r>
              <a:rPr lang="es-ES" dirty="0"/>
              <a:t>Sara           Crespo              </a:t>
            </a:r>
            <a:r>
              <a:rPr lang="es-ES" dirty="0" smtClean="0"/>
              <a:t>   6</a:t>
            </a:r>
            <a:endParaRPr lang="es-ES" dirty="0"/>
          </a:p>
        </p:txBody>
      </p:sp>
      <p:sp>
        <p:nvSpPr>
          <p:cNvPr id="6" name="5 Rectángulo"/>
          <p:cNvSpPr/>
          <p:nvPr/>
        </p:nvSpPr>
        <p:spPr>
          <a:xfrm>
            <a:off x="285720" y="5657671"/>
            <a:ext cx="8358214" cy="1200329"/>
          </a:xfrm>
          <a:prstGeom prst="rect">
            <a:avLst/>
          </a:prstGeom>
        </p:spPr>
        <p:txBody>
          <a:bodyPr wrap="square">
            <a:spAutoFit/>
          </a:bodyPr>
          <a:lstStyle/>
          <a:p>
            <a:r>
              <a:rPr lang="es-ES" dirty="0"/>
              <a:t>Suponiendo que el DNI y el número de curso formen una clave principal para esta tabla, sólo la nota tiene dependencia funcional completa. El nombre y los apellidos dependen de forma completa del DNI. La tabla no es 2FN, para arreglarlo:</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B050"/>
                </a:solidFill>
              </a:rPr>
              <a:t>Segunda forma normal (2FN)</a:t>
            </a:r>
          </a:p>
        </p:txBody>
      </p:sp>
      <p:sp>
        <p:nvSpPr>
          <p:cNvPr id="4" name="3 Rectángulo"/>
          <p:cNvSpPr/>
          <p:nvPr/>
        </p:nvSpPr>
        <p:spPr>
          <a:xfrm>
            <a:off x="1500166" y="2071678"/>
            <a:ext cx="4572000" cy="1477328"/>
          </a:xfrm>
          <a:prstGeom prst="rect">
            <a:avLst/>
          </a:prstGeom>
        </p:spPr>
        <p:txBody>
          <a:bodyPr>
            <a:spAutoFit/>
          </a:bodyPr>
          <a:lstStyle/>
          <a:p>
            <a:r>
              <a:rPr lang="es-ES" b="1" dirty="0"/>
              <a:t>                    </a:t>
            </a:r>
            <a:r>
              <a:rPr lang="es-ES" b="1" dirty="0" smtClean="0"/>
              <a:t>      ALUMNOS</a:t>
            </a:r>
            <a:endParaRPr lang="es-ES" b="1" dirty="0"/>
          </a:p>
          <a:p>
            <a:r>
              <a:rPr lang="es-ES" b="1" dirty="0"/>
              <a:t>DNI                    Nombre      Apellido1</a:t>
            </a:r>
          </a:p>
          <a:p>
            <a:r>
              <a:rPr lang="es-ES" dirty="0"/>
              <a:t>12121219A         Pedro         Valiente</a:t>
            </a:r>
          </a:p>
          <a:p>
            <a:r>
              <a:rPr lang="es-ES" dirty="0"/>
              <a:t>3457775G           Ana            Fernández</a:t>
            </a:r>
          </a:p>
          <a:p>
            <a:r>
              <a:rPr lang="es-ES" dirty="0"/>
              <a:t>5674378J            Sara           Crespo</a:t>
            </a:r>
          </a:p>
        </p:txBody>
      </p:sp>
      <p:sp>
        <p:nvSpPr>
          <p:cNvPr id="5" name="4 Rectángulo"/>
          <p:cNvSpPr/>
          <p:nvPr/>
        </p:nvSpPr>
        <p:spPr>
          <a:xfrm>
            <a:off x="1500166" y="3857628"/>
            <a:ext cx="6215106" cy="2031325"/>
          </a:xfrm>
          <a:prstGeom prst="rect">
            <a:avLst/>
          </a:prstGeom>
        </p:spPr>
        <p:txBody>
          <a:bodyPr wrap="square">
            <a:spAutoFit/>
          </a:bodyPr>
          <a:lstStyle/>
          <a:p>
            <a:r>
              <a:rPr lang="es-ES" b="1" dirty="0"/>
              <a:t>                   </a:t>
            </a:r>
            <a:r>
              <a:rPr lang="es-ES" b="1" dirty="0" smtClean="0"/>
              <a:t>         NOTAS</a:t>
            </a:r>
            <a:endParaRPr lang="es-ES" b="1" dirty="0"/>
          </a:p>
          <a:p>
            <a:r>
              <a:rPr lang="es-ES" b="1" dirty="0"/>
              <a:t>DNI               </a:t>
            </a:r>
            <a:r>
              <a:rPr lang="es-ES" b="1" dirty="0" err="1"/>
              <a:t>Cod</a:t>
            </a:r>
            <a:r>
              <a:rPr lang="es-ES" b="1" dirty="0"/>
              <a:t> Curso              Nota</a:t>
            </a:r>
          </a:p>
          <a:p>
            <a:r>
              <a:rPr lang="es-ES" dirty="0"/>
              <a:t>12121219A        34                        9</a:t>
            </a:r>
          </a:p>
          <a:p>
            <a:r>
              <a:rPr lang="es-ES" dirty="0"/>
              <a:t>12121219A        25                        8</a:t>
            </a:r>
          </a:p>
          <a:p>
            <a:r>
              <a:rPr lang="es-ES" dirty="0"/>
              <a:t>3457775G          34                        6</a:t>
            </a:r>
          </a:p>
          <a:p>
            <a:r>
              <a:rPr lang="es-ES" dirty="0"/>
              <a:t>5674378J           25                        7</a:t>
            </a:r>
          </a:p>
          <a:p>
            <a:r>
              <a:rPr lang="es-ES" dirty="0"/>
              <a:t>5674378J           34                         6</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B050"/>
                </a:solidFill>
              </a:rPr>
              <a:t>Tercera forma normal (3FN)</a:t>
            </a:r>
          </a:p>
        </p:txBody>
      </p:sp>
      <p:sp>
        <p:nvSpPr>
          <p:cNvPr id="7" name="6 Rectángulo"/>
          <p:cNvSpPr/>
          <p:nvPr/>
        </p:nvSpPr>
        <p:spPr>
          <a:xfrm>
            <a:off x="571472" y="2143116"/>
            <a:ext cx="8104984" cy="1384995"/>
          </a:xfrm>
          <a:prstGeom prst="rect">
            <a:avLst/>
          </a:prstGeom>
        </p:spPr>
        <p:txBody>
          <a:bodyPr wrap="square">
            <a:spAutoFit/>
          </a:bodyPr>
          <a:lstStyle/>
          <a:p>
            <a:pPr algn="just"/>
            <a:r>
              <a:rPr lang="es-ES" sz="2800" dirty="0"/>
              <a:t>Una relación está en tercera forma normal si está en segunda forma normal y tiene dependencia transitiva (dependencia encadenada).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t>Tercera forma normal (3FN)</a:t>
            </a:r>
          </a:p>
        </p:txBody>
      </p:sp>
      <p:sp>
        <p:nvSpPr>
          <p:cNvPr id="4" name="3 Rectángulo"/>
          <p:cNvSpPr/>
          <p:nvPr/>
        </p:nvSpPr>
        <p:spPr>
          <a:xfrm>
            <a:off x="571472" y="1643050"/>
            <a:ext cx="8176992" cy="923330"/>
          </a:xfrm>
          <a:prstGeom prst="rect">
            <a:avLst/>
          </a:prstGeom>
        </p:spPr>
        <p:txBody>
          <a:bodyPr wrap="square">
            <a:spAutoFit/>
          </a:bodyPr>
          <a:lstStyle/>
          <a:p>
            <a:pPr algn="just"/>
            <a:r>
              <a:rPr lang="es-ES" dirty="0"/>
              <a:t>Ocurre cuando una tabla está en 2FN y además ningún atributo que no sea clave depende transitivamente de las claves de la tabla. Es decir no ocurre cuando algún atributo depende funcionalmente de atributos que no son clave.</a:t>
            </a:r>
          </a:p>
        </p:txBody>
      </p:sp>
      <p:sp>
        <p:nvSpPr>
          <p:cNvPr id="5" name="4 Rectángulo"/>
          <p:cNvSpPr/>
          <p:nvPr/>
        </p:nvSpPr>
        <p:spPr>
          <a:xfrm>
            <a:off x="755576" y="2928934"/>
            <a:ext cx="8245580" cy="2031325"/>
          </a:xfrm>
          <a:prstGeom prst="rect">
            <a:avLst/>
          </a:prstGeom>
        </p:spPr>
        <p:txBody>
          <a:bodyPr wrap="square">
            <a:spAutoFit/>
          </a:bodyPr>
          <a:lstStyle/>
          <a:p>
            <a:r>
              <a:rPr lang="es-ES" b="1" dirty="0"/>
              <a:t>                                          ALUMNOS</a:t>
            </a:r>
          </a:p>
          <a:p>
            <a:r>
              <a:rPr lang="es-ES" b="1" dirty="0"/>
              <a:t>DNI                    Nombre        Apellido1   </a:t>
            </a:r>
            <a:r>
              <a:rPr lang="es-ES" b="1" dirty="0" smtClean="0"/>
              <a:t>  </a:t>
            </a:r>
            <a:r>
              <a:rPr lang="es-ES" b="1" dirty="0" err="1" smtClean="0"/>
              <a:t>Cod</a:t>
            </a:r>
            <a:r>
              <a:rPr lang="es-ES" b="1" dirty="0" smtClean="0"/>
              <a:t> </a:t>
            </a:r>
            <a:r>
              <a:rPr lang="es-ES" b="1" dirty="0"/>
              <a:t>Provincia       </a:t>
            </a:r>
            <a:r>
              <a:rPr lang="es-ES" b="1" dirty="0" err="1"/>
              <a:t>Provincia</a:t>
            </a:r>
            <a:endParaRPr lang="es-ES" b="1" dirty="0"/>
          </a:p>
          <a:p>
            <a:r>
              <a:rPr lang="es-ES" dirty="0"/>
              <a:t>12121349A        Salvador        Velasco            </a:t>
            </a:r>
            <a:r>
              <a:rPr lang="es-ES" dirty="0" smtClean="0"/>
              <a:t>   34                     </a:t>
            </a:r>
            <a:r>
              <a:rPr lang="es-ES" dirty="0"/>
              <a:t>Palencia</a:t>
            </a:r>
          </a:p>
          <a:p>
            <a:r>
              <a:rPr lang="pt-BR" dirty="0"/>
              <a:t>12121219A         Pedro            </a:t>
            </a:r>
            <a:r>
              <a:rPr lang="pt-BR" dirty="0" err="1"/>
              <a:t>Valiente</a:t>
            </a:r>
            <a:r>
              <a:rPr lang="pt-BR" dirty="0"/>
              <a:t>             </a:t>
            </a:r>
            <a:r>
              <a:rPr lang="pt-BR" dirty="0" smtClean="0"/>
              <a:t> 34                    </a:t>
            </a:r>
            <a:r>
              <a:rPr lang="pt-BR" dirty="0" err="1" smtClean="0"/>
              <a:t>Palencia</a:t>
            </a:r>
            <a:endParaRPr lang="pt-BR" dirty="0"/>
          </a:p>
          <a:p>
            <a:r>
              <a:rPr lang="es-ES" dirty="0"/>
              <a:t>3457775G         </a:t>
            </a:r>
            <a:r>
              <a:rPr lang="es-ES" dirty="0" smtClean="0"/>
              <a:t>  Ana                Fernández          47                   Valladolid</a:t>
            </a:r>
            <a:endParaRPr lang="es-ES" dirty="0"/>
          </a:p>
          <a:p>
            <a:r>
              <a:rPr lang="es-ES" dirty="0"/>
              <a:t>5674378J           </a:t>
            </a:r>
            <a:r>
              <a:rPr lang="es-ES" dirty="0" smtClean="0"/>
              <a:t> Sara                Crespo                47                   </a:t>
            </a:r>
            <a:r>
              <a:rPr lang="es-ES" dirty="0"/>
              <a:t>Valladolid</a:t>
            </a:r>
          </a:p>
          <a:p>
            <a:r>
              <a:rPr lang="pt-BR" dirty="0"/>
              <a:t>3456858S           Marina           </a:t>
            </a:r>
            <a:r>
              <a:rPr lang="pt-BR" dirty="0" err="1"/>
              <a:t>Serrat</a:t>
            </a:r>
            <a:r>
              <a:rPr lang="pt-BR" dirty="0"/>
              <a:t>               </a:t>
            </a:r>
            <a:r>
              <a:rPr lang="pt-BR" dirty="0" smtClean="0"/>
              <a:t>   08                   Barcelona</a:t>
            </a:r>
            <a:endParaRPr lang="es-ES" dirty="0"/>
          </a:p>
        </p:txBody>
      </p:sp>
      <p:sp>
        <p:nvSpPr>
          <p:cNvPr id="6" name="5 Rectángulo"/>
          <p:cNvSpPr/>
          <p:nvPr/>
        </p:nvSpPr>
        <p:spPr>
          <a:xfrm>
            <a:off x="214282" y="5143512"/>
            <a:ext cx="8534182" cy="646331"/>
          </a:xfrm>
          <a:prstGeom prst="rect">
            <a:avLst/>
          </a:prstGeom>
        </p:spPr>
        <p:txBody>
          <a:bodyPr wrap="square">
            <a:spAutoFit/>
          </a:bodyPr>
          <a:lstStyle/>
          <a:p>
            <a:r>
              <a:rPr lang="es-ES" dirty="0"/>
              <a:t>La Provincia depende funcionalmente del código de provincia, lo que hace que no esté en 3FN. El arreglo sería:</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628650" y="365127"/>
            <a:ext cx="7886700" cy="1063610"/>
          </a:xfrm>
        </p:spPr>
        <p:txBody>
          <a:bodyPr>
            <a:normAutofit/>
          </a:bodyPr>
          <a:lstStyle/>
          <a:p>
            <a:r>
              <a:rPr lang="es-ES" dirty="0">
                <a:solidFill>
                  <a:srgbClr val="00B050"/>
                </a:solidFill>
              </a:rPr>
              <a:t>Tercera forma normal (3FN)</a:t>
            </a:r>
          </a:p>
        </p:txBody>
      </p:sp>
      <p:sp>
        <p:nvSpPr>
          <p:cNvPr id="5" name="4 Rectángulo"/>
          <p:cNvSpPr/>
          <p:nvPr/>
        </p:nvSpPr>
        <p:spPr>
          <a:xfrm>
            <a:off x="1000100" y="1428736"/>
            <a:ext cx="7000924" cy="2031325"/>
          </a:xfrm>
          <a:prstGeom prst="rect">
            <a:avLst/>
          </a:prstGeom>
        </p:spPr>
        <p:txBody>
          <a:bodyPr wrap="square">
            <a:spAutoFit/>
          </a:bodyPr>
          <a:lstStyle/>
          <a:p>
            <a:r>
              <a:rPr lang="es-ES" b="1" dirty="0"/>
              <a:t>                                   ALUMNOS</a:t>
            </a:r>
          </a:p>
          <a:p>
            <a:r>
              <a:rPr lang="es-ES" b="1" dirty="0"/>
              <a:t>DNI                    Nombre             Apellido1      </a:t>
            </a:r>
            <a:r>
              <a:rPr lang="es-ES" b="1" dirty="0" err="1"/>
              <a:t>Cod</a:t>
            </a:r>
            <a:r>
              <a:rPr lang="es-ES" b="1" dirty="0"/>
              <a:t> Provincia</a:t>
            </a:r>
          </a:p>
          <a:p>
            <a:r>
              <a:rPr lang="es-ES" dirty="0"/>
              <a:t>12121349ª         Salvador            Velasco                 34</a:t>
            </a:r>
          </a:p>
          <a:p>
            <a:r>
              <a:rPr lang="es-ES" dirty="0"/>
              <a:t>12121219A         Pedro               Valiente                    34</a:t>
            </a:r>
          </a:p>
          <a:p>
            <a:r>
              <a:rPr lang="es-ES" dirty="0"/>
              <a:t>3457775G           Ana                Fernández               47</a:t>
            </a:r>
          </a:p>
          <a:p>
            <a:r>
              <a:rPr lang="es-ES" dirty="0"/>
              <a:t>5674378J            Sara                Crespo                    47</a:t>
            </a:r>
          </a:p>
          <a:p>
            <a:r>
              <a:rPr lang="es-ES" dirty="0"/>
              <a:t>3456858S           Marina                Serrat                    08</a:t>
            </a:r>
          </a:p>
        </p:txBody>
      </p:sp>
      <p:sp>
        <p:nvSpPr>
          <p:cNvPr id="6" name="5 Rectángulo"/>
          <p:cNvSpPr/>
          <p:nvPr/>
        </p:nvSpPr>
        <p:spPr>
          <a:xfrm>
            <a:off x="1428728" y="3643314"/>
            <a:ext cx="4572000" cy="1477328"/>
          </a:xfrm>
          <a:prstGeom prst="rect">
            <a:avLst/>
          </a:prstGeom>
        </p:spPr>
        <p:txBody>
          <a:bodyPr>
            <a:spAutoFit/>
          </a:bodyPr>
          <a:lstStyle/>
          <a:p>
            <a:r>
              <a:rPr lang="es-ES" b="1" dirty="0"/>
              <a:t>               PROVINCIA</a:t>
            </a:r>
          </a:p>
          <a:p>
            <a:r>
              <a:rPr lang="es-ES" b="1" dirty="0" err="1"/>
              <a:t>Cod</a:t>
            </a:r>
            <a:r>
              <a:rPr lang="es-ES" b="1" dirty="0"/>
              <a:t> Provincia              </a:t>
            </a:r>
            <a:r>
              <a:rPr lang="es-ES" b="1" dirty="0" err="1"/>
              <a:t>Provincia</a:t>
            </a:r>
            <a:endParaRPr lang="es-ES" b="1" dirty="0"/>
          </a:p>
          <a:p>
            <a:r>
              <a:rPr lang="es-ES" dirty="0"/>
              <a:t>34                                  Palencia</a:t>
            </a:r>
          </a:p>
          <a:p>
            <a:r>
              <a:rPr lang="es-ES" dirty="0"/>
              <a:t>47                                  Valladolid</a:t>
            </a:r>
          </a:p>
          <a:p>
            <a:r>
              <a:rPr lang="es-ES" dirty="0"/>
              <a:t>08                                   Barcelona</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2420888"/>
            <a:ext cx="7620000" cy="1143000"/>
          </a:xfrm>
        </p:spPr>
        <p:txBody>
          <a:bodyPr>
            <a:normAutofit fontScale="90000"/>
          </a:bodyPr>
          <a:lstStyle/>
          <a:p>
            <a:pPr algn="ctr"/>
            <a:r>
              <a:rPr lang="es-ES" sz="5400" dirty="0">
                <a:solidFill>
                  <a:srgbClr val="00B050"/>
                </a:solidFill>
              </a:rPr>
              <a:t>Ejemplo de</a:t>
            </a:r>
            <a:br>
              <a:rPr lang="es-ES" sz="5400" dirty="0">
                <a:solidFill>
                  <a:srgbClr val="00B050"/>
                </a:solidFill>
              </a:rPr>
            </a:br>
            <a:r>
              <a:rPr lang="es-ES" sz="5400" dirty="0">
                <a:solidFill>
                  <a:srgbClr val="00B050"/>
                </a:solidFill>
              </a:rPr>
              <a:t>normalización </a:t>
            </a:r>
          </a:p>
        </p:txBody>
      </p:sp>
    </p:spTree>
    <p:extLst>
      <p:ext uri="{BB962C8B-B14F-4D97-AF65-F5344CB8AC3E}">
        <p14:creationId xmlns:p14="http://schemas.microsoft.com/office/powerpoint/2010/main" val="23909719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519249" y="3149782"/>
            <a:ext cx="5359037" cy="9307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350"/>
          </a:p>
        </p:txBody>
      </p:sp>
      <p:pic>
        <p:nvPicPr>
          <p:cNvPr id="2" name="Imagen 1"/>
          <p:cNvPicPr>
            <a:picLocks noChangeAspect="1"/>
          </p:cNvPicPr>
          <p:nvPr/>
        </p:nvPicPr>
        <p:blipFill>
          <a:blip r:embed="rId2"/>
          <a:stretch>
            <a:fillRect/>
          </a:stretch>
        </p:blipFill>
        <p:spPr>
          <a:xfrm>
            <a:off x="238125" y="1052736"/>
            <a:ext cx="8667750" cy="4281264"/>
          </a:xfrm>
          <a:prstGeom prst="rect">
            <a:avLst/>
          </a:prstGeom>
        </p:spPr>
      </p:pic>
    </p:spTree>
    <p:extLst>
      <p:ext uri="{BB962C8B-B14F-4D97-AF65-F5344CB8AC3E}">
        <p14:creationId xmlns:p14="http://schemas.microsoft.com/office/powerpoint/2010/main" val="3458893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08000" y="620688"/>
            <a:ext cx="8384480" cy="4767584"/>
          </a:xfrm>
        </p:spPr>
        <p:txBody>
          <a:bodyPr>
            <a:normAutofit/>
          </a:bodyPr>
          <a:lstStyle/>
          <a:p>
            <a:r>
              <a:rPr lang="es-VE" b="1" u="sng" dirty="0"/>
              <a:t>PRIMERA FORMAL NORMAL (1FN)</a:t>
            </a:r>
            <a:endParaRPr lang="es-AR" dirty="0"/>
          </a:p>
          <a:p>
            <a:pPr algn="just"/>
            <a:r>
              <a:rPr lang="es-VE" dirty="0"/>
              <a:t>Al examinar estos registros, podemos darnos cuenta que contienen un grupo repetido para NUM_ART, NOM_ART, CANT y PRECIO. La 1FN prohíbe los grupos repetidos, por lo tanto tenemos que convertir a la primera forma normal. Los pasos a seguir son: </a:t>
            </a:r>
            <a:endParaRPr lang="es-AR" dirty="0"/>
          </a:p>
          <a:p>
            <a:pPr lvl="0" algn="just"/>
            <a:r>
              <a:rPr lang="es-VE" dirty="0"/>
              <a:t>Tenemos que eliminar los grupos repetidos. </a:t>
            </a:r>
            <a:endParaRPr lang="es-AR" dirty="0"/>
          </a:p>
          <a:p>
            <a:pPr lvl="0" algn="just"/>
            <a:r>
              <a:rPr lang="es-VE" dirty="0"/>
              <a:t>Tenemos que crear una nueva tabla con la PK de la tabla base y el grupo repetido. </a:t>
            </a:r>
            <a:endParaRPr lang="es-AR" dirty="0"/>
          </a:p>
          <a:p>
            <a:pPr algn="just"/>
            <a:endParaRPr lang="es-AR" dirty="0"/>
          </a:p>
          <a:p>
            <a:pPr algn="just"/>
            <a:r>
              <a:rPr lang="es-VE" dirty="0"/>
              <a:t>Los registros quedan ahora conformados en dos tablas que llamaremos ORDENES y ARTICULOS_ORDENES </a:t>
            </a:r>
            <a:br>
              <a:rPr lang="es-VE" dirty="0"/>
            </a:br>
            <a:r>
              <a:rPr lang="es-VE" dirty="0"/>
              <a:t/>
            </a:r>
            <a:br>
              <a:rPr lang="es-VE" dirty="0"/>
            </a:br>
            <a:r>
              <a:rPr lang="es-VE" b="1" i="1" dirty="0"/>
              <a:t>ordenes </a:t>
            </a:r>
            <a:r>
              <a:rPr lang="es-VE" dirty="0"/>
              <a:t>(</a:t>
            </a:r>
            <a:r>
              <a:rPr lang="es-VE" dirty="0" err="1"/>
              <a:t>id_orden</a:t>
            </a:r>
            <a:r>
              <a:rPr lang="es-VE" dirty="0"/>
              <a:t>, fecha, </a:t>
            </a:r>
            <a:r>
              <a:rPr lang="es-VE" dirty="0" err="1"/>
              <a:t>id_cliente</a:t>
            </a:r>
            <a:r>
              <a:rPr lang="es-VE" dirty="0"/>
              <a:t>, </a:t>
            </a:r>
            <a:r>
              <a:rPr lang="es-VE" dirty="0" err="1"/>
              <a:t>nom_cliente</a:t>
            </a:r>
            <a:r>
              <a:rPr lang="es-VE" dirty="0"/>
              <a:t>, estado)</a:t>
            </a:r>
            <a:endParaRPr lang="es-AR" dirty="0"/>
          </a:p>
          <a:p>
            <a:pPr algn="just"/>
            <a:r>
              <a:rPr lang="en-US" b="1" i="1" dirty="0" err="1"/>
              <a:t>Articulos_ordenes</a:t>
            </a:r>
            <a:r>
              <a:rPr lang="en-US" dirty="0"/>
              <a:t> (</a:t>
            </a:r>
            <a:r>
              <a:rPr lang="en-US" dirty="0" err="1"/>
              <a:t>id_orden</a:t>
            </a:r>
            <a:r>
              <a:rPr lang="en-US" dirty="0"/>
              <a:t>, </a:t>
            </a:r>
            <a:r>
              <a:rPr lang="en-US" dirty="0" err="1"/>
              <a:t>num_art</a:t>
            </a:r>
            <a:r>
              <a:rPr lang="en-US" dirty="0"/>
              <a:t>, </a:t>
            </a:r>
            <a:r>
              <a:rPr lang="en-US" dirty="0" err="1"/>
              <a:t>nom_art</a:t>
            </a:r>
            <a:r>
              <a:rPr lang="en-US" dirty="0"/>
              <a:t>, cant, </a:t>
            </a:r>
            <a:r>
              <a:rPr lang="en-US" dirty="0" err="1"/>
              <a:t>precio</a:t>
            </a:r>
            <a:r>
              <a:rPr lang="en-US" dirty="0"/>
              <a:t>)</a:t>
            </a:r>
            <a:endParaRPr lang="es-AR" dirty="0"/>
          </a:p>
          <a:p>
            <a:pPr algn="just"/>
            <a:endParaRPr lang="es-AR" dirty="0"/>
          </a:p>
        </p:txBody>
      </p:sp>
    </p:spTree>
    <p:extLst>
      <p:ext uri="{BB962C8B-B14F-4D97-AF65-F5344CB8AC3E}">
        <p14:creationId xmlns:p14="http://schemas.microsoft.com/office/powerpoint/2010/main" val="14724671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p:cNvPicPr>
            <a:picLocks noGrp="1" noChangeAspect="1"/>
          </p:cNvPicPr>
          <p:nvPr>
            <p:ph idx="1"/>
          </p:nvPr>
        </p:nvPicPr>
        <p:blipFill>
          <a:blip r:embed="rId2"/>
          <a:stretch>
            <a:fillRect/>
          </a:stretch>
        </p:blipFill>
        <p:spPr>
          <a:xfrm>
            <a:off x="264523" y="857251"/>
            <a:ext cx="8388165" cy="5143499"/>
          </a:xfrm>
          <a:prstGeom prst="rect">
            <a:avLst/>
          </a:prstGeom>
        </p:spPr>
      </p:pic>
    </p:spTree>
    <p:extLst>
      <p:ext uri="{BB962C8B-B14F-4D97-AF65-F5344CB8AC3E}">
        <p14:creationId xmlns:p14="http://schemas.microsoft.com/office/powerpoint/2010/main" val="38526249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95536" y="0"/>
            <a:ext cx="8384481" cy="4156949"/>
          </a:xfrm>
        </p:spPr>
        <p:txBody>
          <a:bodyPr>
            <a:noAutofit/>
          </a:bodyPr>
          <a:lstStyle/>
          <a:p>
            <a:pPr marL="0" indent="0">
              <a:buNone/>
            </a:pPr>
            <a:r>
              <a:rPr lang="es-VE" sz="2000" dirty="0">
                <a:solidFill>
                  <a:srgbClr val="00B050"/>
                </a:solidFill>
              </a:rPr>
              <a:t>SEGUNDA FORMAL NORMAL (2FN)</a:t>
            </a:r>
            <a:endParaRPr lang="es-AR" sz="2000" dirty="0">
              <a:solidFill>
                <a:srgbClr val="00B050"/>
              </a:solidFill>
            </a:endParaRPr>
          </a:p>
          <a:p>
            <a:r>
              <a:rPr lang="es-VE" sz="2000" dirty="0"/>
              <a:t>Ahora procederemos a aplicar la segunda formal normal, es decir, tenemos que eliminar cualquier columna no llave que no dependa de la llave primaria de la tabla. Los pasos a seguir son: </a:t>
            </a:r>
            <a:endParaRPr lang="es-AR" sz="2000" dirty="0"/>
          </a:p>
          <a:p>
            <a:pPr lvl="0"/>
            <a:r>
              <a:rPr lang="es-VE" sz="2000" dirty="0"/>
              <a:t>Determinar cuáles columnas que no son llave no dependen de la llave primaria de la tabla.</a:t>
            </a:r>
            <a:endParaRPr lang="es-AR" sz="2000" dirty="0"/>
          </a:p>
          <a:p>
            <a:pPr lvl="0"/>
            <a:r>
              <a:rPr lang="es-VE" sz="2000" dirty="0"/>
              <a:t>Eliminar esas columnas de la tabla base.</a:t>
            </a:r>
            <a:endParaRPr lang="es-AR" sz="2000" dirty="0"/>
          </a:p>
          <a:p>
            <a:pPr lvl="0"/>
            <a:r>
              <a:rPr lang="es-VE" sz="2000" dirty="0"/>
              <a:t>Crear una segunda tabla con esas columnas y la(s) columna(s) de la PK de la cual dependen. </a:t>
            </a:r>
            <a:endParaRPr lang="es-AR" sz="2000" dirty="0"/>
          </a:p>
          <a:p>
            <a:r>
              <a:rPr lang="es-VE" sz="2000" dirty="0"/>
              <a:t/>
            </a:r>
            <a:br>
              <a:rPr lang="es-VE" sz="2000" dirty="0"/>
            </a:br>
            <a:r>
              <a:rPr lang="es-VE" sz="2000" dirty="0"/>
              <a:t>La tabla ORDENES está en 2FN. Cualquier valor único de ID_ORDEN determina un sólo valor para cada columna. Por lo tanto, todas las columnas son dependientes de la llave primaria ID_ORDEN. </a:t>
            </a:r>
            <a:br>
              <a:rPr lang="es-VE" sz="2000" dirty="0"/>
            </a:br>
            <a:r>
              <a:rPr lang="es-VE" sz="2000" dirty="0"/>
              <a:t/>
            </a:r>
            <a:br>
              <a:rPr lang="es-VE" sz="2000" dirty="0"/>
            </a:br>
            <a:r>
              <a:rPr lang="es-VE" sz="2000" dirty="0"/>
              <a:t>Por su parte, la tabla ARTICULOS_ORDENES no se encuentra en 2FN ya que las columnas PRECIO y NOM_ART son dependientes de NUM_ART, pero no son dependientes de ID_ORDEN. Lo que haremos a continuación es eliminar estas columnas de la tabla ARTICULOS_ORDENES y crear una tabla ARTICULOS con dichas columnas y la llave primaria de la que dependen.</a:t>
            </a:r>
            <a:endParaRPr lang="es-AR" sz="2000" dirty="0"/>
          </a:p>
          <a:p>
            <a:endParaRPr lang="es-AR" sz="2700" dirty="0"/>
          </a:p>
        </p:txBody>
      </p:sp>
    </p:spTree>
    <p:extLst>
      <p:ext uri="{BB962C8B-B14F-4D97-AF65-F5344CB8AC3E}">
        <p14:creationId xmlns:p14="http://schemas.microsoft.com/office/powerpoint/2010/main" val="5698973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Marcador de contenido 10"/>
          <p:cNvPicPr>
            <a:picLocks noGrp="1" noChangeAspect="1"/>
          </p:cNvPicPr>
          <p:nvPr>
            <p:ph idx="1"/>
          </p:nvPr>
        </p:nvPicPr>
        <p:blipFill>
          <a:blip r:embed="rId2"/>
          <a:stretch>
            <a:fillRect/>
          </a:stretch>
        </p:blipFill>
        <p:spPr>
          <a:xfrm>
            <a:off x="374619" y="1122047"/>
            <a:ext cx="7900416" cy="4187951"/>
          </a:xfrm>
          <a:prstGeom prst="rect">
            <a:avLst/>
          </a:prstGeom>
        </p:spPr>
      </p:pic>
      <p:pic>
        <p:nvPicPr>
          <p:cNvPr id="14" name="Imagen 13"/>
          <p:cNvPicPr>
            <a:picLocks noChangeAspect="1"/>
          </p:cNvPicPr>
          <p:nvPr/>
        </p:nvPicPr>
        <p:blipFill>
          <a:blip r:embed="rId3"/>
          <a:stretch>
            <a:fillRect/>
          </a:stretch>
        </p:blipFill>
        <p:spPr>
          <a:xfrm>
            <a:off x="4324827" y="1124744"/>
            <a:ext cx="8257628" cy="3488090"/>
          </a:xfrm>
          <a:prstGeom prst="rect">
            <a:avLst/>
          </a:prstGeom>
        </p:spPr>
      </p:pic>
    </p:spTree>
    <p:extLst>
      <p:ext uri="{BB962C8B-B14F-4D97-AF65-F5344CB8AC3E}">
        <p14:creationId xmlns:p14="http://schemas.microsoft.com/office/powerpoint/2010/main" val="5453336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08000" y="620688"/>
            <a:ext cx="8149112" cy="5544616"/>
          </a:xfrm>
        </p:spPr>
        <p:txBody>
          <a:bodyPr>
            <a:normAutofit lnSpcReduction="10000"/>
          </a:bodyPr>
          <a:lstStyle/>
          <a:p>
            <a:pPr marL="0" indent="0" algn="just">
              <a:buNone/>
            </a:pPr>
            <a:r>
              <a:rPr lang="es-VE" b="1" u="sng" dirty="0">
                <a:solidFill>
                  <a:srgbClr val="00B050"/>
                </a:solidFill>
              </a:rPr>
              <a:t>TERCERA FORMAL NORMAL (3FN)</a:t>
            </a:r>
            <a:endParaRPr lang="es-AR" dirty="0">
              <a:solidFill>
                <a:srgbClr val="00B050"/>
              </a:solidFill>
            </a:endParaRPr>
          </a:p>
          <a:p>
            <a:pPr algn="just"/>
            <a:r>
              <a:rPr lang="es-VE" dirty="0"/>
              <a:t>La tercera forma normal nos dice que tenemos que eliminar cualquier columna no llave que sea dependiente de otra columna no llave. Los pasos a seguir son:</a:t>
            </a:r>
            <a:endParaRPr lang="es-AR" dirty="0"/>
          </a:p>
          <a:p>
            <a:pPr lvl="0" algn="just"/>
            <a:r>
              <a:rPr lang="es-VE" dirty="0"/>
              <a:t>Determinar las columnas que son dependientes de otra columna no llave. </a:t>
            </a:r>
            <a:endParaRPr lang="es-AR" dirty="0"/>
          </a:p>
          <a:p>
            <a:pPr lvl="0" algn="just"/>
            <a:r>
              <a:rPr lang="es-VE" dirty="0"/>
              <a:t>Eliminar esas columnas de la tabla base. </a:t>
            </a:r>
            <a:endParaRPr lang="es-AR" dirty="0"/>
          </a:p>
          <a:p>
            <a:pPr lvl="0" algn="just"/>
            <a:r>
              <a:rPr lang="es-VE" dirty="0"/>
              <a:t>Crear una segunda tabla con esas columnas y con la columna no llave de la cual son dependientes.</a:t>
            </a:r>
          </a:p>
          <a:p>
            <a:pPr algn="just"/>
            <a:r>
              <a:rPr lang="es-VE" dirty="0"/>
              <a:t>Al observar las tablas que hemos creado, nos damos cuenta que tanto la tabla ARTICULOS, como la tabla ARTICULOS_ORDENES se encuentran en 3FN. Sin embargo la tabla ORDENES no lo está, ya que NOM_CLIENTE y ESTADO son dependientes de ID_CLIENTE, y esta columna no es la llave primaria. </a:t>
            </a:r>
            <a:endParaRPr lang="es-AR" dirty="0"/>
          </a:p>
          <a:p>
            <a:pPr lvl="0" algn="just"/>
            <a:r>
              <a:rPr lang="es-VE" dirty="0"/>
              <a:t>Para normalizar esta tabla, moveremos las columnas no llave y la columna llave de la cual dependen dentro de una nueva tabla CLIENTES. Las nuevas tablas CLIENTES y ORDENES se muestran a continuación. </a:t>
            </a:r>
            <a:endParaRPr lang="es-AR" dirty="0"/>
          </a:p>
          <a:p>
            <a:pPr algn="just"/>
            <a:endParaRPr lang="es-AR" dirty="0"/>
          </a:p>
        </p:txBody>
      </p:sp>
    </p:spTree>
    <p:extLst>
      <p:ext uri="{BB962C8B-B14F-4D97-AF65-F5344CB8AC3E}">
        <p14:creationId xmlns:p14="http://schemas.microsoft.com/office/powerpoint/2010/main" val="36958342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p:cNvPicPr>
            <a:picLocks noGrp="1" noChangeAspect="1"/>
          </p:cNvPicPr>
          <p:nvPr>
            <p:ph idx="1"/>
          </p:nvPr>
        </p:nvPicPr>
        <p:blipFill>
          <a:blip r:embed="rId2"/>
          <a:stretch>
            <a:fillRect/>
          </a:stretch>
        </p:blipFill>
        <p:spPr>
          <a:xfrm>
            <a:off x="323528" y="692696"/>
            <a:ext cx="6964160" cy="2845559"/>
          </a:xfrm>
          <a:prstGeom prst="rect">
            <a:avLst/>
          </a:prstGeom>
        </p:spPr>
      </p:pic>
      <p:pic>
        <p:nvPicPr>
          <p:cNvPr id="9" name="Imagen 8"/>
          <p:cNvPicPr>
            <a:picLocks noChangeAspect="1"/>
          </p:cNvPicPr>
          <p:nvPr/>
        </p:nvPicPr>
        <p:blipFill>
          <a:blip r:embed="rId3"/>
          <a:stretch>
            <a:fillRect/>
          </a:stretch>
        </p:blipFill>
        <p:spPr>
          <a:xfrm>
            <a:off x="3995936" y="2852936"/>
            <a:ext cx="7145334" cy="2674620"/>
          </a:xfrm>
          <a:prstGeom prst="rect">
            <a:avLst/>
          </a:prstGeom>
        </p:spPr>
      </p:pic>
    </p:spTree>
    <p:extLst>
      <p:ext uri="{BB962C8B-B14F-4D97-AF65-F5344CB8AC3E}">
        <p14:creationId xmlns:p14="http://schemas.microsoft.com/office/powerpoint/2010/main" val="16986855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9552" y="1412776"/>
            <a:ext cx="8456487" cy="3765063"/>
          </a:xfrm>
        </p:spPr>
        <p:txBody>
          <a:bodyPr/>
          <a:lstStyle/>
          <a:p>
            <a:pPr marL="0" indent="0">
              <a:buNone/>
            </a:pPr>
            <a:r>
              <a:rPr lang="es-VE" b="1" dirty="0">
                <a:solidFill>
                  <a:srgbClr val="0070C0"/>
                </a:solidFill>
              </a:rPr>
              <a:t>Por lo tanto la base de datos queda de la siguiente manera:</a:t>
            </a:r>
            <a:endParaRPr lang="es-AR" dirty="0">
              <a:solidFill>
                <a:srgbClr val="0070C0"/>
              </a:solidFill>
            </a:endParaRPr>
          </a:p>
          <a:p>
            <a:pPr marL="0" indent="0">
              <a:buNone/>
            </a:pPr>
            <a:r>
              <a:rPr lang="es-VE" dirty="0"/>
              <a:t> </a:t>
            </a:r>
            <a:endParaRPr lang="es-AR" dirty="0"/>
          </a:p>
          <a:p>
            <a:r>
              <a:rPr lang="es-VE" b="1" i="1" dirty="0"/>
              <a:t>ordenes </a:t>
            </a:r>
            <a:r>
              <a:rPr lang="es-VE" dirty="0"/>
              <a:t>(</a:t>
            </a:r>
            <a:r>
              <a:rPr lang="es-VE" dirty="0" err="1"/>
              <a:t>id_orden</a:t>
            </a:r>
            <a:r>
              <a:rPr lang="es-VE" dirty="0"/>
              <a:t>, fecha, </a:t>
            </a:r>
            <a:r>
              <a:rPr lang="es-VE" dirty="0" err="1"/>
              <a:t>id_cliente</a:t>
            </a:r>
            <a:r>
              <a:rPr lang="es-VE" dirty="0"/>
              <a:t>)</a:t>
            </a:r>
            <a:endParaRPr lang="es-AR" dirty="0"/>
          </a:p>
          <a:p>
            <a:r>
              <a:rPr lang="es-VE" b="1" i="1" dirty="0"/>
              <a:t>Clientes </a:t>
            </a:r>
            <a:r>
              <a:rPr lang="es-VE" dirty="0"/>
              <a:t>(</a:t>
            </a:r>
            <a:r>
              <a:rPr lang="es-VE" dirty="0" err="1"/>
              <a:t>id_cliente</a:t>
            </a:r>
            <a:r>
              <a:rPr lang="es-VE" dirty="0"/>
              <a:t>, </a:t>
            </a:r>
            <a:r>
              <a:rPr lang="es-VE" dirty="0" err="1"/>
              <a:t>nom_cliente</a:t>
            </a:r>
            <a:r>
              <a:rPr lang="es-VE" dirty="0"/>
              <a:t>, estado)</a:t>
            </a:r>
            <a:endParaRPr lang="es-AR" dirty="0"/>
          </a:p>
          <a:p>
            <a:r>
              <a:rPr lang="en-US" b="1" i="1" dirty="0" err="1"/>
              <a:t>Articulos</a:t>
            </a:r>
            <a:r>
              <a:rPr lang="en-US" dirty="0"/>
              <a:t> ( </a:t>
            </a:r>
            <a:r>
              <a:rPr lang="en-US" dirty="0" err="1"/>
              <a:t>num_art</a:t>
            </a:r>
            <a:r>
              <a:rPr lang="en-US" dirty="0"/>
              <a:t>, </a:t>
            </a:r>
            <a:r>
              <a:rPr lang="en-US" dirty="0" err="1"/>
              <a:t>nom_art</a:t>
            </a:r>
            <a:r>
              <a:rPr lang="en-US" dirty="0"/>
              <a:t>, </a:t>
            </a:r>
            <a:r>
              <a:rPr lang="en-US" dirty="0" err="1"/>
              <a:t>precio</a:t>
            </a:r>
            <a:r>
              <a:rPr lang="en-US" dirty="0"/>
              <a:t>)</a:t>
            </a:r>
            <a:endParaRPr lang="es-AR" dirty="0"/>
          </a:p>
          <a:p>
            <a:r>
              <a:rPr lang="en-US" b="1" i="1" dirty="0" err="1"/>
              <a:t>Articulos_ordenes</a:t>
            </a:r>
            <a:r>
              <a:rPr lang="en-US" dirty="0"/>
              <a:t> (</a:t>
            </a:r>
            <a:r>
              <a:rPr lang="en-US" dirty="0" err="1"/>
              <a:t>id_orden</a:t>
            </a:r>
            <a:r>
              <a:rPr lang="en-US" dirty="0"/>
              <a:t>, </a:t>
            </a:r>
            <a:r>
              <a:rPr lang="en-US" dirty="0" err="1"/>
              <a:t>num_art</a:t>
            </a:r>
            <a:r>
              <a:rPr lang="en-US" dirty="0"/>
              <a:t>, cant)</a:t>
            </a:r>
            <a:endParaRPr lang="es-AR" dirty="0"/>
          </a:p>
          <a:p>
            <a:endParaRPr lang="es-AR" dirty="0"/>
          </a:p>
        </p:txBody>
      </p:sp>
    </p:spTree>
    <p:extLst>
      <p:ext uri="{BB962C8B-B14F-4D97-AF65-F5344CB8AC3E}">
        <p14:creationId xmlns:p14="http://schemas.microsoft.com/office/powerpoint/2010/main" val="3865874427"/>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2631</TotalTime>
  <Words>1202</Words>
  <Application>Microsoft Office PowerPoint</Application>
  <PresentationFormat>Presentación en pantalla (4:3)</PresentationFormat>
  <Paragraphs>133</Paragraphs>
  <Slides>23</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23</vt:i4>
      </vt:variant>
    </vt:vector>
  </HeadingPairs>
  <TitlesOfParts>
    <vt:vector size="30" baseType="lpstr">
      <vt:lpstr>Arial</vt:lpstr>
      <vt:lpstr>Calibri</vt:lpstr>
      <vt:lpstr>Calibri Light</vt:lpstr>
      <vt:lpstr>Courier New</vt:lpstr>
      <vt:lpstr>Times New Roman</vt:lpstr>
      <vt:lpstr>Wingdings</vt:lpstr>
      <vt:lpstr>Tema de Office</vt:lpstr>
      <vt:lpstr>NORMALIZACION</vt:lpstr>
      <vt:lpstr>Formas normales</vt:lpstr>
      <vt:lpstr>Presentación de PowerPoint</vt:lpstr>
      <vt:lpstr>Presentación de PowerPoint</vt:lpstr>
      <vt:lpstr>Integridades</vt:lpstr>
      <vt:lpstr>Tabla o relación</vt:lpstr>
      <vt:lpstr>Formas Normales</vt:lpstr>
      <vt:lpstr>Primera forma normal (1FN)</vt:lpstr>
      <vt:lpstr>Primera forma normal (1FN)</vt:lpstr>
      <vt:lpstr>Segunda forma normal (2FN)</vt:lpstr>
      <vt:lpstr>Segunda forma normal (2FN)</vt:lpstr>
      <vt:lpstr>Tercera forma normal (3FN)</vt:lpstr>
      <vt:lpstr>Tercera forma normal (3FN)</vt:lpstr>
      <vt:lpstr>Tercera forma normal (3FN)</vt:lpstr>
      <vt:lpstr>Ejemplo de normalización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 DE DATOS</dc:title>
  <dc:creator>frey</dc:creator>
  <cp:lastModifiedBy>patricia</cp:lastModifiedBy>
  <cp:revision>132</cp:revision>
  <dcterms:created xsi:type="dcterms:W3CDTF">2014-01-15T22:59:49Z</dcterms:created>
  <dcterms:modified xsi:type="dcterms:W3CDTF">2021-04-20T20:02:55Z</dcterms:modified>
</cp:coreProperties>
</file>