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144000" cy="5143500" type="screen16x9"/>
  <p:notesSz cx="6858000" cy="9144000"/>
  <p:embeddedFontLst>
    <p:embeddedFont>
      <p:font typeface="Chewy" panose="020B0604020202020204" charset="0"/>
      <p:regular r:id="rId27"/>
    </p:embeddedFont>
    <p:embeddedFont>
      <p:font typeface="Encode Sans" panose="020B0604020202020204" charset="0"/>
      <p:regular r:id="rId28"/>
      <p:bold r:id="rId29"/>
    </p:embeddedFont>
    <p:embeddedFont>
      <p:font typeface="Encode Sans ExtraBold" panose="020B0604020202020204" charset="0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Light" panose="00000400000000000000" pitchFamily="2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C02CD6-260A-4142-9526-F0F669A0B598}">
  <a:tblStyle styleId="{5BC02CD6-260A-4142-9526-F0F669A0B5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edea4651f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edea4651fd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dea4653f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edea4653f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dea4653f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dea4653f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dea4653f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dea4653f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09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635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306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740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433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654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ea4653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ea4653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234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dea4653f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dea4653f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dea4653f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dea4653f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dea4653f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dea4653f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dea4653f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edea4653f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dea4653f6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dea4653f6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dea4653f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dea4653f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dea4653f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dea4653f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dea4653f6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dea4653f6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dea4653f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dea4653f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dea4653f6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dea4653f6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dea4653f6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dea4653f6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79980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79980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79980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79980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ORIENTADA A OBJETOS</a:t>
            </a: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Clases y métodos estáticos</a:t>
            </a:r>
            <a:endParaRPr sz="15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Lic. PLAZAS, </a:t>
            </a:r>
            <a:r>
              <a:rPr lang="es-ES" sz="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Ricardo Gastón</a:t>
            </a:r>
            <a:endParaRPr lang="es-ES" sz="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2" name="Google Shape;12;p1"/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028562" y="181336"/>
            <a:ext cx="1044477" cy="63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AB94FE5-8106-8B0A-49F6-0C456AB6E08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1"/>
            <a:ext cx="1668174" cy="93254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2.jpe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reloj en la pared&#10;&#10;Descripción generada automáticamente con confianza media">
            <a:extLst>
              <a:ext uri="{FF2B5EF4-FFF2-40B4-BE49-F238E27FC236}">
                <a16:creationId xmlns:a16="http://schemas.microsoft.com/office/drawing/2014/main" id="{745113EC-A432-F030-870F-4A1B9927D3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2" r="-1" b="15593"/>
          <a:stretch/>
        </p:blipFill>
        <p:spPr>
          <a:xfrm>
            <a:off x="1718488" y="965604"/>
            <a:ext cx="7425512" cy="417789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311700" y="187105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Clases y métodos estáticos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197150" y="1182323"/>
            <a:ext cx="4776136" cy="25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b="1" dirty="0"/>
              <a:t>Introducción a la POO</a:t>
            </a:r>
            <a:endParaRPr sz="1700" b="1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¿Qué es un paradigma de programación?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¿Qué es la programación orientada a objetos?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Pilares de la POO.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Principio DRY.</a:t>
            </a:r>
            <a:endParaRPr sz="1700"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Contenido</a:t>
            </a:r>
            <a:endParaRPr/>
          </a:p>
        </p:txBody>
      </p:sp>
      <p:pic>
        <p:nvPicPr>
          <p:cNvPr id="2" name="Imagen 1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9FB56743-2110-FC30-A02D-51C919A766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5501465" y="954104"/>
            <a:ext cx="3642535" cy="418939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197150" y="2864175"/>
            <a:ext cx="4776136" cy="24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700" b="1" dirty="0">
                <a:solidFill>
                  <a:schemeClr val="lt1"/>
                </a:solidFill>
              </a:rPr>
              <a:t>Clases</a:t>
            </a:r>
            <a:endParaRPr sz="1700" b="1" dirty="0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s-419" sz="1700" dirty="0">
                <a:solidFill>
                  <a:schemeClr val="lt1"/>
                </a:solidFill>
              </a:rPr>
              <a:t>¿Qué es una clase?</a:t>
            </a:r>
            <a:endParaRPr sz="1700" dirty="0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s-419" sz="1700" dirty="0">
                <a:solidFill>
                  <a:schemeClr val="lt1"/>
                </a:solidFill>
              </a:rPr>
              <a:t>Identificadores de las clases.</a:t>
            </a:r>
            <a:endParaRPr sz="1700" dirty="0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s-419" sz="1700" dirty="0">
                <a:solidFill>
                  <a:schemeClr val="lt1"/>
                </a:solidFill>
              </a:rPr>
              <a:t>Composición de una clase.</a:t>
            </a:r>
            <a:endParaRPr sz="1700" dirty="0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s-419" sz="1700" dirty="0">
                <a:solidFill>
                  <a:schemeClr val="lt1"/>
                </a:solidFill>
              </a:rPr>
              <a:t>Sintaxis de una clase en Java.</a:t>
            </a:r>
            <a:endParaRPr sz="1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strike="sngStrike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reloj en la pared&#10;&#10;Descripción generada automáticamente con confianza media">
            <a:extLst>
              <a:ext uri="{FF2B5EF4-FFF2-40B4-BE49-F238E27FC236}">
                <a16:creationId xmlns:a16="http://schemas.microsoft.com/office/drawing/2014/main" id="{7E43C8F8-FCFE-E0A9-163F-F84774C180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2" r="-1" b="15593"/>
          <a:stretch/>
        </p:blipFill>
        <p:spPr>
          <a:xfrm>
            <a:off x="1718488" y="965604"/>
            <a:ext cx="7425512" cy="417789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0" name="Google Shape;70;p15"/>
          <p:cNvSpPr txBox="1">
            <a:spLocks noGrp="1"/>
          </p:cNvSpPr>
          <p:nvPr>
            <p:ph type="ctrTitle"/>
          </p:nvPr>
        </p:nvSpPr>
        <p:spPr>
          <a:xfrm>
            <a:off x="311700" y="171375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la POO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7A37FC69-5AE7-E95F-1CEA-E0AA40338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5501465" y="954104"/>
            <a:ext cx="3642535" cy="418939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11700" y="1603874"/>
            <a:ext cx="5403300" cy="30512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Un </a:t>
            </a:r>
            <a:r>
              <a:rPr lang="es-419" sz="1700" b="1" dirty="0"/>
              <a:t>paradigma</a:t>
            </a:r>
            <a:r>
              <a:rPr lang="es-419" sz="1700" dirty="0"/>
              <a:t> es una teoría o conjunto de teorías cuyo núcleo central se acepta sin cuestionar y que suministra la base y modelo para resolver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problemas y avanzar en el conocimiento.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Un </a:t>
            </a:r>
            <a:r>
              <a:rPr lang="es-419" sz="1700" b="1" dirty="0"/>
              <a:t>paradigma de programación</a:t>
            </a:r>
            <a:r>
              <a:rPr lang="es-419" sz="1700" dirty="0"/>
              <a:t> define la forma, metodología o estilo con el que se resolverá un problema utilizando un lenguaje de programación.</a:t>
            </a:r>
            <a:endParaRPr sz="17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5189765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¿Qué es un paradigma de programación?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1725" y="321320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11700" y="3298925"/>
            <a:ext cx="13677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1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numeroCuenta</a:t>
            </a:r>
            <a:endParaRPr sz="1400" b="1" i="1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3887900"/>
            <a:ext cx="13677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1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saldo</a:t>
            </a:r>
            <a:endParaRPr sz="1400" b="1" i="1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" name="Google Shape;86;p17"/>
          <p:cNvCxnSpPr>
            <a:stCxn id="85" idx="3"/>
            <a:endCxn id="83" idx="1"/>
          </p:cNvCxnSpPr>
          <p:nvPr/>
        </p:nvCxnSpPr>
        <p:spPr>
          <a:xfrm flipV="1">
            <a:off x="1679400" y="3822800"/>
            <a:ext cx="412325" cy="265200"/>
          </a:xfrm>
          <a:prstGeom prst="straightConnector1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17"/>
          <p:cNvCxnSpPr>
            <a:stCxn id="84" idx="3"/>
            <a:endCxn id="83" idx="1"/>
          </p:cNvCxnSpPr>
          <p:nvPr/>
        </p:nvCxnSpPr>
        <p:spPr>
          <a:xfrm>
            <a:off x="1679400" y="3499025"/>
            <a:ext cx="412325" cy="323775"/>
          </a:xfrm>
          <a:prstGeom prst="straightConnector1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7"/>
          <p:cNvSpPr txBox="1"/>
          <p:nvPr/>
        </p:nvSpPr>
        <p:spPr>
          <a:xfrm>
            <a:off x="3614825" y="3328213"/>
            <a:ext cx="13677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b="1" i="1" dirty="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s-419" sz="1400" b="1" i="1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epositar	</a:t>
            </a:r>
            <a:endParaRPr sz="1400" b="1" i="1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642536" y="3948400"/>
            <a:ext cx="13677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b="1" i="1" dirty="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s-419" sz="1400" b="1" i="1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xtraer</a:t>
            </a:r>
            <a:endParaRPr sz="1400" b="1" i="1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" name="Google Shape;90;p17"/>
          <p:cNvCxnSpPr>
            <a:stCxn id="83" idx="3"/>
            <a:endCxn id="88" idx="1"/>
          </p:cNvCxnSpPr>
          <p:nvPr/>
        </p:nvCxnSpPr>
        <p:spPr>
          <a:xfrm flipV="1">
            <a:off x="3310925" y="3528313"/>
            <a:ext cx="303900" cy="294487"/>
          </a:xfrm>
          <a:prstGeom prst="straightConnector1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7"/>
          <p:cNvCxnSpPr>
            <a:stCxn id="83" idx="3"/>
            <a:endCxn id="89" idx="1"/>
          </p:cNvCxnSpPr>
          <p:nvPr/>
        </p:nvCxnSpPr>
        <p:spPr>
          <a:xfrm>
            <a:off x="3310925" y="3822800"/>
            <a:ext cx="331611" cy="325700"/>
          </a:xfrm>
          <a:prstGeom prst="straightConnector1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17"/>
          <p:cNvSpPr txBox="1"/>
          <p:nvPr/>
        </p:nvSpPr>
        <p:spPr>
          <a:xfrm>
            <a:off x="1885325" y="2813000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1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CuentaBancaria</a:t>
            </a:r>
            <a:endParaRPr sz="14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5334027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¿Qué es la Programación Orientada a Objetos?</a:t>
            </a:r>
            <a:endParaRPr dirty="0"/>
          </a:p>
        </p:txBody>
      </p:sp>
      <p:pic>
        <p:nvPicPr>
          <p:cNvPr id="7" name="Imagen 6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B10B0F22-4B0E-18B0-C0BC-1D48A49C17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5501465" y="954104"/>
            <a:ext cx="3642535" cy="418939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5417155" cy="1350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Es un </a:t>
            </a:r>
            <a:r>
              <a:rPr lang="es-419" sz="1700" b="1" dirty="0"/>
              <a:t>paradigma de programación</a:t>
            </a:r>
            <a:r>
              <a:rPr lang="es-419" sz="1700" dirty="0"/>
              <a:t> que propone resolver problemas a través de identificar objetos de la vida real, sus </a:t>
            </a:r>
            <a:r>
              <a:rPr lang="es-419" sz="1700" b="1" dirty="0"/>
              <a:t>atributos</a:t>
            </a:r>
            <a:r>
              <a:rPr lang="es-419" sz="1700" dirty="0"/>
              <a:t> (datos), su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b="1" dirty="0"/>
              <a:t>comportamiento </a:t>
            </a:r>
            <a:r>
              <a:rPr lang="es-419" sz="1700" dirty="0"/>
              <a:t>(acciones) y las </a:t>
            </a:r>
            <a:r>
              <a:rPr lang="es-419" sz="1700" b="1" dirty="0"/>
              <a:t>relaciones </a:t>
            </a:r>
            <a:r>
              <a:rPr lang="es-419" sz="1700" dirty="0"/>
              <a:t>de colaboración entre ellos.</a:t>
            </a:r>
            <a:endParaRPr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Pilares de la POO</a:t>
            </a:r>
            <a:endParaRPr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700" y="1515879"/>
            <a:ext cx="5430981" cy="270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685800" indent="-571500" algn="l">
              <a:buFont typeface="Arial" panose="020B0604020202020204" pitchFamily="34" charset="0"/>
              <a:buChar char="•"/>
            </a:pPr>
            <a:r>
              <a:rPr lang="es-ES" dirty="0"/>
              <a:t>Abstracción</a:t>
            </a:r>
          </a:p>
          <a:p>
            <a:pPr marL="685800" indent="-571500" algn="l">
              <a:buFont typeface="Arial" panose="020B0604020202020204" pitchFamily="34" charset="0"/>
              <a:buChar char="•"/>
            </a:pPr>
            <a:r>
              <a:rPr lang="es-ES" dirty="0"/>
              <a:t>Encapsulamiento</a:t>
            </a:r>
          </a:p>
          <a:p>
            <a:pPr marL="685800" indent="-571500" algn="l">
              <a:buFont typeface="Arial" panose="020B0604020202020204" pitchFamily="34" charset="0"/>
              <a:buChar char="•"/>
            </a:pPr>
            <a:r>
              <a:rPr lang="es-ES" dirty="0"/>
              <a:t>Herencia</a:t>
            </a:r>
          </a:p>
          <a:p>
            <a:pPr marL="685800" indent="-571500" algn="l">
              <a:buFont typeface="Arial" panose="020B0604020202020204" pitchFamily="34" charset="0"/>
              <a:buChar char="•"/>
            </a:pPr>
            <a:r>
              <a:rPr lang="es-ES" dirty="0"/>
              <a:t>Polimorfismo</a:t>
            </a:r>
            <a:endParaRPr lang="es-AR" dirty="0"/>
          </a:p>
        </p:txBody>
      </p:sp>
      <p:pic>
        <p:nvPicPr>
          <p:cNvPr id="3" name="Imagen 2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0AA5BFE5-4461-64E1-F791-9DC07CE3A3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5484063" y="934089"/>
            <a:ext cx="3659937" cy="4209411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Abstracción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700" y="1603875"/>
            <a:ext cx="4869898" cy="334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dirty="0"/>
              <a:t>Permite representar conceptos del mundo real en forma de clases y objetos en el software.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dirty="0"/>
              <a:t>Identificar Entidades Relevantes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dirty="0"/>
              <a:t>Definir Propiedades y Comportamientos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dirty="0"/>
              <a:t>Ocultar Detalles Internos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200" dirty="0"/>
              <a:t>La abstracción nos permite simplificar la complejidad de un sistema al enfocarnos en los aspectos esenciales.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200" dirty="0"/>
              <a:t>Facilita la reutilización de código al encapsular funcionalidades en clases y objetos que pueden ser utilizados en múltiples contextos.</a:t>
            </a:r>
            <a:endParaRPr lang="es-AR" sz="3200" dirty="0"/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5" name="Imagen 4" descr="Una persona con una luz roja&#10;&#10;Descripción generada automáticamente con confianza baja">
            <a:extLst>
              <a:ext uri="{FF2B5EF4-FFF2-40B4-BE49-F238E27FC236}">
                <a16:creationId xmlns:a16="http://schemas.microsoft.com/office/drawing/2014/main" id="{6A35881B-6DB4-6B67-A4AB-E45D5BC282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5166692" y="987952"/>
            <a:ext cx="3977308" cy="415554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401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234538" y="1087535"/>
            <a:ext cx="2480931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Encapsulamiento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2639277" y="1655852"/>
            <a:ext cx="3865445" cy="320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dirty="0"/>
              <a:t>Es un principio de la programación orientada a objetos que consiste en ocultar los detalles internos de un objeto y exponer solo la interfaz pública para interactuar con él. Esto se logra mediante el uso de clases y la restricción del acceso a los datos internos de un objeto.</a:t>
            </a:r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3" name="Imagen 2" descr="Imagen que contiene persona, interior, ventana, joven&#10;&#10;Descripción generada automáticamente">
            <a:extLst>
              <a:ext uri="{FF2B5EF4-FFF2-40B4-BE49-F238E27FC236}">
                <a16:creationId xmlns:a16="http://schemas.microsoft.com/office/drawing/2014/main" id="{7094B9A4-90C5-FCAB-E5EF-372CAB3EF7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1" r="22161"/>
          <a:stretch/>
        </p:blipFill>
        <p:spPr>
          <a:xfrm>
            <a:off x="1" y="973635"/>
            <a:ext cx="2480930" cy="3889427"/>
          </a:xfrm>
          <a:prstGeom prst="rect">
            <a:avLst/>
          </a:prstGeom>
        </p:spPr>
      </p:pic>
      <p:pic>
        <p:nvPicPr>
          <p:cNvPr id="4" name="Imagen 3" descr="Imagen que contiene persona, niño, interior, joven&#10;&#10;Descripción generada automáticamente">
            <a:extLst>
              <a:ext uri="{FF2B5EF4-FFF2-40B4-BE49-F238E27FC236}">
                <a16:creationId xmlns:a16="http://schemas.microsoft.com/office/drawing/2014/main" id="{52204998-00A3-5535-39A6-0293E8E90CA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33885"/>
          <a:stretch/>
        </p:blipFill>
        <p:spPr>
          <a:xfrm>
            <a:off x="6830291" y="973634"/>
            <a:ext cx="2313708" cy="3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5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Características Encapsulamiento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700" y="1603875"/>
            <a:ext cx="4869898" cy="334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Datos y Métodos: </a:t>
            </a:r>
            <a:r>
              <a:rPr lang="es-ES" sz="3100" dirty="0"/>
              <a:t>En la encapsulación, los datos (atributos) y los métodos (comportamientos) asociados a un objeto se agrupan en una clase. Los datos se mantienen privados y solo son accesibles a través de métodos públicos de la clase.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Control de Acceso: </a:t>
            </a:r>
            <a:r>
              <a:rPr lang="es-ES" sz="3100" dirty="0"/>
              <a:t>El encapsulamiento implica establecer niveles de acceso a los miembros de una clase. Los atributos privados solo son accesibles dentro de la misma clase, mientras que los métodos públicos permiten la interacción controlada con los datos internos.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Modularidad:</a:t>
            </a:r>
            <a:r>
              <a:rPr lang="es-ES" sz="3100" dirty="0"/>
              <a:t> El encapsulamiento promueve la modularidad del código al dividir el sistema en unidades independientes (clases) que se comunican a través de interfaces definidas. Esto facilita la comprensión y el mantenimiento del software.</a:t>
            </a:r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3" name="Imagen 2" descr="Una luz en el espacio&#10;&#10;Descripción generada automáticamente con confianza baja">
            <a:extLst>
              <a:ext uri="{FF2B5EF4-FFF2-40B4-BE49-F238E27FC236}">
                <a16:creationId xmlns:a16="http://schemas.microsoft.com/office/drawing/2014/main" id="{847E7A16-5F6D-2C59-8A7A-1CEE6FC6DA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" r="8782"/>
          <a:stretch/>
        </p:blipFill>
        <p:spPr>
          <a:xfrm>
            <a:off x="5645726" y="969778"/>
            <a:ext cx="3498273" cy="402347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5580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Herencia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699" y="2105891"/>
            <a:ext cx="4634373" cy="2459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dirty="0"/>
              <a:t>Permite la creación de nuevas clases (subclases) basadas en clases existentes (superclases). La subclase hereda atributos y métodos de la superclase, lo que promueve la reutilización de código y la creación de jerarquías de clases.</a:t>
            </a:r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3" name="Imagen 2" descr="Pintura de arte de un hombre y una mujer&#10;&#10;Descripción generada automáticamente con confianza baja">
            <a:extLst>
              <a:ext uri="{FF2B5EF4-FFF2-40B4-BE49-F238E27FC236}">
                <a16:creationId xmlns:a16="http://schemas.microsoft.com/office/drawing/2014/main" id="{FA50C599-B692-4D3E-0EC1-40A0BB4961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" r="10977"/>
          <a:stretch/>
        </p:blipFill>
        <p:spPr>
          <a:xfrm>
            <a:off x="5465618" y="969818"/>
            <a:ext cx="3678381" cy="4173682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9408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Herencia Características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700" y="1534604"/>
            <a:ext cx="4869898" cy="323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Clase Base y Clase Derivada:</a:t>
            </a:r>
            <a:r>
              <a:rPr lang="es-ES" sz="3100" dirty="0"/>
              <a:t> Una clase base actúa como el punto de partida para la creación de una nueva clase 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dirty="0"/>
              <a:t>La subclase hereda características de la superclase y puede agregar nuevas funcionalidades o modificar el comportamiento existente.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Extensión y Especialización:</a:t>
            </a:r>
            <a:r>
              <a:rPr lang="es-ES" sz="3100" b="1" dirty="0"/>
              <a:t> </a:t>
            </a:r>
            <a:r>
              <a:rPr lang="es-ES" sz="3100" dirty="0"/>
              <a:t>Permite extender el comportamiento de una clase base mediante la adición de nuevos métodos o atributos en la subclase. También facilita la especialización, donde una subclase puede sobrescribir métodos heredados para adaptarlos a sus necesidades específicas.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Jerarquía de Clases:</a:t>
            </a:r>
            <a:r>
              <a:rPr lang="es-ES" sz="3100" dirty="0"/>
              <a:t> Las clases pueden organizarse en una jerarquía, donde las clases más generales están en niveles superiores y las clases más especializadas están en niveles inferiores. Esto permite una representación más precisa y estructurada del dominio del problema.</a:t>
            </a:r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4" name="Imagen 3" descr="Un camión de bomberos antiguo&#10;&#10;Descripción generada automáticamente con confianza baja">
            <a:extLst>
              <a:ext uri="{FF2B5EF4-FFF2-40B4-BE49-F238E27FC236}">
                <a16:creationId xmlns:a16="http://schemas.microsoft.com/office/drawing/2014/main" id="{BD441E12-9176-EB0B-D64F-9DFAA8D2FC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0" r="3472"/>
          <a:stretch/>
        </p:blipFill>
        <p:spPr>
          <a:xfrm>
            <a:off x="5119254" y="983673"/>
            <a:ext cx="4024745" cy="415982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951568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Polimorfismo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699" y="2105891"/>
            <a:ext cx="4634373" cy="2459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dirty="0"/>
              <a:t>Permite que un objeto pueda presentarse de diversas formas. En la programación orientada a objetos, el polimorfismo se refiere a la capacidad de un objeto de comportarse de diferentes maneras dependiendo del contexto en el que se encuentre.</a:t>
            </a:r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4" name="Imagen 3" descr="Imagen que contiene grupo, montón, diferente, parado&#10;&#10;Descripción generada automáticamente">
            <a:extLst>
              <a:ext uri="{FF2B5EF4-FFF2-40B4-BE49-F238E27FC236}">
                <a16:creationId xmlns:a16="http://schemas.microsoft.com/office/drawing/2014/main" id="{075DC023-65E2-7C0A-6835-4C58913BE0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5528930" y="985692"/>
            <a:ext cx="3615070" cy="415780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403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FFFFFF"/>
                </a:solidFill>
              </a:rPr>
              <a:t>Polimorfismo Beneficio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D626616-54B4-C3BF-EF96-F8D0274C6BE1}"/>
              </a:ext>
            </a:extLst>
          </p:cNvPr>
          <p:cNvSpPr txBox="1">
            <a:spLocks/>
          </p:cNvSpPr>
          <p:nvPr/>
        </p:nvSpPr>
        <p:spPr>
          <a:xfrm>
            <a:off x="311699" y="1711037"/>
            <a:ext cx="4634373" cy="285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Encode Sans"/>
              <a:buNone/>
              <a:defRPr sz="2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Flexibilidad:</a:t>
            </a:r>
            <a:r>
              <a:rPr lang="es-ES" sz="3100" dirty="0"/>
              <a:t> Permite escribir código más genérico y flexible, ya que los objetos pueden adaptarse dinámicamente a diferentes situaciones.</a:t>
            </a:r>
          </a:p>
          <a:p>
            <a:pPr marL="114300" indent="0" algn="l">
              <a:lnSpc>
                <a:spcPct val="170000"/>
              </a:lnSpc>
            </a:pPr>
            <a:r>
              <a:rPr lang="es-ES" sz="3100" b="1" i="1" u="sng" dirty="0"/>
              <a:t>Facilita la Extensión:</a:t>
            </a:r>
            <a:r>
              <a:rPr lang="es-ES" sz="3100" dirty="0"/>
              <a:t> Facilita la extensión del software, ya que nuevas clases pueden ser añadidas al sistema sin afectar el código existente.</a:t>
            </a:r>
          </a:p>
          <a:p>
            <a:pPr marL="114300" indent="0" algn="l">
              <a:lnSpc>
                <a:spcPct val="170000"/>
              </a:lnSpc>
            </a:pPr>
            <a:endParaRPr lang="es-ES" sz="3100" dirty="0"/>
          </a:p>
          <a:p>
            <a:pPr marL="685800" indent="-571500" algn="l">
              <a:buFont typeface="Arial" panose="020B0604020202020204" pitchFamily="34" charset="0"/>
              <a:buChar char="•"/>
            </a:pPr>
            <a:endParaRPr lang="es-AR" dirty="0"/>
          </a:p>
        </p:txBody>
      </p:sp>
      <p:pic>
        <p:nvPicPr>
          <p:cNvPr id="3" name="Imagen 2" descr="Un dibujo de una persona con un gato&#10;&#10;Descripción generada automáticamente con confianza media">
            <a:extLst>
              <a:ext uri="{FF2B5EF4-FFF2-40B4-BE49-F238E27FC236}">
                <a16:creationId xmlns:a16="http://schemas.microsoft.com/office/drawing/2014/main" id="{EB2C4F1B-DC9E-DAC8-0904-D30AE96536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1"/>
          <a:stretch/>
        </p:blipFill>
        <p:spPr>
          <a:xfrm>
            <a:off x="5433915" y="983682"/>
            <a:ext cx="3710085" cy="415981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837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8424300" cy="119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/>
              <a:t>"Toda </a:t>
            </a:r>
            <a:r>
              <a:rPr lang="es-419" sz="1700" b="1" i="1"/>
              <a:t>pieza de conocimiento</a:t>
            </a:r>
            <a:r>
              <a:rPr lang="es-419" sz="1700" i="1"/>
              <a:t> debe tener una representación </a:t>
            </a:r>
            <a:r>
              <a:rPr lang="es-419" sz="1700" b="1" i="1"/>
              <a:t>única</a:t>
            </a:r>
            <a:r>
              <a:rPr lang="es-419" sz="1700" i="1"/>
              <a:t>, </a:t>
            </a:r>
            <a:r>
              <a:rPr lang="es-419" sz="1700" b="1" i="1"/>
              <a:t>inequívoca</a:t>
            </a:r>
            <a:r>
              <a:rPr lang="es-419" sz="1700" i="1"/>
              <a:t> y f</a:t>
            </a:r>
            <a:r>
              <a:rPr lang="es-419" sz="1700" b="1" i="1"/>
              <a:t>idedigna</a:t>
            </a:r>
            <a:r>
              <a:rPr lang="es-419" sz="1700" i="1"/>
              <a:t> dentro de un sistema."</a:t>
            </a:r>
            <a:r>
              <a:rPr lang="es-419" sz="1700"/>
              <a:t> </a:t>
            </a:r>
            <a:endParaRPr sz="17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/>
              <a:t>The pragmatic programmer </a:t>
            </a:r>
            <a:r>
              <a:rPr lang="es-419" sz="1700">
                <a:solidFill>
                  <a:schemeClr val="lt1"/>
                </a:solidFill>
              </a:rPr>
              <a:t>- Dave Thomas</a:t>
            </a:r>
            <a:endParaRPr sz="17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Principio DRY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925" y="2620539"/>
            <a:ext cx="5520149" cy="20610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311700" y="1509425"/>
            <a:ext cx="5941200" cy="34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 i="1" dirty="0">
                <a:solidFill>
                  <a:schemeClr val="lt1"/>
                </a:solidFill>
              </a:rPr>
              <a:t>“</a:t>
            </a:r>
            <a:r>
              <a:rPr lang="es-419" sz="1700" i="1" dirty="0" err="1">
                <a:solidFill>
                  <a:schemeClr val="lt1"/>
                </a:solidFill>
              </a:rPr>
              <a:t>Many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people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took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it</a:t>
            </a:r>
            <a:r>
              <a:rPr lang="es-419" sz="1700" i="1" dirty="0">
                <a:solidFill>
                  <a:schemeClr val="lt1"/>
                </a:solidFill>
              </a:rPr>
              <a:t> [</a:t>
            </a:r>
            <a:r>
              <a:rPr lang="es-419" sz="1700" i="1" dirty="0" err="1">
                <a:solidFill>
                  <a:schemeClr val="lt1"/>
                </a:solidFill>
              </a:rPr>
              <a:t>the</a:t>
            </a:r>
            <a:r>
              <a:rPr lang="es-419" sz="1700" i="1" dirty="0">
                <a:solidFill>
                  <a:schemeClr val="lt1"/>
                </a:solidFill>
              </a:rPr>
              <a:t> DRY </a:t>
            </a:r>
            <a:r>
              <a:rPr lang="es-419" sz="1700" i="1" dirty="0" err="1">
                <a:solidFill>
                  <a:schemeClr val="lt1"/>
                </a:solidFill>
              </a:rPr>
              <a:t>principle</a:t>
            </a:r>
            <a:r>
              <a:rPr lang="es-419" sz="1700" i="1" dirty="0">
                <a:solidFill>
                  <a:schemeClr val="lt1"/>
                </a:solidFill>
              </a:rPr>
              <a:t>] </a:t>
            </a:r>
            <a:r>
              <a:rPr lang="es-419" sz="1700" i="1" dirty="0" err="1">
                <a:solidFill>
                  <a:schemeClr val="lt1"/>
                </a:solidFill>
              </a:rPr>
              <a:t>to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refer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to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code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only</a:t>
            </a:r>
            <a:r>
              <a:rPr lang="es-419" sz="1700" i="1" dirty="0">
                <a:solidFill>
                  <a:schemeClr val="lt1"/>
                </a:solidFill>
              </a:rPr>
              <a:t>: </a:t>
            </a:r>
            <a:r>
              <a:rPr lang="es-419" sz="1700" i="1" dirty="0" err="1">
                <a:solidFill>
                  <a:schemeClr val="lt1"/>
                </a:solidFill>
              </a:rPr>
              <a:t>they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thought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that</a:t>
            </a:r>
            <a:r>
              <a:rPr lang="es-419" sz="1700" i="1" dirty="0">
                <a:solidFill>
                  <a:schemeClr val="lt1"/>
                </a:solidFill>
              </a:rPr>
              <a:t> DRY </a:t>
            </a:r>
            <a:r>
              <a:rPr lang="es-419" sz="1700" i="1" dirty="0" err="1">
                <a:solidFill>
                  <a:schemeClr val="lt1"/>
                </a:solidFill>
              </a:rPr>
              <a:t>means</a:t>
            </a:r>
            <a:r>
              <a:rPr lang="es-419" sz="1700" i="1" dirty="0">
                <a:solidFill>
                  <a:schemeClr val="lt1"/>
                </a:solidFill>
              </a:rPr>
              <a:t> ‘</a:t>
            </a:r>
            <a:r>
              <a:rPr lang="es-419" sz="1700" i="1" dirty="0" err="1">
                <a:solidFill>
                  <a:schemeClr val="lt1"/>
                </a:solidFill>
              </a:rPr>
              <a:t>don’t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copy</a:t>
            </a:r>
            <a:r>
              <a:rPr lang="es-419" sz="1700" i="1" dirty="0">
                <a:solidFill>
                  <a:schemeClr val="lt1"/>
                </a:solidFill>
              </a:rPr>
              <a:t>-and-paste </a:t>
            </a:r>
            <a:r>
              <a:rPr lang="es-419" sz="1700" i="1" dirty="0" err="1">
                <a:solidFill>
                  <a:schemeClr val="lt1"/>
                </a:solidFill>
              </a:rPr>
              <a:t>lines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of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sources</a:t>
            </a:r>
            <a:r>
              <a:rPr lang="es-419" sz="1700" i="1" dirty="0">
                <a:solidFill>
                  <a:schemeClr val="lt1"/>
                </a:solidFill>
              </a:rPr>
              <a:t>.’ [...] DRY </a:t>
            </a:r>
            <a:r>
              <a:rPr lang="es-419" sz="1700" i="1" dirty="0" err="1">
                <a:solidFill>
                  <a:schemeClr val="lt1"/>
                </a:solidFill>
              </a:rPr>
              <a:t>is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about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the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duplication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of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knowledge</a:t>
            </a:r>
            <a:r>
              <a:rPr lang="es-419" sz="1700" i="1" dirty="0">
                <a:solidFill>
                  <a:schemeClr val="lt1"/>
                </a:solidFill>
              </a:rPr>
              <a:t>, </a:t>
            </a:r>
            <a:r>
              <a:rPr lang="es-419" sz="1700" i="1" dirty="0" err="1">
                <a:solidFill>
                  <a:schemeClr val="lt1"/>
                </a:solidFill>
              </a:rPr>
              <a:t>of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intent</a:t>
            </a:r>
            <a:r>
              <a:rPr lang="es-419" sz="1700" i="1" dirty="0">
                <a:solidFill>
                  <a:schemeClr val="lt1"/>
                </a:solidFill>
              </a:rPr>
              <a:t>. </a:t>
            </a:r>
            <a:r>
              <a:rPr lang="es-419" sz="1700" i="1" dirty="0" err="1">
                <a:solidFill>
                  <a:schemeClr val="lt1"/>
                </a:solidFill>
              </a:rPr>
              <a:t>It’s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about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expressing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the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same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thing</a:t>
            </a:r>
            <a:r>
              <a:rPr lang="es-419" sz="1700" i="1" dirty="0">
                <a:solidFill>
                  <a:schemeClr val="lt1"/>
                </a:solidFill>
              </a:rPr>
              <a:t> in </a:t>
            </a:r>
            <a:r>
              <a:rPr lang="es-419" sz="1700" i="1" dirty="0" err="1">
                <a:solidFill>
                  <a:schemeClr val="lt1"/>
                </a:solidFill>
              </a:rPr>
              <a:t>two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different</a:t>
            </a:r>
            <a:r>
              <a:rPr lang="es-419" sz="1700" i="1" dirty="0">
                <a:solidFill>
                  <a:schemeClr val="lt1"/>
                </a:solidFill>
              </a:rPr>
              <a:t> places, </a:t>
            </a:r>
            <a:r>
              <a:rPr lang="es-419" sz="1700" i="1" dirty="0" err="1">
                <a:solidFill>
                  <a:schemeClr val="lt1"/>
                </a:solidFill>
              </a:rPr>
              <a:t>possibly</a:t>
            </a:r>
            <a:r>
              <a:rPr lang="es-419" sz="1700" i="1" dirty="0">
                <a:solidFill>
                  <a:schemeClr val="lt1"/>
                </a:solidFill>
              </a:rPr>
              <a:t> in </a:t>
            </a:r>
            <a:r>
              <a:rPr lang="es-419" sz="1700" i="1" dirty="0" err="1">
                <a:solidFill>
                  <a:schemeClr val="lt1"/>
                </a:solidFill>
              </a:rPr>
              <a:t>two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totally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different</a:t>
            </a:r>
            <a:r>
              <a:rPr lang="es-419" sz="1700" i="1" dirty="0">
                <a:solidFill>
                  <a:schemeClr val="lt1"/>
                </a:solidFill>
              </a:rPr>
              <a:t> </a:t>
            </a:r>
            <a:r>
              <a:rPr lang="es-419" sz="1700" i="1" dirty="0" err="1">
                <a:solidFill>
                  <a:schemeClr val="lt1"/>
                </a:solidFill>
              </a:rPr>
              <a:t>ways</a:t>
            </a:r>
            <a:r>
              <a:rPr lang="es-419" sz="1700" i="1" dirty="0">
                <a:solidFill>
                  <a:schemeClr val="lt1"/>
                </a:solidFill>
              </a:rPr>
              <a:t>”.</a:t>
            </a:r>
            <a:endParaRPr sz="1700"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 dirty="0" err="1">
                <a:solidFill>
                  <a:schemeClr val="lt1"/>
                </a:solidFill>
              </a:rPr>
              <a:t>The</a:t>
            </a:r>
            <a:r>
              <a:rPr lang="es-419" sz="1700" dirty="0">
                <a:solidFill>
                  <a:schemeClr val="lt1"/>
                </a:solidFill>
              </a:rPr>
              <a:t> </a:t>
            </a:r>
            <a:r>
              <a:rPr lang="es-419" sz="1700" dirty="0" err="1">
                <a:solidFill>
                  <a:schemeClr val="lt1"/>
                </a:solidFill>
              </a:rPr>
              <a:t>pragmatic</a:t>
            </a:r>
            <a:r>
              <a:rPr lang="es-419" sz="1700" dirty="0">
                <a:solidFill>
                  <a:schemeClr val="lt1"/>
                </a:solidFill>
              </a:rPr>
              <a:t> </a:t>
            </a:r>
            <a:r>
              <a:rPr lang="es-419" sz="1700" dirty="0" err="1">
                <a:solidFill>
                  <a:schemeClr val="lt1"/>
                </a:solidFill>
              </a:rPr>
              <a:t>programmer</a:t>
            </a:r>
            <a:r>
              <a:rPr lang="es-419" sz="1700" dirty="0">
                <a:solidFill>
                  <a:schemeClr val="lt1"/>
                </a:solidFill>
              </a:rPr>
              <a:t> - Dave Thomas</a:t>
            </a:r>
            <a:endParaRPr sz="1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 dirty="0">
                <a:solidFill>
                  <a:schemeClr val="lt1"/>
                </a:solidFill>
              </a:rPr>
              <a:t>La idea del principio DRY es simple:</a:t>
            </a:r>
            <a:endParaRPr sz="17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 b="1" dirty="0">
                <a:solidFill>
                  <a:schemeClr val="lt1"/>
                </a:solidFill>
              </a:rPr>
              <a:t>Cuando ocurra un cambio no deberíamos necesitar actualizar múltiples cosas en paralelo</a:t>
            </a:r>
            <a:endParaRPr sz="1700" dirty="0">
              <a:solidFill>
                <a:schemeClr val="lt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1616" y="1319775"/>
            <a:ext cx="2720276" cy="1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7173" y="2941891"/>
            <a:ext cx="999927" cy="130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Principio DRY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ctrTitle"/>
          </p:nvPr>
        </p:nvSpPr>
        <p:spPr>
          <a:xfrm>
            <a:off x="311700" y="171375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8424300" cy="25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1"/>
                </a:solidFill>
              </a:rPr>
              <a:t>Una clase es una </a:t>
            </a:r>
            <a:r>
              <a:rPr lang="es-419" sz="1700" b="1">
                <a:solidFill>
                  <a:schemeClr val="lt1"/>
                </a:solidFill>
              </a:rPr>
              <a:t>descripción</a:t>
            </a:r>
            <a:r>
              <a:rPr lang="es-419" sz="1700">
                <a:solidFill>
                  <a:schemeClr val="lt1"/>
                </a:solidFill>
              </a:rPr>
              <a:t> de un </a:t>
            </a:r>
            <a:r>
              <a:rPr lang="es-419" sz="1700" b="1">
                <a:solidFill>
                  <a:schemeClr val="lt1"/>
                </a:solidFill>
              </a:rPr>
              <a:t>conjunto de objetos</a:t>
            </a:r>
            <a:r>
              <a:rPr lang="es-419" sz="1700">
                <a:solidFill>
                  <a:schemeClr val="lt1"/>
                </a:solidFill>
              </a:rPr>
              <a:t> que comparten los mismos </a:t>
            </a:r>
            <a:r>
              <a:rPr lang="es-419" sz="1700" b="1">
                <a:solidFill>
                  <a:schemeClr val="lt1"/>
                </a:solidFill>
              </a:rPr>
              <a:t>atributos</a:t>
            </a:r>
            <a:r>
              <a:rPr lang="es-419" sz="1700">
                <a:solidFill>
                  <a:schemeClr val="lt1"/>
                </a:solidFill>
              </a:rPr>
              <a:t>, </a:t>
            </a:r>
            <a:r>
              <a:rPr lang="es-419" sz="1700" b="1">
                <a:solidFill>
                  <a:schemeClr val="lt1"/>
                </a:solidFill>
              </a:rPr>
              <a:t>métodos</a:t>
            </a:r>
            <a:r>
              <a:rPr lang="es-419" sz="1700">
                <a:solidFill>
                  <a:schemeClr val="lt1"/>
                </a:solidFill>
              </a:rPr>
              <a:t>, </a:t>
            </a:r>
            <a:r>
              <a:rPr lang="es-419" sz="1700" b="1">
                <a:solidFill>
                  <a:schemeClr val="lt1"/>
                </a:solidFill>
              </a:rPr>
              <a:t>relaciones </a:t>
            </a:r>
            <a:r>
              <a:rPr lang="es-419" sz="1700">
                <a:solidFill>
                  <a:schemeClr val="lt1"/>
                </a:solidFill>
              </a:rPr>
              <a:t>y </a:t>
            </a:r>
            <a:r>
              <a:rPr lang="es-419" sz="1700" b="1">
                <a:solidFill>
                  <a:schemeClr val="lt1"/>
                </a:solidFill>
              </a:rPr>
              <a:t>semántica </a:t>
            </a:r>
            <a:r>
              <a:rPr lang="es-419" sz="1700">
                <a:solidFill>
                  <a:schemeClr val="lt1"/>
                </a:solidFill>
              </a:rPr>
              <a:t>en un determinado </a:t>
            </a:r>
            <a:r>
              <a:rPr lang="es-419" sz="1700" b="1">
                <a:solidFill>
                  <a:schemeClr val="lt1"/>
                </a:solidFill>
              </a:rPr>
              <a:t>contexto</a:t>
            </a:r>
            <a:r>
              <a:rPr lang="es-419" sz="1700">
                <a:solidFill>
                  <a:schemeClr val="lt1"/>
                </a:solidFill>
              </a:rPr>
              <a:t>. 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1"/>
                </a:solidFill>
              </a:rPr>
              <a:t>Una clase es una implementación de una abstracción.</a:t>
            </a:r>
            <a:endParaRPr sz="1700" i="1">
              <a:solidFill>
                <a:schemeClr val="lt1"/>
              </a:solidFill>
            </a:endParaRPr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es una CLASE?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8725800" cy="34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chemeClr val="lt1"/>
                </a:solidFill>
              </a:rPr>
              <a:t>A la hora de nombrar clases debemos seguir las siguientes convenciones:</a:t>
            </a:r>
            <a:endParaRPr sz="14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450" b="1">
                <a:solidFill>
                  <a:schemeClr val="lt1"/>
                </a:solidFill>
              </a:rPr>
              <a:t>Grafía pascal</a:t>
            </a:r>
            <a:r>
              <a:rPr lang="es-419" sz="1450">
                <a:solidFill>
                  <a:schemeClr val="lt1"/>
                </a:solidFill>
              </a:rPr>
              <a:t> (UpperCamelCase)</a:t>
            </a:r>
            <a:endParaRPr sz="14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chemeClr val="lt1"/>
                </a:solidFill>
              </a:rPr>
              <a:t>La primera letra del identificador y la primera letra de las siguientes palabras concatenadas están en mayúsculas.</a:t>
            </a:r>
            <a:endParaRPr sz="14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450" b="1">
                <a:solidFill>
                  <a:schemeClr val="lt1"/>
                </a:solidFill>
              </a:rPr>
              <a:t>Uso de sustantivos</a:t>
            </a:r>
            <a:endParaRPr sz="145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chemeClr val="lt1"/>
                </a:solidFill>
              </a:rPr>
              <a:t>Los nombres de clases se escriben con sustantivos, ya que representan a objetos. </a:t>
            </a:r>
            <a:endParaRPr sz="14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450" b="1">
                <a:solidFill>
                  <a:schemeClr val="lt1"/>
                </a:solidFill>
              </a:rPr>
              <a:t>Nombres descriptivos</a:t>
            </a:r>
            <a:endParaRPr sz="145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chemeClr val="lt1"/>
                </a:solidFill>
              </a:rPr>
              <a:t>Como todo identificador, debe describir con la mayor exactitud posible a lo que representa. </a:t>
            </a:r>
            <a:endParaRPr sz="14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 sz="1300" b="1">
                <a:solidFill>
                  <a:schemeClr val="lt1"/>
                </a:solidFill>
              </a:rPr>
              <a:t>Ejemplos</a:t>
            </a: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 sz="1300" i="1">
                <a:solidFill>
                  <a:schemeClr val="lt1"/>
                </a:solidFill>
              </a:rPr>
              <a:t>HistoriaClinica, Mascota, JugadorDeFutbol, LibroDiario, Transferencia, DocenteAdjunto, ExamenFinal</a:t>
            </a:r>
            <a:r>
              <a:rPr lang="es-419" sz="1300">
                <a:solidFill>
                  <a:schemeClr val="lt1"/>
                </a:solidFill>
              </a:rPr>
              <a:t>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1" name="Google Shape;131;p23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Identificadores de clases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6171900" cy="3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 </a:t>
            </a:r>
            <a:r>
              <a:rPr lang="es-419" sz="3442" b="1">
                <a:solidFill>
                  <a:schemeClr val="lt1"/>
                </a:solidFill>
              </a:rPr>
              <a:t>Atributos</a:t>
            </a:r>
            <a:endParaRPr sz="3442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r>
              <a:rPr lang="es-419" sz="3442">
                <a:solidFill>
                  <a:schemeClr val="lt1"/>
                </a:solidFill>
              </a:rPr>
              <a:t>Representan </a:t>
            </a:r>
            <a:r>
              <a:rPr lang="es-419" sz="3442" b="1">
                <a:solidFill>
                  <a:schemeClr val="lt1"/>
                </a:solidFill>
              </a:rPr>
              <a:t>características </a:t>
            </a:r>
            <a:r>
              <a:rPr lang="es-419" sz="3442">
                <a:solidFill>
                  <a:schemeClr val="lt1"/>
                </a:solidFill>
              </a:rPr>
              <a:t>que son compartidas por todos los objetos de una clase. </a:t>
            </a: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r>
              <a:rPr lang="es-419" sz="3442">
                <a:solidFill>
                  <a:schemeClr val="lt1"/>
                </a:solidFill>
              </a:rPr>
              <a:t>Definen el rango de valores que puede tomar cada una de las propiedades de un objeto.</a:t>
            </a: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93333"/>
              <a:buFont typeface="Arial"/>
              <a:buNone/>
            </a:pPr>
            <a:r>
              <a:rPr lang="es-419" sz="3000" i="1">
                <a:solidFill>
                  <a:schemeClr val="lt1"/>
                </a:solidFill>
              </a:rPr>
              <a:t>Utilizar notación </a:t>
            </a:r>
            <a:r>
              <a:rPr lang="es-419" sz="3000" b="1" i="1">
                <a:solidFill>
                  <a:schemeClr val="lt1"/>
                </a:solidFill>
              </a:rPr>
              <a:t>camelCase </a:t>
            </a:r>
            <a:r>
              <a:rPr lang="es-419" sz="3000" i="1">
                <a:solidFill>
                  <a:schemeClr val="lt1"/>
                </a:solidFill>
              </a:rPr>
              <a:t>y </a:t>
            </a:r>
            <a:r>
              <a:rPr lang="es-419" sz="3000" b="1" i="1">
                <a:solidFill>
                  <a:schemeClr val="lt1"/>
                </a:solidFill>
              </a:rPr>
              <a:t>sustantivos</a:t>
            </a:r>
            <a:r>
              <a:rPr lang="es-419" sz="3000" i="1">
                <a:solidFill>
                  <a:schemeClr val="lt1"/>
                </a:solidFill>
              </a:rPr>
              <a:t>.</a:t>
            </a:r>
            <a:r>
              <a:rPr lang="es-419" sz="3442" i="1">
                <a:solidFill>
                  <a:schemeClr val="lt1"/>
                </a:solidFill>
              </a:rPr>
              <a:t> </a:t>
            </a:r>
            <a:endParaRPr sz="3442" i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r>
              <a:rPr lang="es-419" sz="3442" b="1">
                <a:solidFill>
                  <a:schemeClr val="lt1"/>
                </a:solidFill>
              </a:rPr>
              <a:t>Métodos</a:t>
            </a:r>
            <a:endParaRPr sz="3442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r>
              <a:rPr lang="es-419" sz="3442">
                <a:solidFill>
                  <a:schemeClr val="lt1"/>
                </a:solidFill>
              </a:rPr>
              <a:t>Un método es </a:t>
            </a:r>
            <a:r>
              <a:rPr lang="es-419" sz="3442" b="1">
                <a:solidFill>
                  <a:schemeClr val="lt1"/>
                </a:solidFill>
              </a:rPr>
              <a:t>la implementación de una operación</a:t>
            </a:r>
            <a:r>
              <a:rPr lang="es-419" sz="3442">
                <a:solidFill>
                  <a:schemeClr val="lt1"/>
                </a:solidFill>
              </a:rPr>
              <a:t>. </a:t>
            </a: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1340"/>
              <a:buFont typeface="Arial"/>
              <a:buNone/>
            </a:pPr>
            <a:r>
              <a:rPr lang="es-419" sz="3442">
                <a:solidFill>
                  <a:schemeClr val="lt1"/>
                </a:solidFill>
              </a:rPr>
              <a:t>Una operación es </a:t>
            </a:r>
            <a:r>
              <a:rPr lang="es-419" sz="3442" b="1">
                <a:solidFill>
                  <a:schemeClr val="lt1"/>
                </a:solidFill>
              </a:rPr>
              <a:t>una abstracción de algo que puede hacer un objeto</a:t>
            </a:r>
            <a:r>
              <a:rPr lang="es-419" sz="3442">
                <a:solidFill>
                  <a:schemeClr val="lt1"/>
                </a:solidFill>
              </a:rPr>
              <a:t> y que es compartido por todos los objetos de esa clase. </a:t>
            </a:r>
            <a:endParaRPr sz="344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80000"/>
              <a:buFont typeface="Arial"/>
              <a:buNone/>
            </a:pPr>
            <a:endParaRPr sz="3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93333"/>
              <a:buFont typeface="Arial"/>
              <a:buNone/>
            </a:pPr>
            <a:r>
              <a:rPr lang="es-419" sz="3000" i="1">
                <a:solidFill>
                  <a:schemeClr val="lt1"/>
                </a:solidFill>
              </a:rPr>
              <a:t>Utilizar notación </a:t>
            </a:r>
            <a:r>
              <a:rPr lang="es-419" sz="3000" b="1" i="1">
                <a:solidFill>
                  <a:schemeClr val="lt1"/>
                </a:solidFill>
              </a:rPr>
              <a:t>camelCase </a:t>
            </a:r>
            <a:r>
              <a:rPr lang="es-419" sz="3000" i="1">
                <a:solidFill>
                  <a:schemeClr val="lt1"/>
                </a:solidFill>
              </a:rPr>
              <a:t>y </a:t>
            </a:r>
            <a:r>
              <a:rPr lang="es-419" sz="3000" b="1" i="1">
                <a:solidFill>
                  <a:schemeClr val="lt1"/>
                </a:solidFill>
              </a:rPr>
              <a:t>verbos</a:t>
            </a:r>
            <a:r>
              <a:rPr lang="es-419" sz="3000" i="1">
                <a:solidFill>
                  <a:schemeClr val="lt1"/>
                </a:solidFill>
              </a:rPr>
              <a:t>.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Composición de una clase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5406" y="2029966"/>
            <a:ext cx="726873" cy="63631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6314975" y="1657775"/>
            <a:ext cx="1250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f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echa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D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N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acimiento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6697150" y="3527674"/>
            <a:ext cx="64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c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omer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8203125" y="1679227"/>
            <a:ext cx="64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n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ombre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6483600" y="2720374"/>
            <a:ext cx="4944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r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aza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8133375" y="2740513"/>
            <a:ext cx="780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t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ipo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D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P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elo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cxnSp>
        <p:nvCxnSpPr>
          <p:cNvPr id="144" name="Google Shape;144;p24"/>
          <p:cNvCxnSpPr>
            <a:stCxn id="138" idx="1"/>
            <a:endCxn id="139" idx="2"/>
          </p:cNvCxnSpPr>
          <p:nvPr/>
        </p:nvCxnSpPr>
        <p:spPr>
          <a:xfrm rot="10800000">
            <a:off x="6940206" y="1976124"/>
            <a:ext cx="415200" cy="3720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" name="Google Shape;145;p24"/>
          <p:cNvSpPr txBox="1"/>
          <p:nvPr/>
        </p:nvSpPr>
        <p:spPr>
          <a:xfrm>
            <a:off x="6754000" y="4350350"/>
            <a:ext cx="5268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s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altar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8195625" y="3527675"/>
            <a:ext cx="72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r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onronear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7415525" y="4510475"/>
            <a:ext cx="1560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000">
                <a:latin typeface="Chewy"/>
                <a:ea typeface="Chewy"/>
                <a:cs typeface="Chewy"/>
                <a:sym typeface="Chewy"/>
              </a:rPr>
              <a:t>p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lanear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D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ominación</a:t>
            </a:r>
            <a:r>
              <a:rPr lang="es-419" sz="1000">
                <a:latin typeface="Chewy"/>
                <a:ea typeface="Chewy"/>
                <a:cs typeface="Chewy"/>
                <a:sym typeface="Chewy"/>
              </a:rPr>
              <a:t>M</a:t>
            </a:r>
            <a:r>
              <a:rPr lang="es-419" sz="1000" b="0" i="0" u="none" strike="noStrike" cap="none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undial</a:t>
            </a:r>
            <a:endParaRPr sz="1000" b="0" i="0" u="none" strike="noStrike" cap="none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cxnSp>
        <p:nvCxnSpPr>
          <p:cNvPr id="148" name="Google Shape;148;p24"/>
          <p:cNvCxnSpPr>
            <a:stCxn id="138" idx="3"/>
            <a:endCxn id="141" idx="2"/>
          </p:cNvCxnSpPr>
          <p:nvPr/>
        </p:nvCxnSpPr>
        <p:spPr>
          <a:xfrm rot="10800000" flipH="1">
            <a:off x="8082279" y="1954524"/>
            <a:ext cx="441000" cy="3936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9" name="Google Shape;149;p24"/>
          <p:cNvCxnSpPr>
            <a:stCxn id="138" idx="1"/>
            <a:endCxn id="142" idx="0"/>
          </p:cNvCxnSpPr>
          <p:nvPr/>
        </p:nvCxnSpPr>
        <p:spPr>
          <a:xfrm flipH="1">
            <a:off x="6730806" y="2348124"/>
            <a:ext cx="624600" cy="3723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" name="Google Shape;150;p24"/>
          <p:cNvCxnSpPr>
            <a:stCxn id="138" idx="3"/>
            <a:endCxn id="143" idx="0"/>
          </p:cNvCxnSpPr>
          <p:nvPr/>
        </p:nvCxnSpPr>
        <p:spPr>
          <a:xfrm>
            <a:off x="8082279" y="2348124"/>
            <a:ext cx="441000" cy="3924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51" name="Google Shape;15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7656" y="3803210"/>
            <a:ext cx="726873" cy="636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4"/>
          <p:cNvCxnSpPr>
            <a:stCxn id="151" idx="1"/>
            <a:endCxn id="140" idx="2"/>
          </p:cNvCxnSpPr>
          <p:nvPr/>
        </p:nvCxnSpPr>
        <p:spPr>
          <a:xfrm rot="10800000">
            <a:off x="7017256" y="3803067"/>
            <a:ext cx="320400" cy="3183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" name="Google Shape;153;p24"/>
          <p:cNvCxnSpPr>
            <a:stCxn id="151" idx="3"/>
            <a:endCxn id="146" idx="2"/>
          </p:cNvCxnSpPr>
          <p:nvPr/>
        </p:nvCxnSpPr>
        <p:spPr>
          <a:xfrm rot="10800000" flipH="1">
            <a:off x="8064529" y="3845967"/>
            <a:ext cx="494400" cy="2754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24"/>
          <p:cNvCxnSpPr>
            <a:stCxn id="151" idx="1"/>
            <a:endCxn id="145" idx="0"/>
          </p:cNvCxnSpPr>
          <p:nvPr/>
        </p:nvCxnSpPr>
        <p:spPr>
          <a:xfrm flipH="1">
            <a:off x="7017256" y="4121367"/>
            <a:ext cx="320400" cy="2289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" name="Google Shape;155;p24"/>
          <p:cNvCxnSpPr>
            <a:stCxn id="151" idx="3"/>
            <a:endCxn id="147" idx="0"/>
          </p:cNvCxnSpPr>
          <p:nvPr/>
        </p:nvCxnSpPr>
        <p:spPr>
          <a:xfrm>
            <a:off x="8064529" y="4121367"/>
            <a:ext cx="131100" cy="389100"/>
          </a:xfrm>
          <a:prstGeom prst="curvedConnector2">
            <a:avLst/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subTitle" idx="1"/>
          </p:nvPr>
        </p:nvSpPr>
        <p:spPr>
          <a:xfrm>
            <a:off x="311700" y="1603875"/>
            <a:ext cx="6171900" cy="32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55555"/>
              <a:buFont typeface="Arial"/>
              <a:buNone/>
            </a:pPr>
            <a:r>
              <a:rPr lang="es-419" sz="1800" b="1">
                <a:solidFill>
                  <a:schemeClr val="lt1"/>
                </a:solidFill>
              </a:rPr>
              <a:t>Relaciones</a:t>
            </a:r>
            <a:endParaRPr sz="1800" b="1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</a:rPr>
              <a:t>Las clases se conectan entre sí a través de relaciones y </a:t>
            </a:r>
            <a:endParaRPr sz="1800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55555"/>
              <a:buFont typeface="Arial"/>
              <a:buNone/>
            </a:pPr>
            <a:r>
              <a:rPr lang="es-419" sz="1800" b="1">
                <a:solidFill>
                  <a:schemeClr val="lt1"/>
                </a:solidFill>
              </a:rPr>
              <a:t>colaboran </a:t>
            </a:r>
            <a:r>
              <a:rPr lang="es-419" sz="1800">
                <a:solidFill>
                  <a:schemeClr val="lt1"/>
                </a:solidFill>
              </a:rPr>
              <a:t>para realizar un comportamiento mayor. </a:t>
            </a:r>
            <a:endParaRPr sz="1800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</a:rPr>
              <a:t>Los objetos de clases relacionadas pueden interactuar entre sí. </a:t>
            </a:r>
            <a:endParaRPr sz="1800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55555"/>
              <a:buFont typeface="Arial"/>
              <a:buNone/>
            </a:pPr>
            <a:r>
              <a:rPr lang="es-419" sz="1800" b="1">
                <a:solidFill>
                  <a:schemeClr val="lt1"/>
                </a:solidFill>
              </a:rPr>
              <a:t>Semántica</a:t>
            </a:r>
            <a:endParaRPr sz="1800" b="1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</a:rPr>
              <a:t>La semántica es el </a:t>
            </a:r>
            <a:r>
              <a:rPr lang="es-419" sz="1800" b="1">
                <a:solidFill>
                  <a:schemeClr val="lt1"/>
                </a:solidFill>
              </a:rPr>
              <a:t>significado </a:t>
            </a:r>
            <a:r>
              <a:rPr lang="es-419" sz="1800">
                <a:solidFill>
                  <a:schemeClr val="lt1"/>
                </a:solidFill>
              </a:rPr>
              <a:t>que se le da a la clase y a </a:t>
            </a:r>
            <a:endParaRPr sz="1800">
              <a:solidFill>
                <a:schemeClr val="lt1"/>
              </a:solidFill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</a:rPr>
              <a:t>sus relaciones dentro del contexto de negocio.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Composición de una clase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7106043" y="1684056"/>
            <a:ext cx="676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Tiene una</a:t>
            </a:r>
            <a:endParaRPr sz="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7145864" y="2732762"/>
            <a:ext cx="54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Come</a:t>
            </a:r>
            <a:endParaRPr sz="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1819" y="2834951"/>
            <a:ext cx="747499" cy="852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2250" y="1566325"/>
            <a:ext cx="747499" cy="852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1819" y="1566325"/>
            <a:ext cx="747499" cy="8526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5"/>
          <p:cNvCxnSpPr>
            <a:stCxn id="166" idx="2"/>
            <a:endCxn id="164" idx="0"/>
          </p:cNvCxnSpPr>
          <p:nvPr/>
        </p:nvCxnSpPr>
        <p:spPr>
          <a:xfrm rot="-5400000" flipH="1">
            <a:off x="8027818" y="2626690"/>
            <a:ext cx="4161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444D26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168" name="Google Shape;168;p25"/>
          <p:cNvCxnSpPr>
            <a:stCxn id="169" idx="3"/>
            <a:endCxn id="164" idx="1"/>
          </p:cNvCxnSpPr>
          <p:nvPr/>
        </p:nvCxnSpPr>
        <p:spPr>
          <a:xfrm>
            <a:off x="6969749" y="3079531"/>
            <a:ext cx="892200" cy="181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444D26"/>
            </a:solidFill>
            <a:prstDash val="dash"/>
            <a:round/>
            <a:headEnd type="stealth" w="med" len="med"/>
            <a:tailEnd type="none" w="sm" len="sm"/>
          </a:ln>
        </p:spPr>
      </p:cxnSp>
      <p:sp>
        <p:nvSpPr>
          <p:cNvPr id="170" name="Google Shape;170;p25"/>
          <p:cNvSpPr txBox="1"/>
          <p:nvPr/>
        </p:nvSpPr>
        <p:spPr>
          <a:xfrm>
            <a:off x="7064724" y="3328125"/>
            <a:ext cx="89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419" sz="800" b="0" i="1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(Dependencia)</a:t>
            </a:r>
            <a:endParaRPr sz="800" b="0" i="1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064725" y="2021750"/>
            <a:ext cx="785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419" sz="800" b="0" i="1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(Asociación)</a:t>
            </a:r>
            <a:endParaRPr sz="800" b="0" i="1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8235575" y="2457275"/>
            <a:ext cx="94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419" sz="800" i="1">
                <a:latin typeface="Roboto"/>
                <a:ea typeface="Roboto"/>
                <a:cs typeface="Roboto"/>
                <a:sym typeface="Roboto"/>
              </a:rPr>
              <a:t>Es un</a:t>
            </a:r>
            <a:endParaRPr sz="800" i="1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419" sz="800" b="0" i="1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(Generalización)</a:t>
            </a:r>
            <a:endParaRPr sz="800" b="0" i="1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5619" y="4023810"/>
            <a:ext cx="747499" cy="852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2122" y="3937408"/>
            <a:ext cx="747499" cy="852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2250" y="2653223"/>
            <a:ext cx="747499" cy="8526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5"/>
          <p:cNvCxnSpPr>
            <a:stCxn id="165" idx="3"/>
            <a:endCxn id="166" idx="1"/>
          </p:cNvCxnSpPr>
          <p:nvPr/>
        </p:nvCxnSpPr>
        <p:spPr>
          <a:xfrm>
            <a:off x="6969749" y="1992633"/>
            <a:ext cx="892200" cy="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444D2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Sintaxis de una clase en Java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1"/>
          </p:nvPr>
        </p:nvSpPr>
        <p:spPr>
          <a:xfrm>
            <a:off x="3740700" y="1873875"/>
            <a:ext cx="52803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Modificadores de clase</a:t>
            </a:r>
            <a:endParaRPr/>
          </a:p>
        </p:txBody>
      </p:sp>
      <p:graphicFrame>
        <p:nvGraphicFramePr>
          <p:cNvPr id="182" name="Google Shape;182;p26"/>
          <p:cNvGraphicFramePr/>
          <p:nvPr/>
        </p:nvGraphicFramePr>
        <p:xfrm>
          <a:off x="3835850" y="2559675"/>
          <a:ext cx="5090000" cy="1920210"/>
        </p:xfrm>
        <a:graphic>
          <a:graphicData uri="http://schemas.openxmlformats.org/drawingml/2006/table">
            <a:tbl>
              <a:tblPr>
                <a:noFill/>
                <a:tableStyleId>{5BC02CD6-260A-4142-9526-F0F669A0B598}</a:tableStyleId>
              </a:tblPr>
              <a:tblGrid>
                <a:gridCol w="23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NOMBRE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DESCRIPCIÓN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public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desde cualquier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default (sin modificador)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sólo desde el mismo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final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La clase no puede ser derivada.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abstract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La clase no puede ser instanciada.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50" y="1719275"/>
            <a:ext cx="2109922" cy="323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Sintaxis atributos en Java</a:t>
            </a:r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subTitle" idx="1"/>
          </p:nvPr>
        </p:nvSpPr>
        <p:spPr>
          <a:xfrm>
            <a:off x="3528125" y="1721475"/>
            <a:ext cx="52803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Modificadores de atributos</a:t>
            </a:r>
            <a:endParaRPr/>
          </a:p>
        </p:txBody>
      </p:sp>
      <p:graphicFrame>
        <p:nvGraphicFramePr>
          <p:cNvPr id="190" name="Google Shape;190;p27"/>
          <p:cNvGraphicFramePr/>
          <p:nvPr/>
        </p:nvGraphicFramePr>
        <p:xfrm>
          <a:off x="3282725" y="2407275"/>
          <a:ext cx="5771125" cy="2499150"/>
        </p:xfrm>
        <a:graphic>
          <a:graphicData uri="http://schemas.openxmlformats.org/drawingml/2006/table">
            <a:tbl>
              <a:tblPr>
                <a:noFill/>
                <a:tableStyleId>{5BC02CD6-260A-4142-9526-F0F669A0B598}</a:tableStyleId>
              </a:tblPr>
              <a:tblGrid>
                <a:gridCol w="222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NOMBRE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DESCRIPCIÓN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public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desde cualquier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protected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Accesibles desde el mismo paquete y derivadas.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</a:rPr>
                        <a:t>(*) default (sin modificador)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</a:rPr>
                        <a:t>Accesible sólo desde el mismo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private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sólo desde la misma clase.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final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Una vez asignada, no podrá modificarse.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static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Pertenece a la clase y no a las instancias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25" y="2069955"/>
            <a:ext cx="2096650" cy="10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subTitle" idx="1"/>
          </p:nvPr>
        </p:nvSpPr>
        <p:spPr>
          <a:xfrm>
            <a:off x="311700" y="1035675"/>
            <a:ext cx="80154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Sintaxis métodos en Java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"/>
          </p:nvPr>
        </p:nvSpPr>
        <p:spPr>
          <a:xfrm>
            <a:off x="3563350" y="1662775"/>
            <a:ext cx="5280300" cy="5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Modificadores de métodos</a:t>
            </a:r>
            <a:endParaRPr/>
          </a:p>
        </p:txBody>
      </p:sp>
      <p:graphicFrame>
        <p:nvGraphicFramePr>
          <p:cNvPr id="198" name="Google Shape;198;p28"/>
          <p:cNvGraphicFramePr/>
          <p:nvPr/>
        </p:nvGraphicFramePr>
        <p:xfrm>
          <a:off x="3353163" y="2148950"/>
          <a:ext cx="5700675" cy="2849640"/>
        </p:xfrm>
        <a:graphic>
          <a:graphicData uri="http://schemas.openxmlformats.org/drawingml/2006/table">
            <a:tbl>
              <a:tblPr>
                <a:noFill/>
                <a:tableStyleId>{5BC02CD6-260A-4142-9526-F0F669A0B598}</a:tableStyleId>
              </a:tblPr>
              <a:tblGrid>
                <a:gridCol w="220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NOMBRE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DESCRIPCIÓN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public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desde cualquier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protected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Accesibles desde el mismo paquete y derivadas.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</a:rPr>
                        <a:t>(*) default (sin modificador) 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</a:rPr>
                        <a:t>Accesible sólo desde el mismo paquete.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(*) private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Accesible sólo desde la misma clase.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final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No puede ser sobrescrito por clases derivadas.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static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Pertenece a la clase y no a las instancias.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abstract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/>
                        <a:t>No tiene implementación y debe ser sobrescrito.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75" y="2230975"/>
            <a:ext cx="3222300" cy="210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ctrTitle"/>
          </p:nvPr>
        </p:nvSpPr>
        <p:spPr>
          <a:xfrm>
            <a:off x="253000" y="171375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1290</Words>
  <Application>Microsoft Office PowerPoint</Application>
  <PresentationFormat>Presentación en pantalla (16:9)</PresentationFormat>
  <Paragraphs>167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Chewy</vt:lpstr>
      <vt:lpstr>Encode Sans ExtraBold</vt:lpstr>
      <vt:lpstr>Roboto</vt:lpstr>
      <vt:lpstr>Encode Sans</vt:lpstr>
      <vt:lpstr>Montserrat Light</vt:lpstr>
      <vt:lpstr>Montserrat</vt:lpstr>
      <vt:lpstr>Arial</vt:lpstr>
      <vt:lpstr>Simple Light</vt:lpstr>
      <vt:lpstr>Clases y métodos estáticos</vt:lpstr>
      <vt:lpstr>Presentación de PowerPoint</vt:lpstr>
      <vt:lpstr>Introducción a la POO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Ricardo Gastón Plazas</cp:lastModifiedBy>
  <cp:revision>9</cp:revision>
  <dcterms:modified xsi:type="dcterms:W3CDTF">2025-08-13T13:41:42Z</dcterms:modified>
</cp:coreProperties>
</file>