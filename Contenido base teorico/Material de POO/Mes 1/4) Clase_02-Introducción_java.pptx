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49"/>
  </p:notesMasterIdLst>
  <p:sldIdLst>
    <p:sldId id="256" r:id="rId2"/>
    <p:sldId id="257" r:id="rId3"/>
    <p:sldId id="258" r:id="rId4"/>
    <p:sldId id="300" r:id="rId5"/>
    <p:sldId id="301" r:id="rId6"/>
    <p:sldId id="302" r:id="rId7"/>
    <p:sldId id="303" r:id="rId8"/>
    <p:sldId id="261" r:id="rId9"/>
    <p:sldId id="304" r:id="rId10"/>
    <p:sldId id="262" r:id="rId11"/>
    <p:sldId id="260" r:id="rId12"/>
    <p:sldId id="305" r:id="rId13"/>
    <p:sldId id="263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x="9144000" cy="5143500" type="screen16x9"/>
  <p:notesSz cx="6858000" cy="9144000"/>
  <p:embeddedFontLst>
    <p:embeddedFont>
      <p:font typeface="Encode Sans" panose="020B0604020202020204" charset="0"/>
      <p:regular r:id="rId50"/>
      <p:bold r:id="rId51"/>
    </p:embeddedFont>
    <p:embeddedFont>
      <p:font typeface="Encode Sans ExtraBold" panose="020B0604020202020204" charset="0"/>
      <p:bold r:id="rId52"/>
    </p:embeddedFont>
    <p:embeddedFont>
      <p:font typeface="Montserrat" panose="00000500000000000000" pitchFamily="2" charset="0"/>
      <p:regular r:id="rId53"/>
      <p:bold r:id="rId54"/>
      <p:italic r:id="rId55"/>
      <p:boldItalic r:id="rId56"/>
    </p:embeddedFont>
    <p:embeddedFont>
      <p:font typeface="Montserrat Light" panose="00000400000000000000" pitchFamily="2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2D0621-8C55-4E71-8991-9007C5821A20}">
  <a:tblStyle styleId="{922D0621-8C55-4E71-8991-9007C5821A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ed6be7b66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ed6be7b66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ff2e3002e6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ff2e3002e6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ed6be7b664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ed6be7b664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ed6be7b664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ed6be7b664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745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ed6be7b664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ed6be7b664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5600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ed6be7b664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ed6be7b664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8068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ed6be7b664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ed6be7b664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2785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d6be7b66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d6be7b664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ed6be7b664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ed6be7b664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03219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d6be7b66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d6be7b66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ed6be7b66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ed6be7b66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ed6be7b66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ed6be7b66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27226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ed6be7b664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ed6be7b664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d6be7b664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d6be7b664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d6be7b664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d6be7b664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ed6be7b664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ed6be7b664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d6be7b664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ed6be7b664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ed6be7b664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ed6be7b664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07976e52a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f07976e52a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f07976e52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f07976e52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07976e52a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f07976e52a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f07976e52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f07976e52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ed6be7b664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ed6be7b664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ed6be7b664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ed6be7b664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ed6be7b664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ed6be7b664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ed6be7b664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ed6be7b664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ed6be7b664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ed6be7b664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ed6be7b664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ed6be7b664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1bca6fbd7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1bca6fbd7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1bca6fbd7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1bca6fbd7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1bca6fbd7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1bca6fbd73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1bca6fbd7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1bca6fbd7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eda0ffeeb1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eda0ffeeb1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bca6fbd73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1bca6fbd73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1bca6fbd73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1bca6fbd73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1bca6fbd73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1bca6fbd73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1bca6fbd73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1bca6fbd73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1bca6fbd73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1bca6fbd73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1bca6fbd73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1bca6fbd73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1bca6fbd73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1bca6fbd73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1bca6fbd73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1bca6fbd73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1bca6fbd73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1bca6fbd73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1bca6fbd73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1bca6fbd73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eda0ffeeb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eda0ffeeb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eda0ffeeb1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eda0ffeeb1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eda0ffeeb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eda0ffeeb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eda0ffeeb1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eda0ffeeb1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0" y="1197075"/>
            <a:ext cx="8520600" cy="17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sz="5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330741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1984800"/>
            <a:ext cx="8520600" cy="11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sz="36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2054300"/>
            <a:ext cx="3999900" cy="26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2054150"/>
            <a:ext cx="3999900" cy="26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1042600"/>
            <a:ext cx="2808000" cy="10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973100"/>
            <a:ext cx="6367800" cy="33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sz="4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073500"/>
            <a:ext cx="4045200" cy="172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Encode Sans"/>
              <a:buNone/>
              <a:defRPr sz="4200" b="1">
                <a:latin typeface="Encode Sans"/>
                <a:ea typeface="Encode Sans"/>
                <a:cs typeface="Encode Sans"/>
                <a:sym typeface="Encode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49125" y="4179425"/>
            <a:ext cx="56349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sz="2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Char char="●"/>
              <a:defRPr sz="1800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/>
          <p:nvPr/>
        </p:nvSpPr>
        <p:spPr>
          <a:xfrm>
            <a:off x="1668175" y="84975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PROGRAMACIÓN ORIENTADA A OBJETOS</a:t>
            </a:r>
            <a:endParaRPr sz="1800" dirty="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" name="Google Shape;9;p1"/>
          <p:cNvSpPr txBox="1"/>
          <p:nvPr/>
        </p:nvSpPr>
        <p:spPr>
          <a:xfrm>
            <a:off x="1668175" y="654446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Introducción a JAVA</a:t>
            </a:r>
            <a:endParaRPr sz="150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1668175" y="370798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 dirty="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Lic. PLAZAS, </a:t>
            </a:r>
            <a:r>
              <a:rPr lang="es-ES" sz="8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Ricardo Gastón</a:t>
            </a:r>
            <a:endParaRPr lang="es-ES" sz="800" dirty="0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  <p:pic>
        <p:nvPicPr>
          <p:cNvPr id="2" name="Google Shape;65;p14">
            <a:extLst>
              <a:ext uri="{FF2B5EF4-FFF2-40B4-BE49-F238E27FC236}">
                <a16:creationId xmlns:a16="http://schemas.microsoft.com/office/drawing/2014/main" id="{F859CB5E-9E33-DBCA-0A46-CABB2E739C8B}"/>
              </a:ext>
            </a:extLst>
          </p:cNvPr>
          <p:cNvPicPr preferRelativeResize="0"/>
          <p:nvPr userDrawn="1"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155249" y="121713"/>
            <a:ext cx="865909" cy="721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44DC83E4-D376-4591-6BFF-51D86022DA9E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" y="1"/>
            <a:ext cx="1668174" cy="932546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Programaci%C3%B3n_orientada_a_objeto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es.wikipedia.org/wiki/Programaci%C3%B3n_orientada_a_objeto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Programaci%C3%B3n_orientada_a_objeto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Programaci%C3%B3n_orientada_a_objeto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Programaci%C3%B3n_orientada_a_objeto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Programaci%C3%B3n_orientada_a_objeto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www.oracle.com/ar/java/technologies/downloads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netbeans.apache.org/front/main/download/nb22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code.visualstudio.com/download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pedia.org/wiki/Camel_case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311700" y="2806930"/>
            <a:ext cx="8520600" cy="17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400" dirty="0"/>
              <a:t>Introducción </a:t>
            </a:r>
            <a:endParaRPr sz="4400" dirty="0"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0631" y="1284895"/>
            <a:ext cx="2442738" cy="1715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subTitle" idx="1"/>
          </p:nvPr>
        </p:nvSpPr>
        <p:spPr>
          <a:xfrm>
            <a:off x="622300" y="1587137"/>
            <a:ext cx="4167000" cy="25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 dirty="0"/>
              <a:t>Independiente de Plataforma</a:t>
            </a:r>
            <a:endParaRPr sz="1700" dirty="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 dirty="0"/>
              <a:t>Orientado a objetos (POO)</a:t>
            </a: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AR" sz="1700" dirty="0"/>
              <a:t>Sencillez</a:t>
            </a: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 dirty="0"/>
              <a:t>Seguridad</a:t>
            </a:r>
            <a:endParaRPr sz="1700" dirty="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 dirty="0"/>
              <a:t>Arquitectura Neutral</a:t>
            </a: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AR" sz="1700" dirty="0"/>
              <a:t>Portabilidad</a:t>
            </a:r>
            <a:endParaRPr sz="1700" dirty="0"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85217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Características de JAVA</a:t>
            </a:r>
            <a:endParaRPr b="1" dirty="0"/>
          </a:p>
        </p:txBody>
      </p:sp>
      <p:sp>
        <p:nvSpPr>
          <p:cNvPr id="66" name="Google Shape;66;p14"/>
          <p:cNvSpPr txBox="1">
            <a:spLocks noGrp="1"/>
          </p:cNvSpPr>
          <p:nvPr>
            <p:ph type="subTitle" idx="4294967295"/>
          </p:nvPr>
        </p:nvSpPr>
        <p:spPr>
          <a:xfrm>
            <a:off x="4976813" y="1727490"/>
            <a:ext cx="4167187" cy="25368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 dirty="0"/>
              <a:t>Robustez</a:t>
            </a:r>
          </a:p>
          <a:p>
            <a:pPr indent="-336550">
              <a:lnSpc>
                <a:spcPct val="90000"/>
              </a:lnSpc>
              <a:buSzPts val="1700"/>
              <a:buFont typeface="Encode Sans"/>
              <a:buChar char="❖"/>
            </a:pPr>
            <a:r>
              <a:rPr lang="es-419" sz="1700" dirty="0"/>
              <a:t>Multi-Hilo</a:t>
            </a: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 dirty="0"/>
              <a:t>Interpretado</a:t>
            </a: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 dirty="0"/>
              <a:t>Alto Rendimiento</a:t>
            </a:r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 dirty="0"/>
              <a:t>Distribuido</a:t>
            </a:r>
            <a:endParaRPr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85217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Independiente de Plataforma</a:t>
            </a:r>
          </a:p>
        </p:txBody>
      </p:sp>
      <p:pic>
        <p:nvPicPr>
          <p:cNvPr id="75" name="Google Shape;75;p1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5325" y="4679200"/>
            <a:ext cx="8286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 descr="Máquina virtual Java - Wikipedia, la enciclopedia libre">
            <a:extLst>
              <a:ext uri="{FF2B5EF4-FFF2-40B4-BE49-F238E27FC236}">
                <a16:creationId xmlns:a16="http://schemas.microsoft.com/office/drawing/2014/main" id="{6E2FCC0F-F5B9-0CA3-2ECC-3CE6F3100D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5" name="AutoShape 4" descr="Máquina virtual Java - Wikipedia, la enciclopedia libre">
            <a:extLst>
              <a:ext uri="{FF2B5EF4-FFF2-40B4-BE49-F238E27FC236}">
                <a16:creationId xmlns:a16="http://schemas.microsoft.com/office/drawing/2014/main" id="{E6F7C606-713B-381E-527F-66997850BD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58836" y="1158586"/>
            <a:ext cx="1717964" cy="1717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BB7007E-525C-CBBF-C7E7-09089C451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0822" y="1691334"/>
            <a:ext cx="3900055" cy="26460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85217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Orientado a objetos (POO)</a:t>
            </a:r>
            <a:endParaRPr b="1" dirty="0"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0129" y="1814513"/>
            <a:ext cx="2933996" cy="2490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5325" y="4679200"/>
            <a:ext cx="828675" cy="276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4550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85217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Sencillez</a:t>
            </a:r>
            <a:endParaRPr b="1" dirty="0"/>
          </a:p>
        </p:txBody>
      </p:sp>
      <p:pic>
        <p:nvPicPr>
          <p:cNvPr id="75" name="Google Shape;75;p1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5325" y="4679200"/>
            <a:ext cx="8286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9FA3318-C3BD-41DD-8819-97ABA46F0E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9944" y="1946638"/>
            <a:ext cx="1951622" cy="200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48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85217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Seguridad</a:t>
            </a:r>
            <a:endParaRPr b="1" dirty="0"/>
          </a:p>
        </p:txBody>
      </p:sp>
      <p:pic>
        <p:nvPicPr>
          <p:cNvPr id="75" name="Google Shape;75;p1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5325" y="4679200"/>
            <a:ext cx="8286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DBAE114-8CB1-FC9C-F4F0-8BC9E0C75D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7564" y="1795859"/>
            <a:ext cx="3993876" cy="269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060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85217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Arquitectura Neutral</a:t>
            </a:r>
          </a:p>
        </p:txBody>
      </p:sp>
      <p:pic>
        <p:nvPicPr>
          <p:cNvPr id="75" name="Google Shape;75;p1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5325" y="4679200"/>
            <a:ext cx="8286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980430B-33BC-6B7E-F7AA-02D5C4903C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62" y="1712587"/>
            <a:ext cx="5306165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127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85217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Portable</a:t>
            </a:r>
            <a:endParaRPr b="1" dirty="0"/>
          </a:p>
        </p:txBody>
      </p:sp>
      <p:pic>
        <p:nvPicPr>
          <p:cNvPr id="4098" name="Picture 2" descr="La Máquina Virtual Java">
            <a:extLst>
              <a:ext uri="{FF2B5EF4-FFF2-40B4-BE49-F238E27FC236}">
                <a16:creationId xmlns:a16="http://schemas.microsoft.com/office/drawing/2014/main" id="{233DB0C9-31ED-0083-FDF9-80FA0EEDC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570" y="1814513"/>
            <a:ext cx="3705225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85217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Robustez</a:t>
            </a:r>
          </a:p>
        </p:txBody>
      </p:sp>
      <p:pic>
        <p:nvPicPr>
          <p:cNvPr id="75" name="Google Shape;75;p1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5325" y="4679200"/>
            <a:ext cx="8286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B4CCBF29-BEBA-11FC-DA57-2CDEB75B4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314" y="1644820"/>
            <a:ext cx="1531072" cy="2757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8981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subTitle" idx="4294967295"/>
          </p:nvPr>
        </p:nvSpPr>
        <p:spPr>
          <a:xfrm>
            <a:off x="0" y="927184"/>
            <a:ext cx="85217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Multihilo</a:t>
            </a:r>
            <a:endParaRPr b="1" dirty="0"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127" y="1720934"/>
            <a:ext cx="7294418" cy="2495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8521700" cy="7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Interpretado</a:t>
            </a:r>
            <a:endParaRPr b="1" dirty="0"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0226" y="1750263"/>
            <a:ext cx="3024365" cy="278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8521700" cy="7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Alto Rendimiento</a:t>
            </a:r>
            <a:endParaRPr b="1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9141E25-021F-6243-EE93-E3F5F2103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872096"/>
            <a:ext cx="42672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8313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85217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Distribuido</a:t>
            </a:r>
            <a:endParaRPr b="1"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1375" y="1759034"/>
            <a:ext cx="2578950" cy="222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ctrTitle"/>
          </p:nvPr>
        </p:nvSpPr>
        <p:spPr>
          <a:xfrm>
            <a:off x="311700" y="1566905"/>
            <a:ext cx="8520600" cy="17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Instalación</a:t>
            </a:r>
            <a:endParaRPr dirty="0"/>
          </a:p>
        </p:txBody>
      </p:sp>
      <p:sp>
        <p:nvSpPr>
          <p:cNvPr id="135" name="Google Shape;135;p23"/>
          <p:cNvSpPr txBox="1">
            <a:spLocks noGrp="1"/>
          </p:cNvSpPr>
          <p:nvPr>
            <p:ph type="subTitle" idx="1"/>
          </p:nvPr>
        </p:nvSpPr>
        <p:spPr>
          <a:xfrm>
            <a:off x="263209" y="271859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Instalar JDK, IDE y complementos.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>
            <a:spLocks noGrp="1"/>
          </p:cNvSpPr>
          <p:nvPr>
            <p:ph type="subTitle" idx="1"/>
          </p:nvPr>
        </p:nvSpPr>
        <p:spPr>
          <a:xfrm>
            <a:off x="561109" y="1689700"/>
            <a:ext cx="3636818" cy="25982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Acceder a: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Seleccionar solapa JDK 21 (LTS)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Indicar el S.O. y descargar el instalador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</p:txBody>
      </p:sp>
      <p:sp>
        <p:nvSpPr>
          <p:cNvPr id="141" name="Google Shape;141;p24"/>
          <p:cNvSpPr txBox="1">
            <a:spLocks noGrp="1"/>
          </p:cNvSpPr>
          <p:nvPr>
            <p:ph type="subTitle" idx="4294967295"/>
          </p:nvPr>
        </p:nvSpPr>
        <p:spPr>
          <a:xfrm>
            <a:off x="478057" y="1083108"/>
            <a:ext cx="3991035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/>
              <a:t>Instalar el JDK (Java </a:t>
            </a:r>
            <a:r>
              <a:rPr lang="es-419" sz="1600" b="1" dirty="0" err="1"/>
              <a:t>Development</a:t>
            </a:r>
            <a:r>
              <a:rPr lang="es-419" sz="1600" b="1" dirty="0"/>
              <a:t> Kit)</a:t>
            </a:r>
            <a:endParaRPr sz="1600" b="1" dirty="0"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9092" y="983673"/>
            <a:ext cx="4564072" cy="3978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9645" y="2144446"/>
            <a:ext cx="82867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>
            <a:spLocks noGrp="1"/>
          </p:cNvSpPr>
          <p:nvPr>
            <p:ph type="subTitle" idx="1"/>
          </p:nvPr>
        </p:nvSpPr>
        <p:spPr>
          <a:xfrm>
            <a:off x="311701" y="1465647"/>
            <a:ext cx="8652190" cy="6586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dirty="0"/>
              <a:t>Ejecutar el instalador y completar los pasos con el clásico 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dirty="0"/>
              <a:t>“Siguiente, siguiente… finalizar”.</a:t>
            </a:r>
            <a:endParaRPr sz="1600" dirty="0"/>
          </a:p>
        </p:txBody>
      </p:sp>
      <p:sp>
        <p:nvSpPr>
          <p:cNvPr id="150" name="Google Shape;150;p25"/>
          <p:cNvSpPr txBox="1">
            <a:spLocks noGrp="1"/>
          </p:cNvSpPr>
          <p:nvPr>
            <p:ph type="subTitle" idx="4294967295"/>
          </p:nvPr>
        </p:nvSpPr>
        <p:spPr>
          <a:xfrm>
            <a:off x="-1" y="1020763"/>
            <a:ext cx="9192491" cy="4893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Instalar el JDK (Java </a:t>
            </a:r>
            <a:r>
              <a:rPr lang="es-419" b="1" dirty="0" err="1"/>
              <a:t>Development</a:t>
            </a:r>
            <a:r>
              <a:rPr lang="es-419" b="1" dirty="0"/>
              <a:t> Kit)</a:t>
            </a:r>
            <a:endParaRPr b="1" dirty="0"/>
          </a:p>
        </p:txBody>
      </p:sp>
      <p:pic>
        <p:nvPicPr>
          <p:cNvPr id="152" name="Google Shape;1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339" y="2070975"/>
            <a:ext cx="3824698" cy="2902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5965" y="2070975"/>
            <a:ext cx="3824698" cy="2902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>
            <a:spLocks noGrp="1"/>
          </p:cNvSpPr>
          <p:nvPr>
            <p:ph type="subTitle" idx="1"/>
          </p:nvPr>
        </p:nvSpPr>
        <p:spPr>
          <a:xfrm>
            <a:off x="311700" y="102141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Instalar la IDE </a:t>
            </a:r>
            <a:endParaRPr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(</a:t>
            </a:r>
            <a:r>
              <a:rPr lang="es-419" dirty="0" err="1"/>
              <a:t>Integrated</a:t>
            </a:r>
            <a:r>
              <a:rPr lang="es-419" dirty="0"/>
              <a:t> </a:t>
            </a:r>
            <a:r>
              <a:rPr lang="es-419" dirty="0" err="1"/>
              <a:t>Development</a:t>
            </a:r>
            <a:r>
              <a:rPr lang="es-419" dirty="0"/>
              <a:t> </a:t>
            </a:r>
            <a:r>
              <a:rPr lang="es-419" dirty="0" err="1"/>
              <a:t>Environment</a:t>
            </a:r>
            <a:r>
              <a:rPr lang="es-419" dirty="0"/>
              <a:t>)</a:t>
            </a:r>
            <a:endParaRPr dirty="0"/>
          </a:p>
        </p:txBody>
      </p:sp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056" y="3449783"/>
            <a:ext cx="3953423" cy="986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 rotWithShape="1">
          <a:blip r:embed="rId4">
            <a:alphaModFix/>
          </a:blip>
          <a:srcRect l="19861" r="20692" b="12980"/>
          <a:stretch/>
        </p:blipFill>
        <p:spPr>
          <a:xfrm>
            <a:off x="6848336" y="2083738"/>
            <a:ext cx="1983964" cy="203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015" y="2032356"/>
            <a:ext cx="3558569" cy="1297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4331" y="2083738"/>
            <a:ext cx="1838325" cy="20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>
            <a:spLocks noGrp="1"/>
          </p:cNvSpPr>
          <p:nvPr>
            <p:ph type="subTitle" idx="1"/>
          </p:nvPr>
        </p:nvSpPr>
        <p:spPr>
          <a:xfrm>
            <a:off x="311700" y="1689700"/>
            <a:ext cx="8520600" cy="286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NetBeans es un entorno de desarrollo integrado (IDE) libre, gratuito y sin restricciones de uso, hecho principalmente para JAVA.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Existe además un número importante de módulos para extenderlo.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Posee, entre otros: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● Una terminal integrada.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● </a:t>
            </a:r>
            <a:r>
              <a:rPr lang="es-419" sz="1700" dirty="0" err="1"/>
              <a:t>Intellisense</a:t>
            </a:r>
            <a:r>
              <a:rPr lang="es-419" sz="1700" dirty="0"/>
              <a:t>.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● Consola de depuración.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● Gestor de módulos.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● Etc.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</p:txBody>
      </p:sp>
      <p:sp>
        <p:nvSpPr>
          <p:cNvPr id="169" name="Google Shape;169;p27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85217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NetBeans</a:t>
            </a:r>
            <a:endParaRPr b="1" dirty="0"/>
          </a:p>
        </p:txBody>
      </p:sp>
      <p:pic>
        <p:nvPicPr>
          <p:cNvPr id="171" name="Google Shape;171;p2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7662" y="4298044"/>
            <a:ext cx="8286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3375" y="2655795"/>
            <a:ext cx="1838325" cy="20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>
            <a:spLocks noGrp="1"/>
          </p:cNvSpPr>
          <p:nvPr>
            <p:ph type="subTitle" idx="1"/>
          </p:nvPr>
        </p:nvSpPr>
        <p:spPr>
          <a:xfrm>
            <a:off x="311700" y="1689700"/>
            <a:ext cx="4857600" cy="286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Una vez descargado el instalador, seleccionar </a:t>
            </a:r>
            <a:r>
              <a:rPr lang="es-419" sz="1700" b="1" i="1"/>
              <a:t>Nuevo proyecto</a:t>
            </a:r>
            <a:r>
              <a:rPr lang="es-419" sz="1700"/>
              <a:t>:</a:t>
            </a: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● Java with Ant -&gt; Java Application.</a:t>
            </a: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● Colocar nombre del proyecto.</a:t>
            </a: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178" name="Google Shape;178;p28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9144000" cy="6071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NetBeans</a:t>
            </a:r>
            <a:endParaRPr b="1" dirty="0"/>
          </a:p>
        </p:txBody>
      </p:sp>
      <p:pic>
        <p:nvPicPr>
          <p:cNvPr id="180" name="Google Shape;18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6298" y="1820235"/>
            <a:ext cx="4157385" cy="286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>
            <a:spLocks noGrp="1"/>
          </p:cNvSpPr>
          <p:nvPr>
            <p:ph type="subTitle" idx="1"/>
          </p:nvPr>
        </p:nvSpPr>
        <p:spPr>
          <a:xfrm>
            <a:off x="332482" y="1819979"/>
            <a:ext cx="4857600" cy="23867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Una vez descargado el instalador, seleccionar </a:t>
            </a:r>
            <a:r>
              <a:rPr lang="es-419" sz="1700" b="1" i="1" dirty="0"/>
              <a:t>Nuevo proyecto</a:t>
            </a:r>
            <a:r>
              <a:rPr lang="es-419" sz="1700" dirty="0"/>
              <a:t>: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● </a:t>
            </a:r>
            <a:r>
              <a:rPr lang="es-419" sz="1700" dirty="0">
                <a:solidFill>
                  <a:schemeClr val="lt1"/>
                </a:solidFill>
              </a:rPr>
              <a:t>Colocar nombre del proyecto.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● </a:t>
            </a:r>
            <a:r>
              <a:rPr lang="es-419" sz="1700" dirty="0">
                <a:solidFill>
                  <a:schemeClr val="lt1"/>
                </a:solidFill>
              </a:rPr>
              <a:t>Finalizar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● Listo!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</p:txBody>
      </p:sp>
      <p:sp>
        <p:nvSpPr>
          <p:cNvPr id="186" name="Google Shape;186;p29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9144000" cy="6689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NetBeans</a:t>
            </a:r>
            <a:endParaRPr b="1" dirty="0"/>
          </a:p>
        </p:txBody>
      </p:sp>
      <p:pic>
        <p:nvPicPr>
          <p:cNvPr id="188" name="Google Shape;18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0082" y="2038144"/>
            <a:ext cx="3746100" cy="2638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8299" y="3189803"/>
            <a:ext cx="2145620" cy="1487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>
            <a:spLocks noGrp="1"/>
          </p:cNvSpPr>
          <p:nvPr>
            <p:ph type="subTitle" idx="1"/>
          </p:nvPr>
        </p:nvSpPr>
        <p:spPr>
          <a:xfrm>
            <a:off x="-26031" y="1189579"/>
            <a:ext cx="3193500" cy="59956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 b="1" dirty="0"/>
              <a:t>NetBeans</a:t>
            </a:r>
            <a:endParaRPr sz="2400" b="1" dirty="0"/>
          </a:p>
        </p:txBody>
      </p:sp>
      <p:pic>
        <p:nvPicPr>
          <p:cNvPr id="196" name="Google Shape;1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19" y="2407048"/>
            <a:ext cx="241935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4064" y="1321197"/>
            <a:ext cx="4848236" cy="3024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>
            <a:spLocks noGrp="1"/>
          </p:cNvSpPr>
          <p:nvPr>
            <p:ph type="subTitle" idx="1"/>
          </p:nvPr>
        </p:nvSpPr>
        <p:spPr>
          <a:xfrm>
            <a:off x="782782" y="1689700"/>
            <a:ext cx="7904018" cy="286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Visual Studio Code es una IDE de Microsoft, pero de código abierto.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Es una IDE liviana y muy flexible.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Posee, entre otros: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● Una terminal integrada.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● </a:t>
            </a:r>
            <a:r>
              <a:rPr lang="es-419" sz="1700" dirty="0" err="1"/>
              <a:t>Intellisense</a:t>
            </a:r>
            <a:r>
              <a:rPr lang="es-419" sz="1700" dirty="0"/>
              <a:t>.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● Consola de depuración.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● Gestor de extensiones.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● Etc.</a:t>
            </a: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</p:txBody>
      </p:sp>
      <p:sp>
        <p:nvSpPr>
          <p:cNvPr id="203" name="Google Shape;203;p31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85217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Visual Studio Code</a:t>
            </a:r>
            <a:endParaRPr b="1" dirty="0"/>
          </a:p>
        </p:txBody>
      </p:sp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2275" y="2355875"/>
            <a:ext cx="2990850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1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5325" y="4666850"/>
            <a:ext cx="82867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>
            <a:spLocks noGrp="1"/>
          </p:cNvSpPr>
          <p:nvPr>
            <p:ph type="subTitle" idx="1"/>
          </p:nvPr>
        </p:nvSpPr>
        <p:spPr>
          <a:xfrm>
            <a:off x="239663" y="1304215"/>
            <a:ext cx="8520600" cy="10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dirty="0"/>
              <a:t>Para instalar las extensiones que necesita JAVA, se tendrá que seleccionar el ícono de Extensiones.</a:t>
            </a:r>
            <a:endParaRPr sz="1700" dirty="0"/>
          </a:p>
        </p:txBody>
      </p:sp>
      <p:sp>
        <p:nvSpPr>
          <p:cNvPr id="212" name="Google Shape;212;p32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9144000" cy="4686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b="1" dirty="0">
                <a:solidFill>
                  <a:schemeClr val="lt1"/>
                </a:solidFill>
              </a:rPr>
              <a:t>Visual Studio Code</a:t>
            </a:r>
            <a:endParaRPr b="1" dirty="0"/>
          </a:p>
        </p:txBody>
      </p:sp>
      <p:pic>
        <p:nvPicPr>
          <p:cNvPr id="214" name="Google Shape;21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500950"/>
            <a:ext cx="2312950" cy="209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5275" y="2350225"/>
            <a:ext cx="2667426" cy="24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2"/>
          <p:cNvSpPr txBox="1"/>
          <p:nvPr/>
        </p:nvSpPr>
        <p:spPr>
          <a:xfrm>
            <a:off x="2703425" y="3153400"/>
            <a:ext cx="3871800" cy="12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En el buscador, colocar java.</a:t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Luego seleccionar:</a:t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i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Extension Pack for Java</a:t>
            </a:r>
            <a:r>
              <a:rPr lang="es-419" sz="1800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 e instalarlo </a:t>
            </a:r>
            <a:endParaRPr sz="1800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>
            <a:spLocks noGrp="1"/>
          </p:cNvSpPr>
          <p:nvPr>
            <p:ph type="subTitle" idx="1"/>
          </p:nvPr>
        </p:nvSpPr>
        <p:spPr>
          <a:xfrm>
            <a:off x="311700" y="1689700"/>
            <a:ext cx="3810000" cy="211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Para crear un proyecto de Java, pulsar las teclas “Ctrl + Shift + P” y en el buscador colocar ‘java’, luego pulsar </a:t>
            </a:r>
            <a:r>
              <a:rPr lang="es-419" sz="1700" i="1"/>
              <a:t>Create Java Project</a:t>
            </a:r>
            <a:r>
              <a:rPr lang="es-419" sz="1700"/>
              <a:t>.</a:t>
            </a: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222" name="Google Shape;222;p33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85217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lt1"/>
                </a:solidFill>
              </a:rPr>
              <a:t>Visual Studio Code</a:t>
            </a:r>
            <a:endParaRPr/>
          </a:p>
        </p:txBody>
      </p:sp>
      <p:pic>
        <p:nvPicPr>
          <p:cNvPr id="223" name="Google Shape;22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7741" y="984250"/>
            <a:ext cx="1096259" cy="72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0328" y="1896450"/>
            <a:ext cx="4758326" cy="294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>
            <a:spLocks noGrp="1"/>
          </p:cNvSpPr>
          <p:nvPr>
            <p:ph type="subTitle" idx="1"/>
          </p:nvPr>
        </p:nvSpPr>
        <p:spPr>
          <a:xfrm>
            <a:off x="4954425" y="1713750"/>
            <a:ext cx="4049700" cy="211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Seleccionar el tipo de proyecto sin herramientas de construcción.</a:t>
            </a: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Luego de seleccionar la carpeta de inicio, indicar el nombre del proyecto.</a:t>
            </a: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230" name="Google Shape;230;p34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85217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Visual Studio Code</a:t>
            </a:r>
            <a:endParaRPr/>
          </a:p>
        </p:txBody>
      </p:sp>
      <p:pic>
        <p:nvPicPr>
          <p:cNvPr id="231" name="Google Shape;23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7741" y="984250"/>
            <a:ext cx="1096259" cy="72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276" y="1713750"/>
            <a:ext cx="4407726" cy="26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7012" y="3654750"/>
            <a:ext cx="4304526" cy="58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>
            <a:spLocks noGrp="1"/>
          </p:cNvSpPr>
          <p:nvPr>
            <p:ph type="subTitle" idx="1"/>
          </p:nvPr>
        </p:nvSpPr>
        <p:spPr>
          <a:xfrm>
            <a:off x="311700" y="102141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Visual Studio Code</a:t>
            </a:r>
            <a:endParaRPr/>
          </a:p>
        </p:txBody>
      </p:sp>
      <p:pic>
        <p:nvPicPr>
          <p:cNvPr id="239" name="Google Shape;23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7741" y="984250"/>
            <a:ext cx="1096259" cy="72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072906"/>
            <a:ext cx="9143999" cy="2646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>
            <a:spLocks noGrp="1"/>
          </p:cNvSpPr>
          <p:nvPr>
            <p:ph type="ctrTitle"/>
          </p:nvPr>
        </p:nvSpPr>
        <p:spPr>
          <a:xfrm>
            <a:off x="0" y="2968050"/>
            <a:ext cx="9144000" cy="41403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800" dirty="0"/>
              <a:t>Sintaxis básica</a:t>
            </a:r>
            <a:endParaRPr sz="2800" dirty="0"/>
          </a:p>
        </p:txBody>
      </p:sp>
      <p:sp>
        <p:nvSpPr>
          <p:cNvPr id="246" name="Google Shape;246;p36"/>
          <p:cNvSpPr txBox="1">
            <a:spLocks noGrp="1"/>
          </p:cNvSpPr>
          <p:nvPr>
            <p:ph type="subTitle" idx="1"/>
          </p:nvPr>
        </p:nvSpPr>
        <p:spPr>
          <a:xfrm>
            <a:off x="0" y="2175450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400" dirty="0"/>
              <a:t>¿Cómo inicio en Java?</a:t>
            </a:r>
            <a:endParaRPr sz="4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>
            <a:spLocks noGrp="1"/>
          </p:cNvSpPr>
          <p:nvPr>
            <p:ph type="subTitle" idx="1"/>
          </p:nvPr>
        </p:nvSpPr>
        <p:spPr>
          <a:xfrm>
            <a:off x="311700" y="1627909"/>
            <a:ext cx="8520600" cy="2843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Wingdings" panose="05000000000000000000" pitchFamily="2" charset="2"/>
              <a:buChar char="Ø"/>
            </a:pPr>
            <a:r>
              <a:rPr lang="es-419" sz="1400" dirty="0"/>
              <a:t>Todo el código se escribirá en archivos con extensión </a:t>
            </a:r>
            <a:r>
              <a:rPr lang="es-419" sz="1400" i="1" dirty="0"/>
              <a:t>.java</a:t>
            </a:r>
            <a:r>
              <a:rPr lang="es-419" sz="1400" dirty="0"/>
              <a:t>.</a:t>
            </a:r>
          </a:p>
          <a:p>
            <a:pPr marL="12065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</a:pPr>
            <a:endParaRPr sz="14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Wingdings" panose="05000000000000000000" pitchFamily="2" charset="2"/>
              <a:buChar char="Ø"/>
            </a:pPr>
            <a:r>
              <a:rPr lang="es-419" sz="1400" dirty="0"/>
              <a:t>Los archivos contienen hasta tres estructuras de construcción:</a:t>
            </a:r>
            <a:endParaRPr sz="1400" dirty="0"/>
          </a:p>
          <a:p>
            <a:pPr marL="914400" lvl="1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Wingdings" panose="05000000000000000000" pitchFamily="2" charset="2"/>
              <a:buChar char="§"/>
            </a:pPr>
            <a:r>
              <a:rPr lang="es-419" sz="1200" dirty="0"/>
              <a:t>Hasta una instrucción </a:t>
            </a:r>
            <a:r>
              <a:rPr lang="es-419" sz="1200" i="1" dirty="0" err="1"/>
              <a:t>package</a:t>
            </a:r>
            <a:r>
              <a:rPr lang="es-419" sz="1200" i="1" dirty="0"/>
              <a:t> </a:t>
            </a:r>
            <a:r>
              <a:rPr lang="es-419" sz="1200" dirty="0"/>
              <a:t>seguida del nombre del paquete (siempre en la primera línea del archivo)</a:t>
            </a:r>
            <a:endParaRPr sz="1200" dirty="0"/>
          </a:p>
          <a:p>
            <a:pPr marL="914400" lvl="1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Wingdings" panose="05000000000000000000" pitchFamily="2" charset="2"/>
              <a:buChar char="§"/>
            </a:pPr>
            <a:r>
              <a:rPr lang="es-419" sz="1200" dirty="0"/>
              <a:t>Cero o más sentencias </a:t>
            </a:r>
            <a:r>
              <a:rPr lang="es-419" sz="1200" i="1" dirty="0" err="1"/>
              <a:t>import</a:t>
            </a:r>
            <a:r>
              <a:rPr lang="es-419" sz="1200" i="1" dirty="0"/>
              <a:t> </a:t>
            </a:r>
            <a:r>
              <a:rPr lang="es-419" sz="1200" dirty="0"/>
              <a:t>seguida del nombre cualitativo completo de las clases o </a:t>
            </a:r>
            <a:r>
              <a:rPr lang="es-419" sz="1200" i="1" dirty="0"/>
              <a:t>‘*’</a:t>
            </a:r>
            <a:r>
              <a:rPr lang="es-419" sz="1200" dirty="0"/>
              <a:t> por cada paquete a importar.</a:t>
            </a:r>
            <a:endParaRPr sz="1200" dirty="0"/>
          </a:p>
          <a:p>
            <a:pPr marL="914400" lvl="1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Wingdings" panose="05000000000000000000" pitchFamily="2" charset="2"/>
              <a:buChar char="§"/>
            </a:pPr>
            <a:r>
              <a:rPr lang="es-419" sz="1200" dirty="0"/>
              <a:t>Una definición de clase o interfaz seguida de su nombre y bloque.</a:t>
            </a:r>
          </a:p>
          <a:p>
            <a:pPr marL="914400" lvl="1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Wingdings" panose="05000000000000000000" pitchFamily="2" charset="2"/>
              <a:buChar char="§"/>
            </a:pPr>
            <a:endParaRPr sz="14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Wingdings" panose="05000000000000000000" pitchFamily="2" charset="2"/>
              <a:buChar char="Ø"/>
            </a:pPr>
            <a:r>
              <a:rPr lang="es-419" sz="1400" dirty="0"/>
              <a:t>El nombre del archivo </a:t>
            </a:r>
            <a:r>
              <a:rPr lang="es-419" sz="1400" b="1" dirty="0"/>
              <a:t>debe </a:t>
            </a:r>
            <a:r>
              <a:rPr lang="es-419" sz="1400" dirty="0"/>
              <a:t>tener el mismo nombre de la clase pública o interfaz pública que contiene. Recordar que Java es </a:t>
            </a:r>
            <a:r>
              <a:rPr lang="es-419" sz="1400" i="1" dirty="0"/>
              <a:t>case sensitive</a:t>
            </a:r>
            <a:r>
              <a:rPr lang="es-419" sz="1400" dirty="0"/>
              <a:t>.</a:t>
            </a:r>
            <a:endParaRPr sz="1400" dirty="0"/>
          </a:p>
        </p:txBody>
      </p:sp>
      <p:sp>
        <p:nvSpPr>
          <p:cNvPr id="252" name="Google Shape;252;p37"/>
          <p:cNvSpPr txBox="1">
            <a:spLocks noGrp="1"/>
          </p:cNvSpPr>
          <p:nvPr>
            <p:ph type="subTitle" idx="4294967295"/>
          </p:nvPr>
        </p:nvSpPr>
        <p:spPr>
          <a:xfrm>
            <a:off x="0" y="1124672"/>
            <a:ext cx="9144000" cy="5309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Sintaxis básica</a:t>
            </a:r>
            <a:endParaRPr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"/>
          <p:cNvSpPr txBox="1">
            <a:spLocks noGrp="1"/>
          </p:cNvSpPr>
          <p:nvPr>
            <p:ph type="subTitle" idx="1"/>
          </p:nvPr>
        </p:nvSpPr>
        <p:spPr>
          <a:xfrm>
            <a:off x="311700" y="1607128"/>
            <a:ext cx="8520600" cy="27501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Wingdings" panose="05000000000000000000" pitchFamily="2" charset="2"/>
              <a:buChar char="Ø"/>
            </a:pPr>
            <a:r>
              <a:rPr lang="es-419" sz="1400" b="1" dirty="0"/>
              <a:t>Clases</a:t>
            </a:r>
            <a:r>
              <a:rPr lang="es-419" sz="1400" dirty="0"/>
              <a:t>: Usar nombres descriptivos. Deben ser sustantivos con su primera letra en mayúscula y el resto minúscula (</a:t>
            </a:r>
            <a:r>
              <a:rPr lang="es-419" sz="1400" dirty="0" err="1"/>
              <a:t>UpperCamelCase</a:t>
            </a:r>
            <a:r>
              <a:rPr lang="es-419" sz="1400" dirty="0"/>
              <a:t>). Si es una palabra compuesta, las primeras letras de cada palabra en mayúsculas.</a:t>
            </a:r>
          </a:p>
          <a:p>
            <a:pPr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400" dirty="0"/>
              <a:t>*</a:t>
            </a:r>
            <a:r>
              <a:rPr lang="es-419" sz="1200" i="1" dirty="0"/>
              <a:t>Ejemplo: </a:t>
            </a:r>
            <a:r>
              <a:rPr lang="es-419" sz="1200" i="1" dirty="0" err="1"/>
              <a:t>MiClase</a:t>
            </a:r>
            <a:r>
              <a:rPr lang="es-419" sz="1200" i="1" dirty="0"/>
              <a:t>, Auto, etc.</a:t>
            </a:r>
            <a:endParaRPr sz="1200" i="1" dirty="0"/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1400" dirty="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Wingdings" panose="05000000000000000000" pitchFamily="2" charset="2"/>
              <a:buChar char="Ø"/>
            </a:pPr>
            <a:r>
              <a:rPr lang="es-419" sz="1400" b="1" dirty="0"/>
              <a:t>Métodos</a:t>
            </a:r>
            <a:r>
              <a:rPr lang="es-419" sz="1400" dirty="0"/>
              <a:t>: Usar verbos para los nombres. Comenzar en minúsculas. Si es una palabra compuesta, comenzar con mayúsculas la primera letra de la segunda palabra (</a:t>
            </a:r>
            <a:r>
              <a:rPr lang="es-419" sz="1400" dirty="0" err="1"/>
              <a:t>camelCase</a:t>
            </a:r>
            <a:r>
              <a:rPr lang="es-419" sz="1400" dirty="0"/>
              <a:t>).</a:t>
            </a:r>
          </a:p>
          <a:p>
            <a:pPr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s-419" sz="1200" i="1" dirty="0"/>
              <a:t>*Ejemplo: </a:t>
            </a:r>
            <a:r>
              <a:rPr lang="es-419" sz="1200" i="1" dirty="0" err="1"/>
              <a:t>obtenerDato</a:t>
            </a:r>
            <a:r>
              <a:rPr lang="es-419" sz="1200" i="1" dirty="0"/>
              <a:t>, acelerar, etc.</a:t>
            </a:r>
            <a:endParaRPr sz="1200" i="1" dirty="0"/>
          </a:p>
          <a:p>
            <a:pPr marL="7429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1400" dirty="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Font typeface="Wingdings" panose="05000000000000000000" pitchFamily="2" charset="2"/>
              <a:buChar char="Ø"/>
            </a:pPr>
            <a:r>
              <a:rPr lang="es-419" sz="1400" b="1" dirty="0"/>
              <a:t>Paquetes</a:t>
            </a:r>
            <a:r>
              <a:rPr lang="es-419" sz="1400" dirty="0"/>
              <a:t>: Deben ser escritos en minúsculas y deben representar un nombre de dominio (similar a los </a:t>
            </a:r>
            <a:r>
              <a:rPr lang="es-419" sz="1400" dirty="0" err="1"/>
              <a:t>namespaces</a:t>
            </a:r>
            <a:r>
              <a:rPr lang="es-419" sz="1400" dirty="0"/>
              <a:t> de C#).</a:t>
            </a:r>
            <a:endParaRPr sz="1400" dirty="0"/>
          </a:p>
        </p:txBody>
      </p:sp>
      <p:sp>
        <p:nvSpPr>
          <p:cNvPr id="259" name="Google Shape;259;p38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9144000" cy="6689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Convención de nombres</a:t>
            </a:r>
            <a:endParaRPr b="1" dirty="0"/>
          </a:p>
        </p:txBody>
      </p:sp>
      <p:pic>
        <p:nvPicPr>
          <p:cNvPr id="261" name="Google Shape;261;p3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5325" y="4654500"/>
            <a:ext cx="82867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>
            <a:spLocks noGrp="1"/>
          </p:cNvSpPr>
          <p:nvPr>
            <p:ph type="subTitle" idx="1"/>
          </p:nvPr>
        </p:nvSpPr>
        <p:spPr>
          <a:xfrm>
            <a:off x="311700" y="1689700"/>
            <a:ext cx="8520600" cy="24874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600" b="1" dirty="0"/>
              <a:t>Variables</a:t>
            </a:r>
            <a:r>
              <a:rPr lang="es-419" sz="1600" dirty="0"/>
              <a:t>: Utilizar nombres cortos y descriptivos. Comenzar con minúsculas (si es compuesta, la primera letra de la segunda palabra, en mayúscula). Utilizar nombres que describen la intención de la variable.</a:t>
            </a:r>
            <a:endParaRPr sz="16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i="1" dirty="0"/>
              <a:t>Ejemplo: nombre, </a:t>
            </a:r>
            <a:r>
              <a:rPr lang="es-419" sz="1600" i="1" dirty="0" err="1"/>
              <a:t>nombreCliente</a:t>
            </a:r>
            <a:r>
              <a:rPr lang="es-419" sz="1600" i="1" dirty="0"/>
              <a:t>, edad, etc.</a:t>
            </a:r>
            <a:endParaRPr sz="1600" i="1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i="1" dirty="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600" b="1" dirty="0"/>
              <a:t>Constantes</a:t>
            </a:r>
            <a:r>
              <a:rPr lang="es-419" sz="1600" dirty="0"/>
              <a:t>: Similar a las variables pero todos sus caracteres en mayúsculas y si son compuestas, separadas por un </a:t>
            </a:r>
            <a:r>
              <a:rPr lang="es-419" sz="1600" dirty="0" err="1"/>
              <a:t>guión</a:t>
            </a:r>
            <a:r>
              <a:rPr lang="es-419" sz="1600" dirty="0"/>
              <a:t> bajo.</a:t>
            </a:r>
            <a:endParaRPr sz="16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dirty="0"/>
              <a:t>        </a:t>
            </a:r>
            <a:r>
              <a:rPr lang="es-419" sz="1600" i="1" dirty="0"/>
              <a:t>Ejemplo: CANTIDAD, EDAD_MAXIMA, etc.</a:t>
            </a:r>
            <a:endParaRPr sz="1600" i="1" dirty="0"/>
          </a:p>
        </p:txBody>
      </p:sp>
      <p:sp>
        <p:nvSpPr>
          <p:cNvPr id="267" name="Google Shape;267;p39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91440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Convención de nombres</a:t>
            </a:r>
            <a:endParaRPr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>
            <a:spLocks noGrp="1"/>
          </p:cNvSpPr>
          <p:nvPr>
            <p:ph type="subTitle" idx="1"/>
          </p:nvPr>
        </p:nvSpPr>
        <p:spPr>
          <a:xfrm>
            <a:off x="311700" y="1814513"/>
            <a:ext cx="5025699" cy="274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400" b="1" dirty="0"/>
              <a:t>Variables</a:t>
            </a:r>
            <a:r>
              <a:rPr lang="es-419" sz="1400" dirty="0"/>
              <a:t>: </a:t>
            </a:r>
            <a:endParaRPr sz="14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b="1" dirty="0"/>
              <a:t>Tipo</a:t>
            </a:r>
            <a:r>
              <a:rPr lang="es-419" sz="1400" dirty="0"/>
              <a:t> </a:t>
            </a:r>
            <a:r>
              <a:rPr lang="es-419" sz="1400" b="1" dirty="0"/>
              <a:t>identificador</a:t>
            </a:r>
            <a:r>
              <a:rPr lang="es-419" sz="1400" dirty="0"/>
              <a:t>;</a:t>
            </a:r>
            <a:endParaRPr sz="14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b="1" dirty="0"/>
              <a:t>Tipo identificador = valor</a:t>
            </a:r>
            <a:r>
              <a:rPr lang="es-419" sz="1400" dirty="0"/>
              <a:t>;</a:t>
            </a:r>
            <a:endParaRPr sz="14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/>
              <a:t>Dónde:</a:t>
            </a:r>
            <a:endParaRPr sz="14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b="1" dirty="0"/>
              <a:t>Tipo</a:t>
            </a:r>
            <a:r>
              <a:rPr lang="es-419" sz="1400" dirty="0"/>
              <a:t>: Indica el tipo de la variable.</a:t>
            </a:r>
            <a:endParaRPr sz="14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b="1" dirty="0"/>
              <a:t>Identificador</a:t>
            </a:r>
            <a:r>
              <a:rPr lang="es-419" sz="1400" dirty="0"/>
              <a:t>: establece el nombre de la variable.</a:t>
            </a:r>
            <a:endParaRPr sz="14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</p:txBody>
      </p:sp>
      <p:sp>
        <p:nvSpPr>
          <p:cNvPr id="274" name="Google Shape;274;p40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85217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Declaraciones</a:t>
            </a:r>
            <a:endParaRPr b="1" dirty="0"/>
          </a:p>
        </p:txBody>
      </p:sp>
      <p:pic>
        <p:nvPicPr>
          <p:cNvPr id="276" name="Google Shape;27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9909" y="2015592"/>
            <a:ext cx="3252391" cy="1863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1"/>
          <p:cNvSpPr txBox="1">
            <a:spLocks noGrp="1"/>
          </p:cNvSpPr>
          <p:nvPr>
            <p:ph type="subTitle" idx="1"/>
          </p:nvPr>
        </p:nvSpPr>
        <p:spPr>
          <a:xfrm>
            <a:off x="311700" y="1689700"/>
            <a:ext cx="8520600" cy="26606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600" b="1" dirty="0"/>
              <a:t>Constantes</a:t>
            </a:r>
            <a:r>
              <a:rPr lang="es-419" sz="1600" dirty="0"/>
              <a:t>: </a:t>
            </a:r>
            <a:endParaRPr sz="16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/>
              <a:t>final Tipo</a:t>
            </a:r>
            <a:r>
              <a:rPr lang="es-419" sz="1600" dirty="0"/>
              <a:t> </a:t>
            </a:r>
            <a:r>
              <a:rPr lang="es-419" sz="1600" b="1" dirty="0"/>
              <a:t>IDENTIFICADOR = valor</a:t>
            </a:r>
            <a:r>
              <a:rPr lang="es-419" sz="1600" dirty="0"/>
              <a:t>;</a:t>
            </a:r>
            <a:endParaRPr sz="16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dirty="0"/>
              <a:t>Dónde:</a:t>
            </a:r>
            <a:endParaRPr sz="16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/>
              <a:t>final</a:t>
            </a:r>
            <a:r>
              <a:rPr lang="es-419" sz="1600" dirty="0"/>
              <a:t>: es una palabra reservada que indica se definirá una constante.</a:t>
            </a:r>
            <a:endParaRPr sz="16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/>
              <a:t>Tipo</a:t>
            </a:r>
            <a:r>
              <a:rPr lang="es-419" sz="1600" dirty="0"/>
              <a:t>: Indica el tipo de la constante.</a:t>
            </a:r>
            <a:endParaRPr sz="16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/>
              <a:t>IDENTIFICADOR</a:t>
            </a:r>
            <a:r>
              <a:rPr lang="es-419" sz="1600" dirty="0"/>
              <a:t>: establece el nombre de la constante.</a:t>
            </a:r>
            <a:endParaRPr sz="16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/>
              <a:t>valor</a:t>
            </a:r>
            <a:r>
              <a:rPr lang="es-419" sz="1600" dirty="0"/>
              <a:t>: establece el valor de la constante.</a:t>
            </a:r>
            <a:endParaRPr sz="16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</p:txBody>
      </p:sp>
      <p:sp>
        <p:nvSpPr>
          <p:cNvPr id="282" name="Google Shape;282;p41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91440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Declaraciones</a:t>
            </a:r>
            <a:endParaRPr b="1" dirty="0"/>
          </a:p>
        </p:txBody>
      </p:sp>
      <p:pic>
        <p:nvPicPr>
          <p:cNvPr id="284" name="Google Shape;28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443" y="2076450"/>
            <a:ext cx="281940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2"/>
          <p:cNvSpPr txBox="1">
            <a:spLocks noGrp="1"/>
          </p:cNvSpPr>
          <p:nvPr>
            <p:ph type="subTitle" idx="1"/>
          </p:nvPr>
        </p:nvSpPr>
        <p:spPr>
          <a:xfrm>
            <a:off x="311699" y="1689699"/>
            <a:ext cx="4384991" cy="26398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600" dirty="0"/>
              <a:t>Las </a:t>
            </a:r>
            <a:r>
              <a:rPr lang="es-419" sz="1600" b="1" dirty="0"/>
              <a:t>variables escalares</a:t>
            </a:r>
            <a:r>
              <a:rPr lang="es-419" sz="1600" dirty="0"/>
              <a:t> son variables (o constantes) que contienen un dato atómico y unidimensional.</a:t>
            </a:r>
            <a:endParaRPr sz="1600" dirty="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600" dirty="0"/>
              <a:t>Las </a:t>
            </a:r>
            <a:r>
              <a:rPr lang="es-419" sz="1600" b="1" dirty="0"/>
              <a:t>variables no escalares</a:t>
            </a:r>
            <a:r>
              <a:rPr lang="es-419" sz="1600" dirty="0"/>
              <a:t> son: </a:t>
            </a:r>
            <a:r>
              <a:rPr lang="es-419" sz="1600" dirty="0" err="1"/>
              <a:t>arrays</a:t>
            </a:r>
            <a:r>
              <a:rPr lang="es-419" sz="1600" dirty="0"/>
              <a:t> (vectores), listas y objetos, que pueden tener almacenado en su estructura más de un valor.</a:t>
            </a:r>
            <a:endParaRPr sz="1600" i="1" dirty="0"/>
          </a:p>
        </p:txBody>
      </p:sp>
      <p:sp>
        <p:nvSpPr>
          <p:cNvPr id="290" name="Google Shape;290;p42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91440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Variables escalares y no escalares</a:t>
            </a:r>
            <a:endParaRPr b="1" dirty="0"/>
          </a:p>
        </p:txBody>
      </p:sp>
      <p:pic>
        <p:nvPicPr>
          <p:cNvPr id="292" name="Google Shape;29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8389" y="1820199"/>
            <a:ext cx="3546791" cy="2454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 txBox="1">
            <a:spLocks noGrp="1"/>
          </p:cNvSpPr>
          <p:nvPr>
            <p:ph type="ctrTitle"/>
          </p:nvPr>
        </p:nvSpPr>
        <p:spPr>
          <a:xfrm>
            <a:off x="1" y="2022763"/>
            <a:ext cx="9144000" cy="8903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Sintaxis básica</a:t>
            </a:r>
            <a:endParaRPr dirty="0"/>
          </a:p>
        </p:txBody>
      </p:sp>
      <p:sp>
        <p:nvSpPr>
          <p:cNvPr id="298" name="Google Shape;298;p43"/>
          <p:cNvSpPr txBox="1">
            <a:spLocks noGrp="1"/>
          </p:cNvSpPr>
          <p:nvPr>
            <p:ph type="subTitle" idx="1"/>
          </p:nvPr>
        </p:nvSpPr>
        <p:spPr>
          <a:xfrm>
            <a:off x="311700" y="25717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Operadores: aritméticos y lógicos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>
            <a:spLocks noGrp="1"/>
          </p:cNvSpPr>
          <p:nvPr>
            <p:ph type="subTitle" idx="1"/>
          </p:nvPr>
        </p:nvSpPr>
        <p:spPr>
          <a:xfrm>
            <a:off x="0" y="1021413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/>
              <a:t>Operadores aritméticos</a:t>
            </a:r>
            <a:endParaRPr sz="2000" b="1" dirty="0"/>
          </a:p>
        </p:txBody>
      </p:sp>
      <p:graphicFrame>
        <p:nvGraphicFramePr>
          <p:cNvPr id="305" name="Google Shape;305;p44"/>
          <p:cNvGraphicFramePr/>
          <p:nvPr/>
        </p:nvGraphicFramePr>
        <p:xfrm>
          <a:off x="529750" y="2060625"/>
          <a:ext cx="3892200" cy="1981050"/>
        </p:xfrm>
        <a:graphic>
          <a:graphicData uri="http://schemas.openxmlformats.org/drawingml/2006/table">
            <a:tbl>
              <a:tblPr>
                <a:noFill/>
                <a:tableStyleId>{922D0621-8C55-4E71-8991-9007C5821A20}</a:tableStyleId>
              </a:tblPr>
              <a:tblGrid>
                <a:gridCol w="19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Asignación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=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Adición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+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Sustracción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-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Multiplicación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*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División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/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06" name="Google Shape;306;p44"/>
          <p:cNvGraphicFramePr/>
          <p:nvPr>
            <p:extLst>
              <p:ext uri="{D42A27DB-BD31-4B8C-83A1-F6EECF244321}">
                <p14:modId xmlns:p14="http://schemas.microsoft.com/office/powerpoint/2010/main" val="642513985"/>
              </p:ext>
            </p:extLst>
          </p:nvPr>
        </p:nvGraphicFramePr>
        <p:xfrm>
          <a:off x="4722050" y="2049995"/>
          <a:ext cx="3892200" cy="1981050"/>
        </p:xfrm>
        <a:graphic>
          <a:graphicData uri="http://schemas.openxmlformats.org/drawingml/2006/table">
            <a:tbl>
              <a:tblPr>
                <a:noFill/>
                <a:tableStyleId>{922D0621-8C55-4E71-8991-9007C5821A20}</a:tableStyleId>
              </a:tblPr>
              <a:tblGrid>
                <a:gridCol w="19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Módulo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%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Mayor que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&gt;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dirty="0">
                          <a:solidFill>
                            <a:srgbClr val="FFFFFF"/>
                          </a:solidFill>
                        </a:rPr>
                        <a:t>Menor que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dirty="0">
                          <a:solidFill>
                            <a:srgbClr val="FFFFFF"/>
                          </a:solidFill>
                        </a:rPr>
                        <a:t>&lt;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Mayor o igual que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&gt;=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Menor o igual que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dirty="0">
                          <a:solidFill>
                            <a:srgbClr val="FFFFFF"/>
                          </a:solidFill>
                        </a:rPr>
                        <a:t>&lt;=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5"/>
          <p:cNvSpPr txBox="1">
            <a:spLocks noGrp="1"/>
          </p:cNvSpPr>
          <p:nvPr>
            <p:ph type="subTitle" idx="1"/>
          </p:nvPr>
        </p:nvSpPr>
        <p:spPr>
          <a:xfrm>
            <a:off x="0" y="1021413"/>
            <a:ext cx="91440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 b="1" dirty="0"/>
              <a:t>Operadores lógicos</a:t>
            </a:r>
            <a:endParaRPr sz="2000" b="1" dirty="0"/>
          </a:p>
        </p:txBody>
      </p:sp>
      <p:graphicFrame>
        <p:nvGraphicFramePr>
          <p:cNvPr id="313" name="Google Shape;313;p45"/>
          <p:cNvGraphicFramePr/>
          <p:nvPr>
            <p:extLst>
              <p:ext uri="{D42A27DB-BD31-4B8C-83A1-F6EECF244321}">
                <p14:modId xmlns:p14="http://schemas.microsoft.com/office/powerpoint/2010/main" val="4213500624"/>
              </p:ext>
            </p:extLst>
          </p:nvPr>
        </p:nvGraphicFramePr>
        <p:xfrm>
          <a:off x="2431472" y="1889547"/>
          <a:ext cx="4281056" cy="2232540"/>
        </p:xfrm>
        <a:graphic>
          <a:graphicData uri="http://schemas.openxmlformats.org/drawingml/2006/table">
            <a:tbl>
              <a:tblPr>
                <a:noFill/>
                <a:tableStyleId>{922D0621-8C55-4E71-8991-9007C5821A20}</a:tableStyleId>
              </a:tblPr>
              <a:tblGrid>
                <a:gridCol w="2140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0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50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Igualdad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==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50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Desigualdad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dirty="0">
                          <a:solidFill>
                            <a:srgbClr val="FFFFFF"/>
                          </a:solidFill>
                        </a:rPr>
                        <a:t>!=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50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AND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dirty="0">
                          <a:solidFill>
                            <a:srgbClr val="FFFFFF"/>
                          </a:solidFill>
                        </a:rPr>
                        <a:t>&amp;&amp;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50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OR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||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50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>
                          <a:solidFill>
                            <a:srgbClr val="FFFFFF"/>
                          </a:solidFill>
                        </a:rPr>
                        <a:t>Negación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dirty="0">
                          <a:solidFill>
                            <a:srgbClr val="FFFFFF"/>
                          </a:solidFill>
                        </a:rPr>
                        <a:t>!</a:t>
                      </a:r>
                      <a:endParaRPr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solidFill>
                      <a:srgbClr val="3D85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6"/>
          <p:cNvSpPr txBox="1">
            <a:spLocks noGrp="1"/>
          </p:cNvSpPr>
          <p:nvPr>
            <p:ph type="ctrTitle"/>
          </p:nvPr>
        </p:nvSpPr>
        <p:spPr>
          <a:xfrm>
            <a:off x="311700" y="1938293"/>
            <a:ext cx="8520600" cy="104043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Sintaxis básica</a:t>
            </a:r>
            <a:endParaRPr dirty="0"/>
          </a:p>
        </p:txBody>
      </p:sp>
      <p:sp>
        <p:nvSpPr>
          <p:cNvPr id="319" name="Google Shape;319;p46"/>
          <p:cNvSpPr txBox="1">
            <a:spLocks noGrp="1"/>
          </p:cNvSpPr>
          <p:nvPr>
            <p:ph type="subTitle" idx="1"/>
          </p:nvPr>
        </p:nvSpPr>
        <p:spPr>
          <a:xfrm>
            <a:off x="311700" y="2677031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Estructuras de control: condicionales y repetitivas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7"/>
          <p:cNvSpPr txBox="1">
            <a:spLocks noGrp="1"/>
          </p:cNvSpPr>
          <p:nvPr>
            <p:ph type="subTitle" idx="1"/>
          </p:nvPr>
        </p:nvSpPr>
        <p:spPr>
          <a:xfrm>
            <a:off x="387899" y="1530734"/>
            <a:ext cx="8520600" cy="67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 dirty="0"/>
              <a:t>Estructuras </a:t>
            </a:r>
            <a:r>
              <a:rPr lang="es-419" sz="1700" b="1" dirty="0" err="1"/>
              <a:t>if</a:t>
            </a:r>
            <a:r>
              <a:rPr lang="es-419" sz="1700" dirty="0"/>
              <a:t> con varios formatos: </a:t>
            </a:r>
            <a:endParaRPr sz="1700" dirty="0"/>
          </a:p>
        </p:txBody>
      </p:sp>
      <p:sp>
        <p:nvSpPr>
          <p:cNvPr id="325" name="Google Shape;325;p47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9144000" cy="71506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Condicionales</a:t>
            </a:r>
            <a:endParaRPr b="1" dirty="0"/>
          </a:p>
        </p:txBody>
      </p:sp>
      <p:pic>
        <p:nvPicPr>
          <p:cNvPr id="327" name="Google Shape;32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400" y="1507486"/>
            <a:ext cx="1409700" cy="2918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2599" y="2463926"/>
            <a:ext cx="114300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5737" y="2478214"/>
            <a:ext cx="1152525" cy="19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8"/>
          <p:cNvSpPr txBox="1">
            <a:spLocks noGrp="1"/>
          </p:cNvSpPr>
          <p:nvPr>
            <p:ph type="subTitle" idx="1"/>
          </p:nvPr>
        </p:nvSpPr>
        <p:spPr>
          <a:xfrm>
            <a:off x="923045" y="1397072"/>
            <a:ext cx="6901310" cy="67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3655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600" dirty="0"/>
              <a:t>Estructuras </a:t>
            </a:r>
            <a:r>
              <a:rPr lang="es-419" sz="1600" b="1" dirty="0"/>
              <a:t>switch</a:t>
            </a:r>
            <a:r>
              <a:rPr lang="es-419" sz="1600" dirty="0"/>
              <a:t>: </a:t>
            </a:r>
            <a:endParaRPr sz="1600" dirty="0"/>
          </a:p>
        </p:txBody>
      </p:sp>
      <p:sp>
        <p:nvSpPr>
          <p:cNvPr id="335" name="Google Shape;335;p48"/>
          <p:cNvSpPr txBox="1">
            <a:spLocks noGrp="1"/>
          </p:cNvSpPr>
          <p:nvPr>
            <p:ph type="subTitle" idx="4294967295"/>
          </p:nvPr>
        </p:nvSpPr>
        <p:spPr>
          <a:xfrm>
            <a:off x="-103909" y="1020762"/>
            <a:ext cx="9144000" cy="7526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Condicionales</a:t>
            </a:r>
            <a:endParaRPr b="1" dirty="0"/>
          </a:p>
        </p:txBody>
      </p:sp>
      <p:pic>
        <p:nvPicPr>
          <p:cNvPr id="337" name="Google Shape;33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045" y="1932378"/>
            <a:ext cx="2126673" cy="2603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3155" y="2002375"/>
            <a:ext cx="2251364" cy="2603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9"/>
          <p:cNvSpPr txBox="1">
            <a:spLocks noGrp="1"/>
          </p:cNvSpPr>
          <p:nvPr>
            <p:ph type="subTitle" idx="1"/>
          </p:nvPr>
        </p:nvSpPr>
        <p:spPr>
          <a:xfrm>
            <a:off x="0" y="1689700"/>
            <a:ext cx="9144000" cy="3502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600" dirty="0"/>
              <a:t>Estructuras </a:t>
            </a:r>
            <a:r>
              <a:rPr lang="es-419" sz="1600" b="1" dirty="0" err="1"/>
              <a:t>for</a:t>
            </a:r>
            <a:r>
              <a:rPr lang="es-419" sz="1600" dirty="0"/>
              <a:t>: </a:t>
            </a:r>
            <a:endParaRPr sz="1600" dirty="0"/>
          </a:p>
        </p:txBody>
      </p:sp>
      <p:sp>
        <p:nvSpPr>
          <p:cNvPr id="344" name="Google Shape;344;p49"/>
          <p:cNvSpPr txBox="1">
            <a:spLocks noGrp="1"/>
          </p:cNvSpPr>
          <p:nvPr>
            <p:ph type="subTitle" idx="4294967295"/>
          </p:nvPr>
        </p:nvSpPr>
        <p:spPr>
          <a:xfrm>
            <a:off x="48491" y="967813"/>
            <a:ext cx="85217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Repetitivas</a:t>
            </a:r>
            <a:endParaRPr b="1" dirty="0"/>
          </a:p>
        </p:txBody>
      </p:sp>
      <p:pic>
        <p:nvPicPr>
          <p:cNvPr id="346" name="Google Shape;34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891" y="2051573"/>
            <a:ext cx="4314825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6691" y="2038396"/>
            <a:ext cx="4314825" cy="1312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1166" y="3613424"/>
            <a:ext cx="2601668" cy="1072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0"/>
          <p:cNvSpPr txBox="1">
            <a:spLocks noGrp="1"/>
          </p:cNvSpPr>
          <p:nvPr>
            <p:ph type="subTitle" idx="1"/>
          </p:nvPr>
        </p:nvSpPr>
        <p:spPr>
          <a:xfrm>
            <a:off x="311700" y="1897796"/>
            <a:ext cx="8520600" cy="41619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600" dirty="0"/>
              <a:t>Estructuras </a:t>
            </a:r>
            <a:r>
              <a:rPr lang="es-419" sz="1600" b="1" dirty="0" err="1"/>
              <a:t>while</a:t>
            </a:r>
            <a:r>
              <a:rPr lang="es-419" sz="1600" dirty="0"/>
              <a:t> y </a:t>
            </a:r>
            <a:r>
              <a:rPr lang="es-419" sz="1600" b="1" dirty="0"/>
              <a:t>do-</a:t>
            </a:r>
            <a:r>
              <a:rPr lang="es-419" sz="1600" b="1" dirty="0" err="1"/>
              <a:t>while</a:t>
            </a:r>
            <a:r>
              <a:rPr lang="es-419" sz="1600" dirty="0"/>
              <a:t>: </a:t>
            </a:r>
            <a:endParaRPr sz="1600" dirty="0"/>
          </a:p>
        </p:txBody>
      </p:sp>
      <p:sp>
        <p:nvSpPr>
          <p:cNvPr id="354" name="Google Shape;354;p50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9144000" cy="67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Repetitivas</a:t>
            </a:r>
            <a:endParaRPr b="1" dirty="0"/>
          </a:p>
        </p:txBody>
      </p:sp>
      <p:pic>
        <p:nvPicPr>
          <p:cNvPr id="356" name="Google Shape;35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0819" y="2365000"/>
            <a:ext cx="2216727" cy="152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6456" y="2105891"/>
            <a:ext cx="2445329" cy="1780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"/>
          <p:cNvSpPr txBox="1">
            <a:spLocks noGrp="1"/>
          </p:cNvSpPr>
          <p:nvPr>
            <p:ph type="ctrTitle"/>
          </p:nvPr>
        </p:nvSpPr>
        <p:spPr>
          <a:xfrm>
            <a:off x="0" y="1713750"/>
            <a:ext cx="9144000" cy="17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 dirty="0"/>
              <a:t>Entrada y salida de datos</a:t>
            </a:r>
            <a:endParaRPr sz="3600" dirty="0"/>
          </a:p>
        </p:txBody>
      </p:sp>
      <p:sp>
        <p:nvSpPr>
          <p:cNvPr id="363" name="Google Shape;363;p51"/>
          <p:cNvSpPr txBox="1">
            <a:spLocks noGrp="1"/>
          </p:cNvSpPr>
          <p:nvPr>
            <p:ph type="subTitle" idx="1"/>
          </p:nvPr>
        </p:nvSpPr>
        <p:spPr>
          <a:xfrm>
            <a:off x="311700" y="2817259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Entry</a:t>
            </a:r>
            <a:r>
              <a:rPr lang="es-419" dirty="0"/>
              <a:t> </a:t>
            </a:r>
            <a:r>
              <a:rPr lang="es-419" dirty="0" err="1"/>
              <a:t>point</a:t>
            </a:r>
            <a:r>
              <a:rPr lang="es-419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2"/>
          <p:cNvSpPr txBox="1">
            <a:spLocks noGrp="1"/>
          </p:cNvSpPr>
          <p:nvPr>
            <p:ph type="subTitle" idx="1"/>
          </p:nvPr>
        </p:nvSpPr>
        <p:spPr>
          <a:xfrm>
            <a:off x="350820" y="1572491"/>
            <a:ext cx="4768435" cy="29995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dirty="0"/>
              <a:t>El punto de entrada a los programas de Java es el método público y estático </a:t>
            </a:r>
            <a:r>
              <a:rPr lang="es-419" sz="1600" b="1" i="1" dirty="0" err="1"/>
              <a:t>main</a:t>
            </a:r>
            <a:r>
              <a:rPr lang="es-419" sz="1600" dirty="0"/>
              <a:t>.</a:t>
            </a:r>
            <a:endParaRPr sz="16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dirty="0"/>
              <a:t>Dónde:</a:t>
            </a:r>
            <a:endParaRPr sz="16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 err="1"/>
              <a:t>static</a:t>
            </a:r>
            <a:r>
              <a:rPr lang="es-419" sz="1600" dirty="0"/>
              <a:t>: es el modificador que permite ejecutar un método sin tener que instanciar un objeto.</a:t>
            </a:r>
            <a:endParaRPr sz="16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 err="1"/>
              <a:t>void</a:t>
            </a:r>
            <a:r>
              <a:rPr lang="es-419" sz="1600" dirty="0"/>
              <a:t>: indica que este método no retornará ningún valor.</a:t>
            </a:r>
            <a:endParaRPr sz="16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dirty="0" err="1"/>
              <a:t>String</a:t>
            </a:r>
            <a:r>
              <a:rPr lang="es-419" sz="1600" b="1" dirty="0"/>
              <a:t>[] </a:t>
            </a:r>
            <a:r>
              <a:rPr lang="es-419" sz="1600" b="1" dirty="0" err="1"/>
              <a:t>args</a:t>
            </a:r>
            <a:r>
              <a:rPr lang="es-419" sz="1600" dirty="0"/>
              <a:t>: es un array de tipo </a:t>
            </a:r>
            <a:r>
              <a:rPr lang="es-419" sz="1600" dirty="0" err="1"/>
              <a:t>String</a:t>
            </a:r>
            <a:r>
              <a:rPr lang="es-419" sz="1600" dirty="0"/>
              <a:t> que puede recibir el método.</a:t>
            </a:r>
            <a:endParaRPr sz="1600" dirty="0"/>
          </a:p>
        </p:txBody>
      </p:sp>
      <p:sp>
        <p:nvSpPr>
          <p:cNvPr id="369" name="Google Shape;369;p52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9144000" cy="6902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 err="1"/>
              <a:t>Entry</a:t>
            </a:r>
            <a:r>
              <a:rPr lang="es-419" b="1" dirty="0"/>
              <a:t> </a:t>
            </a:r>
            <a:r>
              <a:rPr lang="es-419" b="1" dirty="0" err="1"/>
              <a:t>point</a:t>
            </a:r>
            <a:endParaRPr b="1" dirty="0"/>
          </a:p>
        </p:txBody>
      </p:sp>
      <p:pic>
        <p:nvPicPr>
          <p:cNvPr id="371" name="Google Shape;37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9255" y="1711036"/>
            <a:ext cx="3837709" cy="2860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3"/>
          <p:cNvSpPr txBox="1">
            <a:spLocks noGrp="1"/>
          </p:cNvSpPr>
          <p:nvPr>
            <p:ph type="subTitle" idx="1"/>
          </p:nvPr>
        </p:nvSpPr>
        <p:spPr>
          <a:xfrm>
            <a:off x="4170300" y="1689700"/>
            <a:ext cx="4897500" cy="32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La compilación genera el archivo con el Bytecode </a:t>
            </a:r>
            <a:r>
              <a:rPr lang="es-419" sz="1700" i="1"/>
              <a:t>App.class</a:t>
            </a:r>
            <a:endParaRPr sz="1700" i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Se ejecutará dicho Bytecode (la extensión es opcional).</a:t>
            </a: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Se obtiene el resultado de la ejecución.</a:t>
            </a: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377" name="Google Shape;377;p53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7735888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Compilación y ejecución desde consola   </a:t>
            </a:r>
            <a:endParaRPr/>
          </a:p>
        </p:txBody>
      </p:sp>
      <p:pic>
        <p:nvPicPr>
          <p:cNvPr id="378" name="Google Shape;37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7741" y="984250"/>
            <a:ext cx="1096259" cy="72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66425"/>
            <a:ext cx="39433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851088"/>
            <a:ext cx="339090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3764325"/>
            <a:ext cx="325755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3"/>
          <p:cNvSpPr/>
          <p:nvPr/>
        </p:nvSpPr>
        <p:spPr>
          <a:xfrm>
            <a:off x="506925" y="2457125"/>
            <a:ext cx="1418400" cy="185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83" name="Google Shape;383;p53"/>
          <p:cNvSpPr/>
          <p:nvPr/>
        </p:nvSpPr>
        <p:spPr>
          <a:xfrm>
            <a:off x="556275" y="3334525"/>
            <a:ext cx="1418400" cy="185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84" name="Google Shape;384;p53"/>
          <p:cNvSpPr/>
          <p:nvPr/>
        </p:nvSpPr>
        <p:spPr>
          <a:xfrm>
            <a:off x="556275" y="4587425"/>
            <a:ext cx="1418400" cy="185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85" name="Google Shape;385;p53"/>
          <p:cNvSpPr/>
          <p:nvPr/>
        </p:nvSpPr>
        <p:spPr>
          <a:xfrm>
            <a:off x="556275" y="4211925"/>
            <a:ext cx="1418400" cy="185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4"/>
          <p:cNvSpPr txBox="1">
            <a:spLocks noGrp="1"/>
          </p:cNvSpPr>
          <p:nvPr>
            <p:ph type="subTitle" idx="1"/>
          </p:nvPr>
        </p:nvSpPr>
        <p:spPr>
          <a:xfrm>
            <a:off x="-8276" y="1498750"/>
            <a:ext cx="9152275" cy="67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600" dirty="0"/>
              <a:t>Para imprimir por la salida estándar se utilizan los métodos estáticos: </a:t>
            </a:r>
            <a:endParaRPr sz="1600" dirty="0"/>
          </a:p>
        </p:txBody>
      </p:sp>
      <p:sp>
        <p:nvSpPr>
          <p:cNvPr id="391" name="Google Shape;391;p54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9144000" cy="7318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Salida por consola</a:t>
            </a:r>
            <a:endParaRPr b="1" dirty="0"/>
          </a:p>
        </p:txBody>
      </p:sp>
      <p:pic>
        <p:nvPicPr>
          <p:cNvPr id="393" name="Google Shape;39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7158" y="3975442"/>
            <a:ext cx="4815075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54"/>
          <p:cNvSpPr txBox="1"/>
          <p:nvPr/>
        </p:nvSpPr>
        <p:spPr>
          <a:xfrm>
            <a:off x="3560360" y="3643677"/>
            <a:ext cx="46254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Utilizar fragmentos de código:</a:t>
            </a:r>
            <a:endParaRPr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5" name="Google Shape;39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517" y="2117952"/>
            <a:ext cx="2673425" cy="275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6296" y="2117952"/>
            <a:ext cx="4876800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5"/>
          <p:cNvSpPr txBox="1">
            <a:spLocks noGrp="1"/>
          </p:cNvSpPr>
          <p:nvPr>
            <p:ph type="subTitle" idx="1"/>
          </p:nvPr>
        </p:nvSpPr>
        <p:spPr>
          <a:xfrm>
            <a:off x="311700" y="1689700"/>
            <a:ext cx="8520600" cy="67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-419" sz="1700"/>
              <a:t>Para ingresar desde la consola se utilizan los métodos de instancia: </a:t>
            </a:r>
            <a:endParaRPr sz="1700"/>
          </a:p>
        </p:txBody>
      </p:sp>
      <p:sp>
        <p:nvSpPr>
          <p:cNvPr id="402" name="Google Shape;402;p55"/>
          <p:cNvSpPr txBox="1">
            <a:spLocks noGrp="1"/>
          </p:cNvSpPr>
          <p:nvPr>
            <p:ph type="subTitle" idx="4294967295"/>
          </p:nvPr>
        </p:nvSpPr>
        <p:spPr>
          <a:xfrm>
            <a:off x="0" y="1020763"/>
            <a:ext cx="8521700" cy="793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Ingreso por consola</a:t>
            </a:r>
            <a:endParaRPr/>
          </a:p>
        </p:txBody>
      </p:sp>
      <p:pic>
        <p:nvPicPr>
          <p:cNvPr id="403" name="Google Shape;40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7741" y="984250"/>
            <a:ext cx="1096259" cy="7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55"/>
          <p:cNvSpPr txBox="1"/>
          <p:nvPr/>
        </p:nvSpPr>
        <p:spPr>
          <a:xfrm>
            <a:off x="4665713" y="2203500"/>
            <a:ext cx="35958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Utilizando try con recursos:</a:t>
            </a:r>
            <a:endParaRPr sz="1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5" name="Google Shape;405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777" y="2482800"/>
            <a:ext cx="2902400" cy="18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8537" y="2635200"/>
            <a:ext cx="2850175" cy="2518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6"/>
          <p:cNvSpPr txBox="1">
            <a:spLocks noGrp="1"/>
          </p:cNvSpPr>
          <p:nvPr>
            <p:ph type="ctrTitle"/>
          </p:nvPr>
        </p:nvSpPr>
        <p:spPr>
          <a:xfrm>
            <a:off x="358675" y="1713750"/>
            <a:ext cx="8520600" cy="17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Ejercitación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1034</Words>
  <Application>Microsoft Office PowerPoint</Application>
  <PresentationFormat>Presentación en pantalla (16:9)</PresentationFormat>
  <Paragraphs>205</Paragraphs>
  <Slides>47</Slides>
  <Notes>47</Notes>
  <HiddenSlides>6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54" baseType="lpstr">
      <vt:lpstr>Encode Sans ExtraBold</vt:lpstr>
      <vt:lpstr>Montserrat</vt:lpstr>
      <vt:lpstr>Montserrat Light</vt:lpstr>
      <vt:lpstr>Arial</vt:lpstr>
      <vt:lpstr>Encode Sans</vt:lpstr>
      <vt:lpstr>Wingdings</vt:lpstr>
      <vt:lpstr>Simple Light</vt:lpstr>
      <vt:lpstr>Introducción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Instalación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Sintaxis básica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Sintaxis básica</vt:lpstr>
      <vt:lpstr>Presentación de PowerPoint</vt:lpstr>
      <vt:lpstr>Presentación de PowerPoint</vt:lpstr>
      <vt:lpstr>Sintaxis básica</vt:lpstr>
      <vt:lpstr>Presentación de PowerPoint</vt:lpstr>
      <vt:lpstr>Presentación de PowerPoint</vt:lpstr>
      <vt:lpstr>Presentación de PowerPoint</vt:lpstr>
      <vt:lpstr>Presentación de PowerPoint</vt:lpstr>
      <vt:lpstr>Entrada y salida de datos</vt:lpstr>
      <vt:lpstr>Presentación de PowerPoint</vt:lpstr>
      <vt:lpstr>Presentación de PowerPoint</vt:lpstr>
      <vt:lpstr>Presentación de PowerPoint</vt:lpstr>
      <vt:lpstr>Presentación de PowerPoint</vt:lpstr>
      <vt:lpstr>Ejercitación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Ricardo Gastón Plazas</cp:lastModifiedBy>
  <cp:revision>10</cp:revision>
  <dcterms:modified xsi:type="dcterms:W3CDTF">2025-08-12T19:32:55Z</dcterms:modified>
</cp:coreProperties>
</file>