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300" r:id="rId4"/>
    <p:sldId id="301" r:id="rId5"/>
    <p:sldId id="306" r:id="rId6"/>
    <p:sldId id="302" r:id="rId7"/>
    <p:sldId id="307" r:id="rId8"/>
    <p:sldId id="303" r:id="rId9"/>
    <p:sldId id="308" r:id="rId10"/>
    <p:sldId id="304" r:id="rId11"/>
    <p:sldId id="309" r:id="rId12"/>
    <p:sldId id="305" r:id="rId13"/>
  </p:sldIdLst>
  <p:sldSz cx="9144000" cy="5143500" type="screen16x9"/>
  <p:notesSz cx="6858000" cy="9144000"/>
  <p:embeddedFontLst>
    <p:embeddedFont>
      <p:font typeface="Encode Sans" panose="020B0604020202020204" charset="0"/>
      <p:regular r:id="rId15"/>
      <p:bold r:id="rId16"/>
    </p:embeddedFont>
    <p:embeddedFont>
      <p:font typeface="Encode Sans ExtraBold" panose="020B0604020202020204" charset="0"/>
      <p:bold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Light" panose="000004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D0621-8C55-4E71-8991-9007C5821A20}">
  <a:tblStyle styleId="{922D0621-8C55-4E71-8991-9007C5821A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ed6be7b66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ed6be7b66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28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4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865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824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0623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879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703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134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970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943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sz="4200" b="1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9125" y="4179425"/>
            <a:ext cx="5634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ORIENTADA A OBJETOS</a:t>
            </a:r>
            <a:endParaRPr sz="1800" dirty="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5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Introducción a Programación Orientada a Objetos (POO)</a:t>
            </a:r>
            <a:endParaRPr lang="es-ES" sz="1600" dirty="0"/>
          </a:p>
        </p:txBody>
      </p:sp>
      <p:sp>
        <p:nvSpPr>
          <p:cNvPr id="10" name="Google Shape;10;p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Lic. PLAZAS, Ricardo Gastón </a:t>
            </a: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0925D6A4-3F86-3A5B-98EB-78ACD52E0CE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" y="1"/>
            <a:ext cx="1668174" cy="93254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reloj en la pared&#10;&#10;Descripción generada automáticamente con confianza media">
            <a:extLst>
              <a:ext uri="{FF2B5EF4-FFF2-40B4-BE49-F238E27FC236}">
                <a16:creationId xmlns:a16="http://schemas.microsoft.com/office/drawing/2014/main" id="{5E429AB1-8743-B009-57A8-55F190F7C2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1" r="10042"/>
          <a:stretch/>
        </p:blipFill>
        <p:spPr>
          <a:xfrm>
            <a:off x="5001896" y="953675"/>
            <a:ext cx="4142104" cy="4189825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21747" y="1747694"/>
            <a:ext cx="5063864" cy="16481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dirty="0"/>
              <a:t>Paradigmas de Programación</a:t>
            </a:r>
            <a:r>
              <a:rPr lang="es-419" sz="4400" dirty="0"/>
              <a:t> </a:t>
            </a:r>
            <a:endParaRPr sz="4400" dirty="0"/>
          </a:p>
        </p:txBody>
      </p:sp>
      <p:sp>
        <p:nvSpPr>
          <p:cNvPr id="2" name="Google Shape;245;p36">
            <a:extLst>
              <a:ext uri="{FF2B5EF4-FFF2-40B4-BE49-F238E27FC236}">
                <a16:creationId xmlns:a16="http://schemas.microsoft.com/office/drawing/2014/main" id="{C8C0C1AF-3204-C370-2B94-9A072D724C0E}"/>
              </a:ext>
            </a:extLst>
          </p:cNvPr>
          <p:cNvSpPr txBox="1">
            <a:spLocks/>
          </p:cNvSpPr>
          <p:nvPr/>
        </p:nvSpPr>
        <p:spPr>
          <a:xfrm>
            <a:off x="505461" y="4066309"/>
            <a:ext cx="4731759" cy="56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Montserrat"/>
              <a:buNone/>
              <a:defRPr sz="5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s-ES" sz="1100" dirty="0"/>
              <a:t>Paradigmas Estructurado / Orientado a Objetos / Funcional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716549" y="1880217"/>
            <a:ext cx="3675342" cy="1881291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dirty="0"/>
              <a:t>¿Qué es un paradigma de programación?</a:t>
            </a:r>
            <a:endParaRPr lang="es-AR" sz="2000" b="1" dirty="0"/>
          </a:p>
        </p:txBody>
      </p:sp>
      <p:pic>
        <p:nvPicPr>
          <p:cNvPr id="4" name="Imagen 3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7CF3175C-B2BC-D6DA-8287-107D390AA9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4156365" y="949284"/>
            <a:ext cx="4987636" cy="419421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ersonas sentadas en una mesa&#10;&#10;Descripción generada automáticamente con confianza media">
            <a:extLst>
              <a:ext uri="{FF2B5EF4-FFF2-40B4-BE49-F238E27FC236}">
                <a16:creationId xmlns:a16="http://schemas.microsoft.com/office/drawing/2014/main" id="{7CF3175C-B2BC-D6DA-8287-107D390AA9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1" r="6593"/>
          <a:stretch/>
        </p:blipFill>
        <p:spPr>
          <a:xfrm>
            <a:off x="4156365" y="949284"/>
            <a:ext cx="4987636" cy="419421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949284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Paradigmas de Programación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5" y="1492344"/>
            <a:ext cx="4375358" cy="310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Existen diversas metodologías para la escritura de código, cada una con un enfoque particular para abordar y resolver problemas de programación.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Cada paradigma de programación posee sus propias reglas y técnicas distintivas.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La elección del paradigma influirá en cómo conceptualizamos el problema, diseñamos la solución y escribimos el código.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El conocimiento de los diferentes paradigmas nos permite seleccionar el enfoque más adecuado para cada situación específica.</a:t>
            </a:r>
          </a:p>
        </p:txBody>
      </p:sp>
    </p:spTree>
    <p:extLst>
      <p:ext uri="{BB962C8B-B14F-4D97-AF65-F5344CB8AC3E}">
        <p14:creationId xmlns:p14="http://schemas.microsoft.com/office/powerpoint/2010/main" val="214143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Estructurado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5" y="1455867"/>
            <a:ext cx="4375358" cy="338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Principio de "Divide y Vencerás": El programa se descompone en módulos más pequeños y manejables, denominados funciones.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Las funciones se estructuran de manera secuencial para lograr un flujo lógico.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El objetivo es resolver problemas de forma lógica y estructurada.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Se emplean principalmente estructuras de control secuenciales, selectivas e iterativas.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En proyectos de gran envergadura, este enfoque puede dificultar la comprensión y el mantenimiento del código.</a:t>
            </a:r>
          </a:p>
        </p:txBody>
      </p:sp>
      <p:pic>
        <p:nvPicPr>
          <p:cNvPr id="2" name="Imagen 1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D91C7E1C-9F35-F0C7-E28C-2762456C15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09" b="26299"/>
          <a:stretch/>
        </p:blipFill>
        <p:spPr>
          <a:xfrm>
            <a:off x="4245762" y="956836"/>
            <a:ext cx="4898238" cy="2091164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5" name="Imagen 4" descr="Una mujer sentada frente a una computadora&#10;&#10;Descripción generada automáticamente con confianza baja">
            <a:extLst>
              <a:ext uri="{FF2B5EF4-FFF2-40B4-BE49-F238E27FC236}">
                <a16:creationId xmlns:a16="http://schemas.microsoft.com/office/drawing/2014/main" id="{42AC7087-726F-3E4F-0754-6A01D7AFA9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83" r="2" b="36841"/>
          <a:stretch/>
        </p:blipFill>
        <p:spPr>
          <a:xfrm>
            <a:off x="4245762" y="3055552"/>
            <a:ext cx="4898238" cy="2080395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699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455718" y="897985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Estructurado</a:t>
            </a:r>
            <a:endParaRPr lang="es-AR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9AABFD-1099-DF0D-748F-421B5DC66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7" y="1629225"/>
            <a:ext cx="2628287" cy="26602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0195240-7913-905D-3E45-06DFC4959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964" y="1652810"/>
            <a:ext cx="2617313" cy="255409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0A793D4-389F-6284-9F50-4D89C5CE3DC5}"/>
              </a:ext>
            </a:extLst>
          </p:cNvPr>
          <p:cNvSpPr txBox="1"/>
          <p:nvPr/>
        </p:nvSpPr>
        <p:spPr>
          <a:xfrm>
            <a:off x="2979301" y="1502188"/>
            <a:ext cx="3185398" cy="310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El paradigma estructurado se caracteriza por la organización secuencial del código, el uso de funciones y la aplicación de estructuras de control como bucles y condicionales. A continuación, te muestro un ejemplo en Java y Python que ilustra este paradigma mediante la resolución de un problema sencillo: calcular la suma de los números de un array.</a:t>
            </a:r>
            <a:endParaRPr lang="es-AR" sz="1200" b="1" dirty="0">
              <a:solidFill>
                <a:srgbClr val="FFFFFF"/>
              </a:solidFill>
              <a:latin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1498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Orientado a Objetos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5" y="1455867"/>
            <a:ext cx="4375358" cy="310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Se fundamenta en la representación del mundo real mediante la creación de entidades conocidas como objetos. (Abstracción)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Estos objetos integran datos y comportamientos en una única entidad cohesiva. (Encapsulamiento)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Los objetos interactúan entre sí a través del intercambio de mensajes.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Fomenta la reutilización del código y la organización jerárquica de las clases. (Herencia)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Proporciona flexibilidad y facilita el mantenimiento del código. (Polimorfismo)</a:t>
            </a:r>
          </a:p>
        </p:txBody>
      </p:sp>
      <p:pic>
        <p:nvPicPr>
          <p:cNvPr id="6" name="Imagen 5" descr="Una persona con una luz roja&#10;&#10;Descripción generada automáticamente con confianza baja">
            <a:extLst>
              <a:ext uri="{FF2B5EF4-FFF2-40B4-BE49-F238E27FC236}">
                <a16:creationId xmlns:a16="http://schemas.microsoft.com/office/drawing/2014/main" id="{458282F5-78AE-9C08-E936-FADB9F7E89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6" b="35012"/>
          <a:stretch/>
        </p:blipFill>
        <p:spPr>
          <a:xfrm>
            <a:off x="4370556" y="982935"/>
            <a:ext cx="4773444" cy="2037887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8" name="Imagen 7" descr="Imagen de la pantalla de un celular con letras&#10;&#10;Descripción generada automáticamente con confianza baja">
            <a:extLst>
              <a:ext uri="{FF2B5EF4-FFF2-40B4-BE49-F238E27FC236}">
                <a16:creationId xmlns:a16="http://schemas.microsoft.com/office/drawing/2014/main" id="{548C8F50-CF38-0F41-0B4D-3B7C511EDE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53" r="2" b="25671"/>
          <a:stretch/>
        </p:blipFill>
        <p:spPr>
          <a:xfrm>
            <a:off x="4357126" y="3020822"/>
            <a:ext cx="4786873" cy="212267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8400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455718" y="897985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Orientada a Objetos (POO)</a:t>
            </a:r>
            <a:endParaRPr lang="es-AR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D48230-ACDD-E836-A6B0-04B453B35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" y="1429516"/>
            <a:ext cx="2925962" cy="302815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5DDB329-8FEB-E3DA-E9DE-68FE9A4C9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982" y="1650795"/>
            <a:ext cx="2925962" cy="258559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C14D093-EE8D-8CC4-11E7-45BCACC797EA}"/>
              </a:ext>
            </a:extLst>
          </p:cNvPr>
          <p:cNvSpPr txBox="1"/>
          <p:nvPr/>
        </p:nvSpPr>
        <p:spPr>
          <a:xfrm>
            <a:off x="2936472" y="1682297"/>
            <a:ext cx="3185398" cy="2554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El paradigma orientado a objetos se basa en la creación de clases que encapsulan tanto datos (atributos) como comportamientos (métodos). A continuación, te presento un ejemplo en Java y Python donde se implementa una clase Círculo que permite calcular el área y el perímetro de un círculo.</a:t>
            </a:r>
            <a:endParaRPr lang="es-AR" sz="1200" b="1" dirty="0">
              <a:solidFill>
                <a:srgbClr val="FFFFFF"/>
              </a:solidFill>
              <a:latin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4555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Funcional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5" y="1455867"/>
            <a:ext cx="4375358" cy="2831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Las funciones se consideran entidades de primera clase.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Pueden ser asignadas a variables.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Pueden ser pasadas como argumentos a otras funciones.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Pueden ser retornadas como resultados de otras funciones.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Este enfoque enfatiza la inmutabilidad de los datos.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Utiliza la recursión como una técnica clave para realizar operaciones repetitivas.</a:t>
            </a:r>
          </a:p>
        </p:txBody>
      </p:sp>
      <p:pic>
        <p:nvPicPr>
          <p:cNvPr id="2" name="Imagen 1" descr="Pantalla de juego de video&#10;&#10;Descripción generada automáticamente con confianza baja">
            <a:extLst>
              <a:ext uri="{FF2B5EF4-FFF2-40B4-BE49-F238E27FC236}">
                <a16:creationId xmlns:a16="http://schemas.microsoft.com/office/drawing/2014/main" id="{4C111BD7-2C03-B563-565F-F1DBF1E3C0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1" r="4593"/>
          <a:stretch/>
        </p:blipFill>
        <p:spPr>
          <a:xfrm>
            <a:off x="4768642" y="960679"/>
            <a:ext cx="4375357" cy="4182821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0761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451275" y="835640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Funcional</a:t>
            </a:r>
            <a:endParaRPr lang="es-AR" sz="2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C14D093-EE8D-8CC4-11E7-45BCACC797EA}"/>
              </a:ext>
            </a:extLst>
          </p:cNvPr>
          <p:cNvSpPr txBox="1"/>
          <p:nvPr/>
        </p:nvSpPr>
        <p:spPr>
          <a:xfrm>
            <a:off x="48491" y="1429516"/>
            <a:ext cx="9095509" cy="116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El paradigma funcional se centra en la utilización de funciones como ciudadanos de primera clase, la inmutabilidad de los datos y el uso de funciones puras, donde no se generan efectos secundarios. A continuación, te presento un ejemplo en Java y Python que muestra cómo se puede calcular la suma de los cuadrados de una lista de números utilizando un enfoque funcional.</a:t>
            </a:r>
            <a:endParaRPr lang="es-AR" sz="1200" b="1" dirty="0">
              <a:solidFill>
                <a:srgbClr val="FFFFFF"/>
              </a:solidFill>
              <a:latin typeface="Montserrat"/>
              <a:sym typeface="Montserra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5CB6A9-1EB1-DAF2-0BD0-23F188AF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77" y="2705045"/>
            <a:ext cx="4163995" cy="16028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8166A16-E5FB-4915-4782-FC69C5288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05045"/>
            <a:ext cx="4510005" cy="157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8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Declarativo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5" y="1455867"/>
            <a:ext cx="4375358" cy="2831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Se enfoca en especificar qué debe lograrse en lugar de detallar cómo debe implementarse.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Describe las relaciones y restricciones entre los datos.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Se abstrae de los pormenores de la implementación específica.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Prioriza la lógica subyacente del problema en cuestión.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El código declarativo suele ser más legible y fácil de mantener.</a:t>
            </a:r>
          </a:p>
        </p:txBody>
      </p:sp>
      <p:pic>
        <p:nvPicPr>
          <p:cNvPr id="4" name="Imagen 3" descr="Imagen que contiene luz, tabla, brillando, colorido&#10;&#10;Descripción generada automáticamente">
            <a:extLst>
              <a:ext uri="{FF2B5EF4-FFF2-40B4-BE49-F238E27FC236}">
                <a16:creationId xmlns:a16="http://schemas.microsoft.com/office/drawing/2014/main" id="{B904EE69-9752-9716-E36A-138790B8E0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54"/>
          <a:stretch/>
        </p:blipFill>
        <p:spPr>
          <a:xfrm>
            <a:off x="4702049" y="969817"/>
            <a:ext cx="4441951" cy="4173683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06402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451275" y="835640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Declarativo</a:t>
            </a:r>
            <a:endParaRPr lang="es-AR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6B5AFB-6A8D-BE62-9823-EC3E87A8D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9516"/>
            <a:ext cx="3631850" cy="20709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52AD739-43DC-4160-628E-C3EB2F510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13" y="3212734"/>
            <a:ext cx="3434233" cy="176316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7E5981-EE2E-0A49-EEF4-342729549A13}"/>
              </a:ext>
            </a:extLst>
          </p:cNvPr>
          <p:cNvSpPr txBox="1"/>
          <p:nvPr/>
        </p:nvSpPr>
        <p:spPr>
          <a:xfrm>
            <a:off x="4396859" y="1590465"/>
            <a:ext cx="4738255" cy="283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El paradigma descriptivo, a menudo asociado con el estilo declarativo, se enfoca en especificar el qué se debe hacer en lugar del cómo hacerlo. A menudo se utiliza en lenguajes de programación que permiten expresar la lógica de manera más abstracta. Un ejemplo clásico en el paradigma descriptivo es el uso de consultas a bases de datos. A continuación, te muestro cómo se puede implementar una consulta descriptiva en Java usando SQL con JDBC y en Python usando una consulta SQL a través de una librería de base de datos.</a:t>
            </a:r>
            <a:endParaRPr lang="es-AR" sz="1200" b="1" dirty="0">
              <a:solidFill>
                <a:srgbClr val="FFFFFF"/>
              </a:solidFill>
              <a:latin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6914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B0C894D3-AFFB-A263-AF70-787D68E7E9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11" b="13739"/>
          <a:stretch/>
        </p:blipFill>
        <p:spPr>
          <a:xfrm>
            <a:off x="0" y="983673"/>
            <a:ext cx="9144000" cy="4159827"/>
          </a:xfrm>
          <a:prstGeom prst="rect">
            <a:avLst/>
          </a:prstGeom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455717" y="990601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AR" sz="2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Resumen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185697" y="1611247"/>
            <a:ext cx="8772605" cy="2831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Hemos aprendido que cada paradigma de programación ofrece un enfoque único para la resolución de problemas, con fortalezas y debilidades particulares. Observamos que el paradigma estructurado se centra en la organización secuencial del código, mientras que el paradigma orientado a objetos se basa en la creación de objetos que encapsulan datos y comportamientos, y el paradigma funcional pone énfasis en las funciones como entidades de primera clase y en la inmutabilidad de los datos.</a:t>
            </a:r>
          </a:p>
          <a:p>
            <a:pPr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Exploramos cómo la elección del paradigma adecuado puede depender tanto del problema específico que se pretende resolver como de las preferencias personales y las necesidades del proyecto. Finalmente, reconocemos la importancia de comprender estos paradigmas como herramientas esenciales en el repertorio de todo programador, y cómo la combinación adecuada de ellos puede conducir a soluciones de software más robustas, mantenibles y eficientes.</a:t>
            </a:r>
          </a:p>
        </p:txBody>
      </p:sp>
    </p:spTree>
    <p:extLst>
      <p:ext uri="{BB962C8B-B14F-4D97-AF65-F5344CB8AC3E}">
        <p14:creationId xmlns:p14="http://schemas.microsoft.com/office/powerpoint/2010/main" val="26178562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801</Words>
  <Application>Microsoft Office PowerPoint</Application>
  <PresentationFormat>Presentación en pantalla (16:9)</PresentationFormat>
  <Paragraphs>44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Montserrat Light</vt:lpstr>
      <vt:lpstr>Arial</vt:lpstr>
      <vt:lpstr>Montserrat</vt:lpstr>
      <vt:lpstr>Encode Sans ExtraBold</vt:lpstr>
      <vt:lpstr>Encode Sans</vt:lpstr>
      <vt:lpstr>Simple Light</vt:lpstr>
      <vt:lpstr>Paradigmas de Programación </vt:lpstr>
      <vt:lpstr>¿Qué es un paradigma de programación?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Ricardo Gastón Plazas</cp:lastModifiedBy>
  <cp:revision>12</cp:revision>
  <dcterms:modified xsi:type="dcterms:W3CDTF">2025-08-12T19:08:18Z</dcterms:modified>
</cp:coreProperties>
</file>