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268" r:id="rId12"/>
    <p:sldId id="311" r:id="rId13"/>
  </p:sldIdLst>
  <p:sldSz cx="9144000" cy="5143500" type="screen16x9"/>
  <p:notesSz cx="6858000" cy="9144000"/>
  <p:embeddedFontLst>
    <p:embeddedFont>
      <p:font typeface="Encode Sans" panose="020B0604020202020204" charset="0"/>
      <p:regular r:id="rId15"/>
      <p:bold r:id="rId16"/>
    </p:embeddedFont>
    <p:embeddedFont>
      <p:font typeface="Encode Sans ExtraBold" panose="020B0604020202020204" charset="0"/>
      <p:bold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Light" panose="000004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D0621-8C55-4E71-8991-9007C5821A20}">
  <a:tblStyle styleId="{922D0621-8C55-4E71-8991-9007C5821A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ed6be7b66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ed6be7b66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7824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5111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844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6931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100" dirty="0"/>
              <a:t>¿Qué características tiene?</a:t>
            </a:r>
            <a:endParaRPr lang="es-E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100" dirty="0"/>
              <a:t>diámetro</a:t>
            </a:r>
            <a:endParaRPr lang="es-E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100" dirty="0" err="1"/>
              <a:t>alturaVuelo</a:t>
            </a:r>
            <a:endParaRPr lang="es-E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100" dirty="0"/>
              <a:t>color</a:t>
            </a:r>
            <a:endParaRPr lang="es-E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100" dirty="0" err="1"/>
              <a:t>temperaturaGas</a:t>
            </a:r>
            <a:endParaRPr lang="es-E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s-ES" sz="11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100" dirty="0"/>
              <a:t>¿Qué se puede hacer con un globo?</a:t>
            </a:r>
            <a:endParaRPr lang="es-E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100" dirty="0"/>
              <a:t>inflar</a:t>
            </a:r>
            <a:endParaRPr lang="es-E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100" dirty="0"/>
              <a:t>desinflar</a:t>
            </a:r>
            <a:endParaRPr lang="es-E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100" dirty="0"/>
              <a:t>flotar</a:t>
            </a:r>
            <a:endParaRPr lang="es-E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ES" sz="1100" dirty="0"/>
              <a:t>aterrizar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7673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073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5951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8349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1561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159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sz="4200" b="1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49125" y="4179425"/>
            <a:ext cx="5634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ORIENTADA A OBJETOS</a:t>
            </a:r>
            <a:endParaRPr sz="1800" dirty="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ES" sz="15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Introducción a Programación Orientada a Objetos</a:t>
            </a:r>
          </a:p>
        </p:txBody>
      </p:sp>
      <p:sp>
        <p:nvSpPr>
          <p:cNvPr id="10" name="Google Shape;10;p1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Lic. PLAZAS, Ricardo Gastón </a:t>
            </a:r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4CDB02A3-132F-7478-62BE-C4E2D374C6C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668175" cy="932546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n reloj en la pared&#10;&#10;Descripción generada automáticamente con confianza media">
            <a:extLst>
              <a:ext uri="{FF2B5EF4-FFF2-40B4-BE49-F238E27FC236}">
                <a16:creationId xmlns:a16="http://schemas.microsoft.com/office/drawing/2014/main" id="{5E429AB1-8743-B009-57A8-55F190F7C2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1" r="10042"/>
          <a:stretch/>
        </p:blipFill>
        <p:spPr>
          <a:xfrm>
            <a:off x="5001896" y="953675"/>
            <a:ext cx="4142104" cy="4189825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21747" y="1747694"/>
            <a:ext cx="5063864" cy="16481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 dirty="0"/>
              <a:t>Programación Orientada a Objetos</a:t>
            </a:r>
            <a:endParaRPr sz="4400" dirty="0"/>
          </a:p>
        </p:txBody>
      </p:sp>
      <p:sp>
        <p:nvSpPr>
          <p:cNvPr id="2" name="Google Shape;245;p36">
            <a:extLst>
              <a:ext uri="{FF2B5EF4-FFF2-40B4-BE49-F238E27FC236}">
                <a16:creationId xmlns:a16="http://schemas.microsoft.com/office/drawing/2014/main" id="{C8C0C1AF-3204-C370-2B94-9A072D724C0E}"/>
              </a:ext>
            </a:extLst>
          </p:cNvPr>
          <p:cNvSpPr txBox="1">
            <a:spLocks/>
          </p:cNvSpPr>
          <p:nvPr/>
        </p:nvSpPr>
        <p:spPr>
          <a:xfrm>
            <a:off x="505462" y="4066309"/>
            <a:ext cx="3636644" cy="56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Montserrat"/>
              <a:buNone/>
              <a:defRPr sz="5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"/>
              <a:buNone/>
              <a:defRPr sz="5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s-ES" sz="1100" dirty="0"/>
              <a:t>Conceptos generales de orientación a objetos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37992" y="856422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Paradigma Orientado a Objetos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66595" y="1455867"/>
            <a:ext cx="4375358" cy="3108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Se fundamenta en la representación del mundo real mediante la creación de entidades conocidas como objetos. (Abstracción)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Estos objetos integran datos y comportamientos en una única entidad cohesiva. (Encapsulamiento)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Los objetos interactúan entre sí a través del intercambio de mensajes.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Fomenta la reutilización del código y la organización jerárquica de las clases. (Herencia)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Proporciona flexibilidad y facilita el mantenimiento del código. (Polimorfismo)</a:t>
            </a:r>
          </a:p>
        </p:txBody>
      </p:sp>
      <p:pic>
        <p:nvPicPr>
          <p:cNvPr id="6" name="Imagen 5" descr="Una persona con una luz roja&#10;&#10;Descripción generada automáticamente con confianza baja">
            <a:extLst>
              <a:ext uri="{FF2B5EF4-FFF2-40B4-BE49-F238E27FC236}">
                <a16:creationId xmlns:a16="http://schemas.microsoft.com/office/drawing/2014/main" id="{458282F5-78AE-9C08-E936-FADB9F7E89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6" b="35012"/>
          <a:stretch/>
        </p:blipFill>
        <p:spPr>
          <a:xfrm>
            <a:off x="4370556" y="982935"/>
            <a:ext cx="4773444" cy="2037887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8" name="Imagen 7" descr="Imagen de la pantalla de un celular con letras&#10;&#10;Descripción generada automáticamente con confianza baja">
            <a:extLst>
              <a:ext uri="{FF2B5EF4-FFF2-40B4-BE49-F238E27FC236}">
                <a16:creationId xmlns:a16="http://schemas.microsoft.com/office/drawing/2014/main" id="{548C8F50-CF38-0F41-0B4D-3B7C511EDE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53" r="2" b="25671"/>
          <a:stretch/>
        </p:blipFill>
        <p:spPr>
          <a:xfrm>
            <a:off x="4357126" y="3020822"/>
            <a:ext cx="4786873" cy="2122678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840094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37992" y="856422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2000" dirty="0"/>
              <a:t>¿Qué es un objeto?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66594" y="1455867"/>
            <a:ext cx="4706851" cy="338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Representación de Entidades: Todos los elementos que observamos en el mundo real pueden ser conceptualizados como objetos dentro del ámbito de la programación orientada a objetos.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Características y Comportamiento: Cada objeto se define por un conjunto de características específicas que lo distinguen y por un comportamiento particular que puede ejecutar.</a:t>
            </a:r>
          </a:p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Interacción mediante Mensajes: Los objetos se comunican y coordinan entre sí a través del intercambio de mensajes, facilitando la interacción y la colaboración en el sistema de software.</a:t>
            </a:r>
          </a:p>
        </p:txBody>
      </p:sp>
      <p:pic>
        <p:nvPicPr>
          <p:cNvPr id="6" name="Imagen 5" descr="Una persona con una luz roja&#10;&#10;Descripción generada automáticamente con confianza baja">
            <a:extLst>
              <a:ext uri="{FF2B5EF4-FFF2-40B4-BE49-F238E27FC236}">
                <a16:creationId xmlns:a16="http://schemas.microsoft.com/office/drawing/2014/main" id="{458282F5-78AE-9C08-E936-FADB9F7E89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6" b="35012"/>
          <a:stretch/>
        </p:blipFill>
        <p:spPr>
          <a:xfrm>
            <a:off x="4370556" y="982935"/>
            <a:ext cx="4773444" cy="2037887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pic>
        <p:nvPicPr>
          <p:cNvPr id="8" name="Imagen 7" descr="Imagen de la pantalla de un celular con letras&#10;&#10;Descripción generada automáticamente con confianza baja">
            <a:extLst>
              <a:ext uri="{FF2B5EF4-FFF2-40B4-BE49-F238E27FC236}">
                <a16:creationId xmlns:a16="http://schemas.microsoft.com/office/drawing/2014/main" id="{548C8F50-CF38-0F41-0B4D-3B7C511EDE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53" r="2" b="25671"/>
          <a:stretch/>
        </p:blipFill>
        <p:spPr>
          <a:xfrm>
            <a:off x="4357126" y="3020822"/>
            <a:ext cx="4786873" cy="2122678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766305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37992" y="856422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4000" dirty="0"/>
              <a:t>¿Un pizarrón es un objeto?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66594" y="1455867"/>
            <a:ext cx="3022970" cy="3108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¿Qué características tiene?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Dimensiones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Incluye las medidas de ancho y alto, que determinan el tamaño físico del pizarrón.</a:t>
            </a:r>
          </a:p>
          <a:p>
            <a:pPr lvl="6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Color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Especifica el color de la superficie del pizarrón, que puede influir en la visibilidad y la estética.</a:t>
            </a:r>
          </a:p>
          <a:p>
            <a:pPr lvl="6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Material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Describe el tipo de material con el que está fabricado el pizarrón, lo cual afecta su durabilidad y funcionalidad.</a:t>
            </a:r>
          </a:p>
        </p:txBody>
      </p:sp>
      <p:pic>
        <p:nvPicPr>
          <p:cNvPr id="2" name="Google Shape;140;p6" descr="Un 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52EA9A2E-1456-3C2B-01C1-0EC65AD31A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774" r="27407"/>
          <a:stretch/>
        </p:blipFill>
        <p:spPr>
          <a:xfrm>
            <a:off x="6622473" y="914400"/>
            <a:ext cx="2521527" cy="4229100"/>
          </a:xfrm>
          <a:custGeom>
            <a:avLst/>
            <a:gdLst/>
            <a:ahLst/>
            <a:cxnLst/>
            <a:rect l="l" t="t" r="r" b="b"/>
            <a:pathLst>
              <a:path w="5962785" h="6858000" extrusionOk="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9EBDF6F-65D4-4377-E459-8062D4E0FB42}"/>
              </a:ext>
            </a:extLst>
          </p:cNvPr>
          <p:cNvSpPr txBox="1"/>
          <p:nvPr/>
        </p:nvSpPr>
        <p:spPr>
          <a:xfrm>
            <a:off x="2926772" y="1327744"/>
            <a:ext cx="4024746" cy="338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¿Qué se puede hacer con un pizarrón?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Escribir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Permite la incorporación de texto en la superficie del pizarrón mediante herramientas adecuadas.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Dibujar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Facilita la creación de imágenes o diagramas gráficos sobre su superficie.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Borrar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Ofrece la capacidad de eliminar el contenido previamente escrito o dibujado, restaurando la superficie para nuevos usos.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Copiar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Permite la reproducción o transferencia de la información escrita o dibujada, facilitando la duplicación de contenido.</a:t>
            </a:r>
          </a:p>
        </p:txBody>
      </p:sp>
    </p:spTree>
    <p:extLst>
      <p:ext uri="{BB962C8B-B14F-4D97-AF65-F5344CB8AC3E}">
        <p14:creationId xmlns:p14="http://schemas.microsoft.com/office/powerpoint/2010/main" val="38581010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2396341" y="845224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4000" dirty="0"/>
              <a:t>¿Un reloj es un objeto?</a:t>
            </a:r>
            <a:endParaRPr lang="es-AR" sz="2000" dirty="0"/>
          </a:p>
        </p:txBody>
      </p:sp>
      <p:pic>
        <p:nvPicPr>
          <p:cNvPr id="4" name="Google Shape;147;p7" descr="Calendario, Círculo&#10;&#10;Descripción generada automáticamente">
            <a:extLst>
              <a:ext uri="{FF2B5EF4-FFF2-40B4-BE49-F238E27FC236}">
                <a16:creationId xmlns:a16="http://schemas.microsoft.com/office/drawing/2014/main" id="{11743C8C-E658-8E93-1CFE-E5B8FC3E2F45}"/>
              </a:ext>
            </a:extLst>
          </p:cNvPr>
          <p:cNvPicPr preferRelativeResize="0"/>
          <p:nvPr/>
        </p:nvPicPr>
        <p:blipFill rotWithShape="1">
          <a:blip r:embed="rId3">
            <a:alphaModFix amt="20000"/>
          </a:blip>
          <a:srcRect l="12029" r="13722" b="2"/>
          <a:stretch/>
        </p:blipFill>
        <p:spPr>
          <a:xfrm>
            <a:off x="4765410" y="1004456"/>
            <a:ext cx="4351318" cy="3899410"/>
          </a:xfrm>
          <a:custGeom>
            <a:avLst/>
            <a:gdLst/>
            <a:ahLst/>
            <a:cxnLst/>
            <a:rect l="l" t="t" r="r" b="b"/>
            <a:pathLst>
              <a:path w="5962785" h="6858000" extrusionOk="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27272" y="1518771"/>
            <a:ext cx="4738138" cy="338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¿Qué características tiene?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Tipo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Clasificación del reloj según su diseño o función, como reloj analógico, digital, o smartwatch.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Tamaño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Dimensiones físicas del reloj, que incluyen su diámetro o medidas, afectando tanto la portabilidad como la legibilidad.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Uso Horario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Especifica el rango de horas durante el cual el reloj es funcional o recomendado para su uso, en caso de que tenga limitaciones de horario.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Estado de Hora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Indica si el reloj está operando correctamente y proporcionando la hora precisa en el momento actual.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EBDF6F-65D4-4377-E459-8062D4E0FB42}"/>
              </a:ext>
            </a:extLst>
          </p:cNvPr>
          <p:cNvSpPr txBox="1"/>
          <p:nvPr/>
        </p:nvSpPr>
        <p:spPr>
          <a:xfrm>
            <a:off x="4875911" y="1601747"/>
            <a:ext cx="4517136" cy="2554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¿Qué se puede hacer con un reloj?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Leer Hora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Permite la visualización de la hora actual en la interfaz del reloj.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Configurar Hora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Facilita el ajuste de la hora del reloj para asegurar la precisión temporal.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Establecer Alarma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Ofrece la opción de programar una alarma para alertar en un momento específico.</a:t>
            </a:r>
          </a:p>
          <a:p>
            <a:pPr lvl="4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Desactivar Alarma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: Proporciona la capacidad de detener o cancelar la alarma una vez que ha sonado.</a:t>
            </a:r>
          </a:p>
        </p:txBody>
      </p:sp>
    </p:spTree>
    <p:extLst>
      <p:ext uri="{BB962C8B-B14F-4D97-AF65-F5344CB8AC3E}">
        <p14:creationId xmlns:p14="http://schemas.microsoft.com/office/powerpoint/2010/main" val="16781126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6;p8" descr="Imagen que contiene tabla, computadora, colorido, escritorio&#10;&#10;Descripción generada automáticamente">
            <a:extLst>
              <a:ext uri="{FF2B5EF4-FFF2-40B4-BE49-F238E27FC236}">
                <a16:creationId xmlns:a16="http://schemas.microsoft.com/office/drawing/2014/main" id="{2A60AA5C-EB43-CCCD-E693-C0283EA0E7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374" r="15547" b="-1"/>
          <a:stretch/>
        </p:blipFill>
        <p:spPr>
          <a:xfrm>
            <a:off x="5493327" y="968696"/>
            <a:ext cx="3650673" cy="4174804"/>
          </a:xfrm>
          <a:custGeom>
            <a:avLst/>
            <a:gdLst/>
            <a:ahLst/>
            <a:cxnLst/>
            <a:rect l="l" t="t" r="r" b="b"/>
            <a:pathLst>
              <a:path w="5962785" h="6858000" extrusionOk="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9FCE248-80DF-316D-3359-4281D7245159}"/>
              </a:ext>
            </a:extLst>
          </p:cNvPr>
          <p:cNvSpPr txBox="1"/>
          <p:nvPr/>
        </p:nvSpPr>
        <p:spPr>
          <a:xfrm>
            <a:off x="228046" y="1964381"/>
            <a:ext cx="4738138" cy="338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¿Qué características tiene?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EBDF6F-65D4-4377-E459-8062D4E0FB42}"/>
              </a:ext>
            </a:extLst>
          </p:cNvPr>
          <p:cNvSpPr txBox="1"/>
          <p:nvPr/>
        </p:nvSpPr>
        <p:spPr>
          <a:xfrm>
            <a:off x="338547" y="3205346"/>
            <a:ext cx="4517136" cy="338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¿Qué se puede hacer con un reloj?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2396341" y="845224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4000" dirty="0"/>
              <a:t>¿Un globo es un objeto?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31916591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64;p9" descr="Un globo aerostático&#10;&#10;Descripción generada automáticamente con confianza media">
            <a:extLst>
              <a:ext uri="{FF2B5EF4-FFF2-40B4-BE49-F238E27FC236}">
                <a16:creationId xmlns:a16="http://schemas.microsoft.com/office/drawing/2014/main" id="{C4F74A87-EE74-133B-E58E-8B7B75A888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9497" r="3557"/>
          <a:stretch/>
        </p:blipFill>
        <p:spPr>
          <a:xfrm>
            <a:off x="5860474" y="942108"/>
            <a:ext cx="3283526" cy="4201391"/>
          </a:xfrm>
          <a:custGeom>
            <a:avLst/>
            <a:gdLst/>
            <a:ahLst/>
            <a:cxnLst/>
            <a:rect l="l" t="t" r="r" b="b"/>
            <a:pathLst>
              <a:path w="5962785" h="6858000" extrusionOk="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2396341" y="845224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4000" dirty="0"/>
              <a:t>Abstracción</a:t>
            </a:r>
            <a:endParaRPr lang="es-AR" sz="2000" dirty="0"/>
          </a:p>
        </p:txBody>
      </p:sp>
      <p:sp>
        <p:nvSpPr>
          <p:cNvPr id="6" name="Google Shape;163;p9">
            <a:extLst>
              <a:ext uri="{FF2B5EF4-FFF2-40B4-BE49-F238E27FC236}">
                <a16:creationId xmlns:a16="http://schemas.microsoft.com/office/drawing/2014/main" id="{1855E94D-07D5-23C0-E66E-DA379CC5F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986" y="1716770"/>
            <a:ext cx="5193082" cy="241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 sz="1800" dirty="0"/>
              <a:t>Identificar datos y comportamiento de un objeto.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s-AR"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 dirty="0"/>
              <a:t>Dato                         Variable                   Atributo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700"/>
              <a:buNone/>
            </a:pPr>
            <a:r>
              <a:rPr lang="es-ES" sz="1600" dirty="0"/>
              <a:t>Comportamiento               Función              Método</a:t>
            </a:r>
            <a:endParaRPr lang="es-ES" sz="4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05D0FE76-2115-4551-3F09-D546763306B3}"/>
              </a:ext>
            </a:extLst>
          </p:cNvPr>
          <p:cNvSpPr/>
          <p:nvPr/>
        </p:nvSpPr>
        <p:spPr>
          <a:xfrm>
            <a:off x="1385455" y="2757055"/>
            <a:ext cx="1163781" cy="45719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C87E75CE-C419-9B9D-3B61-ADC592B52C01}"/>
              </a:ext>
            </a:extLst>
          </p:cNvPr>
          <p:cNvSpPr/>
          <p:nvPr/>
        </p:nvSpPr>
        <p:spPr>
          <a:xfrm>
            <a:off x="3546766" y="2757055"/>
            <a:ext cx="921326" cy="45719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E4E7C095-2C70-A3A9-1F21-2ACC9F541FEB}"/>
              </a:ext>
            </a:extLst>
          </p:cNvPr>
          <p:cNvSpPr/>
          <p:nvPr/>
        </p:nvSpPr>
        <p:spPr>
          <a:xfrm>
            <a:off x="2352404" y="3498274"/>
            <a:ext cx="557051" cy="45719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BFECD225-99E4-8AE1-22D1-9CA200108B3C}"/>
              </a:ext>
            </a:extLst>
          </p:cNvPr>
          <p:cNvSpPr/>
          <p:nvPr/>
        </p:nvSpPr>
        <p:spPr>
          <a:xfrm>
            <a:off x="3827913" y="3486498"/>
            <a:ext cx="557051" cy="45719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95225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63;p9">
            <a:extLst>
              <a:ext uri="{FF2B5EF4-FFF2-40B4-BE49-F238E27FC236}">
                <a16:creationId xmlns:a16="http://schemas.microsoft.com/office/drawing/2014/main" id="{1855E94D-07D5-23C0-E66E-DA379CC5F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986" y="1716770"/>
            <a:ext cx="5193082" cy="241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s-AR"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 dirty="0"/>
          </a:p>
        </p:txBody>
      </p:sp>
      <p:pic>
        <p:nvPicPr>
          <p:cNvPr id="2" name="Google Shape;176;p10" descr="Globo con luces de colores&#10;&#10;Descripción generada automáticamente con confianza media">
            <a:extLst>
              <a:ext uri="{FF2B5EF4-FFF2-40B4-BE49-F238E27FC236}">
                <a16:creationId xmlns:a16="http://schemas.microsoft.com/office/drawing/2014/main" id="{F237443A-AC25-FEF1-0C72-5263CF8AB7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464" r="1588"/>
          <a:stretch/>
        </p:blipFill>
        <p:spPr>
          <a:xfrm>
            <a:off x="5386551" y="961946"/>
            <a:ext cx="3757450" cy="4004910"/>
          </a:xfrm>
          <a:custGeom>
            <a:avLst/>
            <a:gdLst/>
            <a:ahLst/>
            <a:cxnLst/>
            <a:rect l="l" t="t" r="r" b="b"/>
            <a:pathLst>
              <a:path w="5962785" h="6858000" extrusionOk="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1967345" y="961945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4000" dirty="0"/>
              <a:t>¡Perfecto! Ya podemos programar un globo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D6DB7D3-9989-DD4B-9F5A-C38E6EF4395E}"/>
              </a:ext>
            </a:extLst>
          </p:cNvPr>
          <p:cNvSpPr txBox="1"/>
          <p:nvPr/>
        </p:nvSpPr>
        <p:spPr>
          <a:xfrm>
            <a:off x="425438" y="1908173"/>
            <a:ext cx="4572000" cy="241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Clr>
                <a:srgbClr val="FFFFFF"/>
              </a:buClr>
              <a:buSzPts val="2400"/>
            </a:pPr>
            <a:r>
              <a:rPr lang="es-ES" sz="1200" b="1" dirty="0">
                <a:solidFill>
                  <a:srgbClr val="FFFFFF"/>
                </a:solidFill>
                <a:latin typeface="Montserrat"/>
                <a:sym typeface="Montserrat"/>
              </a:rPr>
              <a:t>Pero si en nuestro sistema conviven muchos globos….</a:t>
            </a:r>
          </a:p>
        </p:txBody>
      </p:sp>
      <p:pic>
        <p:nvPicPr>
          <p:cNvPr id="12" name="Google Shape;177;p10" descr="Imagen que contiene persona, interior, ropa, hombre&#10;&#10;Descripción generada automáticamente">
            <a:extLst>
              <a:ext uri="{FF2B5EF4-FFF2-40B4-BE49-F238E27FC236}">
                <a16:creationId xmlns:a16="http://schemas.microsoft.com/office/drawing/2014/main" id="{08862A3F-C200-BC87-A0D9-9A9FBB50F58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8465" y="2340733"/>
            <a:ext cx="2298985" cy="21519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13469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22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63;p9">
            <a:extLst>
              <a:ext uri="{FF2B5EF4-FFF2-40B4-BE49-F238E27FC236}">
                <a16:creationId xmlns:a16="http://schemas.microsoft.com/office/drawing/2014/main" id="{1855E94D-07D5-23C0-E66E-DA379CC5F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986" y="1716770"/>
            <a:ext cx="4106687" cy="331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s-AR"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 dirty="0"/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2455718" y="839469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4000" dirty="0"/>
              <a:t>Clase</a:t>
            </a:r>
            <a:endParaRPr lang="es-AR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D6DB7D3-9989-DD4B-9F5A-C38E6EF4395E}"/>
              </a:ext>
            </a:extLst>
          </p:cNvPr>
          <p:cNvSpPr txBox="1"/>
          <p:nvPr/>
        </p:nvSpPr>
        <p:spPr>
          <a:xfrm>
            <a:off x="-101036" y="1390190"/>
            <a:ext cx="4572000" cy="3639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FFFFFF"/>
                </a:solidFill>
                <a:latin typeface="Montserrat"/>
                <a:sym typeface="Montserrat"/>
              </a:rPr>
              <a:t>Molde para la Creación de Objetos</a:t>
            </a:r>
            <a:r>
              <a:rPr lang="es-ES" sz="1100" dirty="0">
                <a:solidFill>
                  <a:srgbClr val="FFFFFF"/>
                </a:solidFill>
                <a:latin typeface="Montserrat"/>
                <a:sym typeface="Montserrat"/>
              </a:rPr>
              <a:t>: Una clase actúa como un modelo o plantilla a partir del cual se crean objetos, definiendo su estructura y comportamiento.</a:t>
            </a:r>
          </a:p>
          <a:p>
            <a:pPr marL="171450" indent="-171450" algn="just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FFFFFF"/>
                </a:solidFill>
                <a:latin typeface="Montserrat"/>
                <a:sym typeface="Montserrat"/>
              </a:rPr>
              <a:t>Definición de Atributos y Métodos</a:t>
            </a:r>
            <a:r>
              <a:rPr lang="es-ES" sz="1100" dirty="0">
                <a:solidFill>
                  <a:srgbClr val="FFFFFF"/>
                </a:solidFill>
                <a:latin typeface="Montserrat"/>
                <a:sym typeface="Montserrat"/>
              </a:rPr>
              <a:t>: La clase especifica los atributos (propiedades) y métodos (funciones) que los objetos derivados de ella poseerán.</a:t>
            </a:r>
          </a:p>
          <a:p>
            <a:pPr marL="171450" indent="-171450" algn="just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FFFFFF"/>
                </a:solidFill>
                <a:latin typeface="Montserrat"/>
                <a:sym typeface="Montserrat"/>
              </a:rPr>
              <a:t>Constructor Especializado</a:t>
            </a:r>
            <a:r>
              <a:rPr lang="es-ES" sz="1100" dirty="0">
                <a:solidFill>
                  <a:srgbClr val="FFFFFF"/>
                </a:solidFill>
                <a:latin typeface="Montserrat"/>
                <a:sym typeface="Montserrat"/>
              </a:rPr>
              <a:t>: La clase incluye un método especial conocido como constructor, cuya función es inicializar y configurar un objeto específico a partir de la clase, garantizando su unicidad.</a:t>
            </a:r>
          </a:p>
          <a:p>
            <a:pPr marL="171450" indent="-171450" algn="just">
              <a:lnSpc>
                <a:spcPct val="150000"/>
              </a:lnSpc>
              <a:buClr>
                <a:srgbClr val="FFFFFF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1100" b="1" dirty="0">
                <a:solidFill>
                  <a:srgbClr val="FFFFFF"/>
                </a:solidFill>
                <a:latin typeface="Montserrat"/>
                <a:sym typeface="Montserrat"/>
              </a:rPr>
              <a:t>Instancia de la Clase</a:t>
            </a:r>
            <a:r>
              <a:rPr lang="es-ES" sz="1100" dirty="0">
                <a:solidFill>
                  <a:srgbClr val="FFFFFF"/>
                </a:solidFill>
                <a:latin typeface="Montserrat"/>
                <a:sym typeface="Montserrat"/>
              </a:rPr>
              <a:t>: Una instancia es un objeto concreto que ha sido generado a partir de una clase, materializando las características y comportamientos definidos en la misma</a:t>
            </a:r>
            <a:r>
              <a:rPr lang="es-ES" sz="1200" dirty="0">
                <a:solidFill>
                  <a:srgbClr val="FFFFFF"/>
                </a:solidFill>
                <a:latin typeface="Montserrat"/>
                <a:sym typeface="Montserrat"/>
              </a:rPr>
              <a:t>.</a:t>
            </a:r>
          </a:p>
        </p:txBody>
      </p:sp>
      <p:pic>
        <p:nvPicPr>
          <p:cNvPr id="4" name="Google Shape;185;p11" descr="Un globo de colores&#10;&#10;Descripción generada automáticamente con confianza media">
            <a:extLst>
              <a:ext uri="{FF2B5EF4-FFF2-40B4-BE49-F238E27FC236}">
                <a16:creationId xmlns:a16="http://schemas.microsoft.com/office/drawing/2014/main" id="{DB7D7FA4-64D0-FC91-DD30-8051667400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197" r="4856"/>
          <a:stretch/>
        </p:blipFill>
        <p:spPr>
          <a:xfrm>
            <a:off x="5768917" y="961944"/>
            <a:ext cx="3375083" cy="4181555"/>
          </a:xfrm>
          <a:custGeom>
            <a:avLst/>
            <a:gdLst/>
            <a:ahLst/>
            <a:cxnLst/>
            <a:rect l="l" t="t" r="r" b="b"/>
            <a:pathLst>
              <a:path w="5962785" h="6858000" extrusionOk="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Google Shape;187;p11">
            <a:extLst>
              <a:ext uri="{FF2B5EF4-FFF2-40B4-BE49-F238E27FC236}">
                <a16:creationId xmlns:a16="http://schemas.microsoft.com/office/drawing/2014/main" id="{89E1D5C5-33BB-832E-3E5C-BF7115953F1F}"/>
              </a:ext>
            </a:extLst>
          </p:cNvPr>
          <p:cNvSpPr txBox="1"/>
          <p:nvPr/>
        </p:nvSpPr>
        <p:spPr>
          <a:xfrm rot="18778319">
            <a:off x="4189868" y="2100269"/>
            <a:ext cx="2798306" cy="438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ES" sz="1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Calibri"/>
              </a:rPr>
              <a:t>¡Es un molde para fabricar globos!</a:t>
            </a:r>
            <a:endParaRPr sz="10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86;p11" descr="Imagen que contiene persona, interior, tabla, plato&#10;&#10;Descripción generada automáticamente">
            <a:extLst>
              <a:ext uri="{FF2B5EF4-FFF2-40B4-BE49-F238E27FC236}">
                <a16:creationId xmlns:a16="http://schemas.microsoft.com/office/drawing/2014/main" id="{64E73639-9098-097E-622C-2922FBFB5C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9980269">
            <a:off x="5072931" y="3199079"/>
            <a:ext cx="1633241" cy="1200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010100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822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63;p9">
            <a:extLst>
              <a:ext uri="{FF2B5EF4-FFF2-40B4-BE49-F238E27FC236}">
                <a16:creationId xmlns:a16="http://schemas.microsoft.com/office/drawing/2014/main" id="{1855E94D-07D5-23C0-E66E-DA379CC5F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986" y="1716770"/>
            <a:ext cx="4106687" cy="331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s-AR"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 dirty="0"/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AE4EB068-68D2-1E53-443D-E618289F9D6E}"/>
              </a:ext>
            </a:extLst>
          </p:cNvPr>
          <p:cNvSpPr txBox="1">
            <a:spLocks/>
          </p:cNvSpPr>
          <p:nvPr/>
        </p:nvSpPr>
        <p:spPr>
          <a:xfrm>
            <a:off x="2455718" y="839469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4000" dirty="0"/>
              <a:t>Conclusión</a:t>
            </a:r>
            <a:endParaRPr lang="es-AR" sz="2000" dirty="0"/>
          </a:p>
        </p:txBody>
      </p:sp>
      <p:pic>
        <p:nvPicPr>
          <p:cNvPr id="2" name="Google Shape;194;p12" descr="Pantalla de video juego&#10;&#10;Descripción generada automáticamente con confianza baja">
            <a:extLst>
              <a:ext uri="{FF2B5EF4-FFF2-40B4-BE49-F238E27FC236}">
                <a16:creationId xmlns:a16="http://schemas.microsoft.com/office/drawing/2014/main" id="{E511BE59-3C0A-06E9-2917-03C17E67A6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811"/>
          <a:stretch/>
        </p:blipFill>
        <p:spPr>
          <a:xfrm>
            <a:off x="-1" y="949035"/>
            <a:ext cx="3879273" cy="4194465"/>
          </a:xfrm>
          <a:custGeom>
            <a:avLst/>
            <a:gdLst/>
            <a:ahLst/>
            <a:cxnLst/>
            <a:rect l="l" t="t" r="r" b="b"/>
            <a:pathLst>
              <a:path w="6116569" h="6879321" extrusionOk="0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F1ACB35-38C5-2102-7F36-AFE937B2E35D}"/>
              </a:ext>
            </a:extLst>
          </p:cNvPr>
          <p:cNvSpPr txBox="1"/>
          <p:nvPr/>
        </p:nvSpPr>
        <p:spPr>
          <a:xfrm>
            <a:off x="3879272" y="1562981"/>
            <a:ext cx="5264728" cy="2602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100" dirty="0">
                <a:solidFill>
                  <a:srgbClr val="FFFFFF"/>
                </a:solidFill>
                <a:latin typeface="Montserrat"/>
              </a:rPr>
              <a:t>Existen diferentes enfoques en la programación. La programación orientada a objetos ofrece las siguientes ventajas:</a:t>
            </a:r>
          </a:p>
          <a:p>
            <a:pPr>
              <a:lnSpc>
                <a:spcPct val="150000"/>
              </a:lnSpc>
            </a:pPr>
            <a:r>
              <a:rPr lang="es-ES" sz="1100" b="1" dirty="0">
                <a:solidFill>
                  <a:srgbClr val="FFFFFF"/>
                </a:solidFill>
                <a:latin typeface="Montserrat"/>
              </a:rPr>
              <a:t>Desarrollo Modular y Mantenible</a:t>
            </a:r>
            <a:r>
              <a:rPr lang="es-ES" sz="1100" dirty="0">
                <a:solidFill>
                  <a:srgbClr val="FFFFFF"/>
                </a:solidFill>
                <a:latin typeface="Montserrat"/>
              </a:rPr>
              <a:t>: Facilita la organización del software en partes manejables.</a:t>
            </a:r>
          </a:p>
          <a:p>
            <a:pPr>
              <a:lnSpc>
                <a:spcPct val="150000"/>
              </a:lnSpc>
            </a:pPr>
            <a:r>
              <a:rPr lang="es-ES" sz="1100" b="1" dirty="0">
                <a:solidFill>
                  <a:srgbClr val="FFFFFF"/>
                </a:solidFill>
                <a:latin typeface="Montserrat"/>
              </a:rPr>
              <a:t>Reutilización de Código</a:t>
            </a:r>
            <a:r>
              <a:rPr lang="es-ES" sz="1100" dirty="0">
                <a:solidFill>
                  <a:srgbClr val="FFFFFF"/>
                </a:solidFill>
                <a:latin typeface="Montserrat"/>
              </a:rPr>
              <a:t>: Permite aprovechar el código existente en nuevos proyectos.</a:t>
            </a:r>
          </a:p>
          <a:p>
            <a:pPr>
              <a:lnSpc>
                <a:spcPct val="150000"/>
              </a:lnSpc>
            </a:pPr>
            <a:r>
              <a:rPr lang="es-ES" sz="1100" b="1" dirty="0">
                <a:solidFill>
                  <a:srgbClr val="FFFFFF"/>
                </a:solidFill>
                <a:latin typeface="Montserrat"/>
              </a:rPr>
              <a:t>Mayor Eficiencia y Productividad</a:t>
            </a:r>
            <a:r>
              <a:rPr lang="es-ES" sz="1100" dirty="0">
                <a:solidFill>
                  <a:srgbClr val="FFFFFF"/>
                </a:solidFill>
                <a:latin typeface="Montserrat"/>
              </a:rPr>
              <a:t>: Ayuda a acelerar el desarrollo y mejorar los resultados.</a:t>
            </a:r>
          </a:p>
          <a:p>
            <a:pPr>
              <a:lnSpc>
                <a:spcPct val="150000"/>
              </a:lnSpc>
            </a:pPr>
            <a:r>
              <a:rPr lang="es-ES" sz="1100" b="1" dirty="0">
                <a:solidFill>
                  <a:srgbClr val="FFFFFF"/>
                </a:solidFill>
                <a:latin typeface="Montserrat"/>
              </a:rPr>
              <a:t>Facilidad en el Diseño de Sistemas Complejos</a:t>
            </a:r>
            <a:r>
              <a:rPr lang="es-ES" sz="1100" dirty="0">
                <a:solidFill>
                  <a:srgbClr val="FFFFFF"/>
                </a:solidFill>
                <a:latin typeface="Montserrat"/>
              </a:rPr>
              <a:t>: Simplifica la creación de soluciones complejas mediante una estructura clara.</a:t>
            </a:r>
            <a:endParaRPr lang="es-AR" sz="1100" dirty="0">
              <a:solidFill>
                <a:srgbClr val="FFFFFF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7488746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/>
          <p:nvPr/>
        </p:nvSpPr>
        <p:spPr>
          <a:xfrm>
            <a:off x="0" y="942109"/>
            <a:ext cx="9144000" cy="403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3" descr="Imagen que contiene lluvia, grande, estacionado&#10;&#10;Descripción generada automáticamente"/>
          <p:cNvPicPr preferRelativeResize="0"/>
          <p:nvPr/>
        </p:nvPicPr>
        <p:blipFill rotWithShape="1">
          <a:blip r:embed="rId3">
            <a:alphaModFix amt="50000"/>
          </a:blip>
          <a:srcRect t="22465" b="21285"/>
          <a:stretch/>
        </p:blipFill>
        <p:spPr>
          <a:xfrm>
            <a:off x="-1" y="942108"/>
            <a:ext cx="9144000" cy="420139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1142999" y="1188135"/>
            <a:ext cx="6858000" cy="217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rmAutofit/>
          </a:bodyPr>
          <a:lstStyle/>
          <a:p>
            <a:pPr>
              <a:lnSpc>
                <a:spcPct val="90000"/>
              </a:lnSpc>
              <a:buSzPts val="6000"/>
            </a:pPr>
            <a:r>
              <a:rPr lang="es-ES" sz="4500" dirty="0"/>
              <a:t>Preguntas?</a:t>
            </a:r>
            <a:endParaRPr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63;p9">
            <a:extLst>
              <a:ext uri="{FF2B5EF4-FFF2-40B4-BE49-F238E27FC236}">
                <a16:creationId xmlns:a16="http://schemas.microsoft.com/office/drawing/2014/main" id="{1855E94D-07D5-23C0-E66E-DA379CC5F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986" y="1716770"/>
            <a:ext cx="4106687" cy="331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s-AR"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 dirty="0"/>
          </a:p>
        </p:txBody>
      </p:sp>
      <p:pic>
        <p:nvPicPr>
          <p:cNvPr id="4" name="Google Shape;210;p14" descr="Un globo aerostático en el cielo&#10;&#10;Descripción generada automáticamente">
            <a:extLst>
              <a:ext uri="{FF2B5EF4-FFF2-40B4-BE49-F238E27FC236}">
                <a16:creationId xmlns:a16="http://schemas.microsoft.com/office/drawing/2014/main" id="{9EE1F0AD-24EA-CE63-9809-F2769BBBAE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52" r="10502"/>
          <a:stretch/>
        </p:blipFill>
        <p:spPr>
          <a:xfrm>
            <a:off x="4509655" y="949842"/>
            <a:ext cx="4634345" cy="4193658"/>
          </a:xfrm>
          <a:custGeom>
            <a:avLst/>
            <a:gdLst/>
            <a:ahLst/>
            <a:cxnLst/>
            <a:rect l="l" t="t" r="r" b="b"/>
            <a:pathLst>
              <a:path w="5962785" h="6858000" extrusionOk="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Título 3">
            <a:extLst>
              <a:ext uri="{FF2B5EF4-FFF2-40B4-BE49-F238E27FC236}">
                <a16:creationId xmlns:a16="http://schemas.microsoft.com/office/drawing/2014/main" id="{5C8B858B-3CD2-7A8C-5509-A44D7A10800A}"/>
              </a:ext>
            </a:extLst>
          </p:cNvPr>
          <p:cNvSpPr txBox="1">
            <a:spLocks/>
          </p:cNvSpPr>
          <p:nvPr/>
        </p:nvSpPr>
        <p:spPr>
          <a:xfrm rot="19288458">
            <a:off x="398319" y="2488160"/>
            <a:ext cx="4232564" cy="75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s-ES" sz="4000" dirty="0"/>
              <a:t>Muchas Gracias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137429298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802</Words>
  <Application>Microsoft Office PowerPoint</Application>
  <PresentationFormat>Presentación en pantalla (16:9)</PresentationFormat>
  <Paragraphs>70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Montserrat</vt:lpstr>
      <vt:lpstr>Calibri</vt:lpstr>
      <vt:lpstr>Arial</vt:lpstr>
      <vt:lpstr>Encode Sans</vt:lpstr>
      <vt:lpstr>Encode Sans ExtraBold</vt:lpstr>
      <vt:lpstr>Montserrat Light</vt:lpstr>
      <vt:lpstr>Simple Light</vt:lpstr>
      <vt:lpstr>Programación Orientada a Objetos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Preguntas?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Ricardo Gastón Plazas</cp:lastModifiedBy>
  <cp:revision>17</cp:revision>
  <dcterms:modified xsi:type="dcterms:W3CDTF">2025-08-12T19:25:13Z</dcterms:modified>
</cp:coreProperties>
</file>